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9" r:id="rId2"/>
    <p:sldId id="258" r:id="rId3"/>
    <p:sldId id="374" r:id="rId4"/>
    <p:sldId id="406" r:id="rId5"/>
    <p:sldId id="309" r:id="rId6"/>
    <p:sldId id="310" r:id="rId7"/>
    <p:sldId id="405" r:id="rId8"/>
    <p:sldId id="311" r:id="rId9"/>
    <p:sldId id="312" r:id="rId10"/>
    <p:sldId id="407" r:id="rId11"/>
    <p:sldId id="408" r:id="rId12"/>
    <p:sldId id="409" r:id="rId13"/>
    <p:sldId id="313" r:id="rId14"/>
    <p:sldId id="302" r:id="rId15"/>
    <p:sldId id="316" r:id="rId16"/>
    <p:sldId id="417" r:id="rId17"/>
    <p:sldId id="415" r:id="rId18"/>
    <p:sldId id="411" r:id="rId19"/>
    <p:sldId id="412" r:id="rId20"/>
    <p:sldId id="413" r:id="rId21"/>
    <p:sldId id="416" r:id="rId22"/>
    <p:sldId id="282" r:id="rId2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025" autoAdjust="0"/>
  </p:normalViewPr>
  <p:slideViewPr>
    <p:cSldViewPr>
      <p:cViewPr varScale="1">
        <p:scale>
          <a:sx n="72" d="100"/>
          <a:sy n="72" d="100"/>
        </p:scale>
        <p:origin x="112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07T00:49:11.908" v="17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8-07T00:49:11.908" v="17" actId="27636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07T00:49:11.908" v="17" actId="27636"/>
          <ac:spMkLst>
            <pc:docMk/>
            <pc:sldMk cId="2553855534" sldId="28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0521A-C27A-4838-9C91-787748A77EF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6F7B6-0F9C-4FDA-A996-02822F5026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47067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1326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148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CCA98B-3408-4FF3-A904-475F3EA2A29A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0013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CCA98B-3408-4FF3-A904-475F3EA2A29A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29254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0272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4638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1450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80338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01497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4214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2947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5771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3651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32717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10262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3860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17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713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1664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0572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9286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9633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251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422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8929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20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6584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95D237B-FEFF-4BA3-913F-A4EABA532059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133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049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C5239-EFEC-4EF5-AB4E-B8ED16D8832D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9F616-ED23-4D9A-B9F6-192A5A083F00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7201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For and while True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685071-5237-48F1-9897-BB7AF1E3F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777" y="3011969"/>
            <a:ext cx="3206446" cy="32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90872" y="557808"/>
            <a:ext cx="8229600" cy="1143000"/>
          </a:xfrm>
          <a:noFill/>
          <a:ln/>
        </p:spPr>
        <p:txBody>
          <a:bodyPr lIns="92075" tIns="46038" rIns="92075" bIns="46038"/>
          <a:lstStyle/>
          <a:p>
            <a:r>
              <a:rPr lang="es-ES_tradnl" b="1" dirty="0">
                <a:solidFill>
                  <a:srgbClr val="002060"/>
                </a:solidFill>
              </a:rPr>
              <a:t>La sesión pasada vimos…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732958" y="3068960"/>
            <a:ext cx="3295426" cy="1152128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>
              <a:lnSpc>
                <a:spcPct val="135000"/>
              </a:lnSpc>
            </a:pPr>
            <a:r>
              <a:rPr lang="es-ES_tradnl" sz="2900" dirty="0">
                <a:solidFill>
                  <a:schemeClr val="bg2">
                    <a:lumMod val="25000"/>
                  </a:schemeClr>
                </a:solidFill>
              </a:rPr>
              <a:t>El ciclo </a:t>
            </a:r>
            <a:r>
              <a:rPr lang="es-ES_tradnl" sz="2900" b="1" dirty="0">
                <a:solidFill>
                  <a:schemeClr val="bg2">
                    <a:lumMod val="25000"/>
                  </a:schemeClr>
                </a:solidFill>
              </a:rPr>
              <a:t>WHILE</a:t>
            </a:r>
            <a:endParaRPr lang="es-ES_tradnl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348880"/>
            <a:ext cx="3025350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3355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269775"/>
            <a:ext cx="7031434" cy="1143001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 True:</a:t>
            </a:r>
            <a:endParaRPr lang="es-ES_tradnl" sz="4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33875"/>
            <a:ext cx="7920880" cy="316865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Ejecuta una sentencia, simple o compuesta,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infinitas</a:t>
            </a:r>
            <a:r>
              <a:rPr lang="es-ES_tradnl" sz="2400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veces.</a:t>
            </a:r>
            <a:endParaRPr lang="es-ES_tradnl" sz="2400" b="1" dirty="0">
              <a:solidFill>
                <a:srgbClr val="0070C0"/>
              </a:solidFill>
              <a:cs typeface="Arial" pitchFamily="34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defRPr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Como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True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siempre seguirá siendo verdadero podemos deducir que es un ciclo infinito a menos que exista una condición para terminarlo dentro de su propio cuerpo.</a:t>
            </a:r>
            <a:endParaRPr lang="es-ES_tradnl" sz="2400" dirty="0">
              <a:solidFill>
                <a:schemeClr val="bg2">
                  <a:lumMod val="25000"/>
                </a:schemeClr>
              </a:solidFill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34ABA0-1E67-4836-95EA-8454C7810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066" y="10124047"/>
            <a:ext cx="98135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 true: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[Instucciones]</a:t>
            </a:r>
            <a:r>
              <a:rPr kumimoji="0" lang="es-MX" altLang="es-MX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D5E5A1A-DD3C-497D-ACAA-F821A63ECA1C}"/>
              </a:ext>
            </a:extLst>
          </p:cNvPr>
          <p:cNvSpPr/>
          <p:nvPr/>
        </p:nvSpPr>
        <p:spPr>
          <a:xfrm>
            <a:off x="3347864" y="4583005"/>
            <a:ext cx="1754006" cy="1143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400" b="1" dirty="0">
                <a:solidFill>
                  <a:srgbClr val="0070C0"/>
                </a:solidFill>
                <a:cs typeface="Arial" pitchFamily="34" charset="0"/>
              </a:rPr>
              <a:t>while True: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400" b="1" dirty="0">
                <a:solidFill>
                  <a:srgbClr val="0070C0"/>
                </a:solidFill>
                <a:cs typeface="Arial" pitchFamily="34" charset="0"/>
              </a:rPr>
              <a:t>      [cuerpo] </a:t>
            </a:r>
          </a:p>
        </p:txBody>
      </p:sp>
      <p:pic>
        <p:nvPicPr>
          <p:cNvPr id="7" name="Imagen 6" descr="Imagen que contiene señal, reloj&#10;&#10;Descripción generada automáticamente">
            <a:extLst>
              <a:ext uri="{FF2B5EF4-FFF2-40B4-BE49-F238E27FC236}">
                <a16:creationId xmlns:a16="http://schemas.microsoft.com/office/drawing/2014/main" id="{CFDFDD5E-5790-4118-B597-C39FE1D0A4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4434613"/>
            <a:ext cx="1754006" cy="177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0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269775"/>
            <a:ext cx="7031434" cy="1143001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 true</a:t>
            </a:r>
            <a:endParaRPr lang="es-ES_tradnl" sz="44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931" y="1545564"/>
            <a:ext cx="7738145" cy="26901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s-ES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Algo muy común es utilizar una variable que en cierto momento cambie su estado a </a:t>
            </a:r>
            <a:r>
              <a:rPr lang="es-ES" sz="28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False </a:t>
            </a:r>
            <a:r>
              <a:rPr lang="es-ES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para terminar la ejecución del while.</a:t>
            </a:r>
            <a:endParaRPr lang="es-ES_tradnl" sz="2800" dirty="0">
              <a:solidFill>
                <a:schemeClr val="bg2">
                  <a:lumMod val="25000"/>
                </a:schemeClr>
              </a:solidFill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34ABA0-1E67-4836-95EA-8454C7810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066" y="10124047"/>
            <a:ext cx="98135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 true: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[Instucciones]</a:t>
            </a:r>
            <a:r>
              <a:rPr kumimoji="0" lang="es-MX" altLang="es-MX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4E18FE-5480-4F8A-AE98-29D977D059C9}"/>
              </a:ext>
            </a:extLst>
          </p:cNvPr>
          <p:cNvSpPr/>
          <p:nvPr/>
        </p:nvSpPr>
        <p:spPr>
          <a:xfrm>
            <a:off x="2627784" y="3933056"/>
            <a:ext cx="3888432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400" b="1" dirty="0">
                <a:solidFill>
                  <a:srgbClr val="0070C0"/>
                </a:solidFill>
                <a:cs typeface="Arial" pitchFamily="34" charset="0"/>
              </a:rPr>
              <a:t>continua = </a:t>
            </a:r>
            <a:r>
              <a:rPr lang="es-MX" altLang="es-MX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True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400" b="1" dirty="0">
                <a:solidFill>
                  <a:srgbClr val="0070C0"/>
                </a:solidFill>
                <a:cs typeface="Arial" pitchFamily="34" charset="0"/>
              </a:rPr>
              <a:t>while continua ==  </a:t>
            </a:r>
            <a:r>
              <a:rPr lang="es-MX" altLang="es-MX" sz="2400" b="1" dirty="0">
                <a:solidFill>
                  <a:srgbClr val="FF0000"/>
                </a:solidFill>
                <a:cs typeface="Arial" pitchFamily="34" charset="0"/>
              </a:rPr>
              <a:t>True</a:t>
            </a:r>
            <a:r>
              <a:rPr lang="es-MX" altLang="es-MX" sz="2400" b="1" dirty="0">
                <a:solidFill>
                  <a:srgbClr val="0070C0"/>
                </a:solidFill>
                <a:cs typeface="Arial" pitchFamily="34" charset="0"/>
              </a:rPr>
              <a:t>: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400" b="1" dirty="0">
                <a:solidFill>
                  <a:srgbClr val="0070C0"/>
                </a:solidFill>
                <a:cs typeface="Arial" pitchFamily="34" charset="0"/>
              </a:rPr>
              <a:t>      continua = </a:t>
            </a:r>
            <a:r>
              <a:rPr lang="es-MX" altLang="es-MX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False</a:t>
            </a:r>
          </a:p>
        </p:txBody>
      </p:sp>
      <p:pic>
        <p:nvPicPr>
          <p:cNvPr id="7" name="Imagen 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DA7E1AA8-7127-4D83-9E74-A2D1B9CE76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3849599"/>
            <a:ext cx="2104059" cy="210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6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656585" y="1589262"/>
            <a:ext cx="8064896" cy="3721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28700" indent="-4572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600200" indent="-4572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171700" indent="-4572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743200" indent="-4572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200400" indent="-457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657600" indent="-457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114800" indent="-457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572000" indent="-457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spcAft>
                <a:spcPts val="1800"/>
              </a:spcAft>
              <a:buFontTx/>
              <a:buChar char="•"/>
              <a:defRPr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effectLst/>
                <a:latin typeface="+mn-lt"/>
              </a:rPr>
              <a:t>Definir un programa que muestre al usuario un menú con las siguientes opciones:</a:t>
            </a:r>
          </a:p>
          <a:p>
            <a:pPr lvl="1">
              <a:lnSpc>
                <a:spcPct val="125000"/>
              </a:lnSpc>
              <a:buFontTx/>
              <a:buAutoNum type="arabicParenR"/>
              <a:defRPr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Imprimir Mensaje</a:t>
            </a:r>
          </a:p>
          <a:p>
            <a:pPr lvl="1">
              <a:lnSpc>
                <a:spcPct val="125000"/>
              </a:lnSpc>
              <a:buFontTx/>
              <a:buAutoNum type="arabicParenR"/>
              <a:defRPr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Salir </a:t>
            </a:r>
          </a:p>
          <a:p>
            <a:pPr>
              <a:lnSpc>
                <a:spcPct val="125000"/>
              </a:lnSpc>
              <a:spcBef>
                <a:spcPct val="70000"/>
              </a:spcBef>
              <a:buFontTx/>
              <a:buChar char="•"/>
              <a:defRPr/>
            </a:pPr>
            <a:r>
              <a:rPr lang="es-ES_tradnl" b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Y que permanezca activo el programa, hasta que el usuario seleccione salir</a:t>
            </a:r>
          </a:p>
          <a:p>
            <a:pPr>
              <a:defRPr/>
            </a:pPr>
            <a:endParaRPr lang="es-ES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8032" y="4462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677FCB5-CC9C-4E0A-8D79-1C54B5565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4653136"/>
            <a:ext cx="2772067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5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222FA61-45D8-4D34-9B01-67770EFE7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04" y="1268760"/>
            <a:ext cx="6018591" cy="4824536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91680" y="15149"/>
            <a:ext cx="5760640" cy="89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  <a:p>
            <a:pPr algn="ctr" eaLnBrk="0" hangingPunct="0">
              <a:defRPr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Menú con números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CD82311-F522-4588-BC23-32FEDEA640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1268760"/>
            <a:ext cx="1584856" cy="158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47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9EF874D-47E2-47BC-8392-21196A7B1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370832"/>
            <a:ext cx="6600825" cy="512445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91680" y="195589"/>
            <a:ext cx="5760640" cy="89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  <a:p>
            <a:pPr algn="ctr" eaLnBrk="0" hangingPunct="0">
              <a:defRPr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Menú con letras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5812C5-8A79-473B-8D73-402B6C870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1628800"/>
            <a:ext cx="1774884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5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418" y="3861048"/>
            <a:ext cx="2451022" cy="2684910"/>
          </a:xfrm>
          <a:prstGeom prst="rect">
            <a:avLst/>
          </a:prstGeom>
        </p:spPr>
      </p:pic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491880" y="201547"/>
            <a:ext cx="1874837" cy="1143001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376772"/>
            <a:ext cx="7272808" cy="2664296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150000"/>
              </a:lnSpc>
              <a:buFontTx/>
              <a:buNone/>
              <a:defRPr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Cuando se ejecuta una sentencia simple o compuesta, repetidamente un </a:t>
            </a:r>
            <a:r>
              <a:rPr lang="es-ES_tradnl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número de veces conocido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, la construcción adecuada es mediante el ciclo </a:t>
            </a:r>
            <a:r>
              <a:rPr lang="es-ES_tradnl" sz="2800" b="1" dirty="0">
                <a:solidFill>
                  <a:srgbClr val="00CC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for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111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7584" y="1196752"/>
            <a:ext cx="7344816" cy="36004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La estructura </a:t>
            </a:r>
            <a:r>
              <a:rPr lang="es-ES_tradnl" sz="2800" b="1" dirty="0">
                <a:solidFill>
                  <a:srgbClr val="0070C0"/>
                </a:solidFill>
                <a:cs typeface="Arial" pitchFamily="34" charset="0"/>
              </a:rPr>
              <a:t>for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, es una estructura de ciclo en donde el control de la repetición está definido precisamente sobre una variable </a:t>
            </a:r>
            <a:r>
              <a:rPr lang="es-ES_tradnl" sz="2800" b="1" dirty="0">
                <a:solidFill>
                  <a:srgbClr val="FF0000"/>
                </a:solidFill>
                <a:cs typeface="Arial" pitchFamily="34" charset="0"/>
              </a:rPr>
              <a:t>contador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. </a:t>
            </a:r>
          </a:p>
          <a:p>
            <a:pPr algn="just" eaLnBrk="1" hangingPunct="1">
              <a:lnSpc>
                <a:spcPct val="120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El ciclo </a:t>
            </a:r>
            <a:r>
              <a:rPr lang="es-ES_tradnl" sz="2800" b="1" dirty="0">
                <a:solidFill>
                  <a:srgbClr val="0070C0"/>
                </a:solidFill>
                <a:cs typeface="Arial" pitchFamily="34" charset="0"/>
              </a:rPr>
              <a:t>for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nos permite </a:t>
            </a:r>
            <a:r>
              <a:rPr lang="es-ES_tradnl" sz="28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encapsular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 en una sola instrucción todo el código de la variable </a:t>
            </a:r>
            <a:r>
              <a:rPr lang="es-ES_tradnl" sz="2800" b="1" dirty="0">
                <a:solidFill>
                  <a:srgbClr val="FF0000"/>
                </a:solidFill>
                <a:cs typeface="Arial" pitchFamily="34" charset="0"/>
              </a:rPr>
              <a:t>contador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. </a:t>
            </a:r>
          </a:p>
        </p:txBody>
      </p:sp>
      <p:sp>
        <p:nvSpPr>
          <p:cNvPr id="400389" name="Rectangle 5"/>
          <p:cNvSpPr>
            <a:spLocks noGrp="1" noChangeArrowheads="1"/>
          </p:cNvSpPr>
          <p:nvPr>
            <p:ph type="title"/>
          </p:nvPr>
        </p:nvSpPr>
        <p:spPr>
          <a:xfrm>
            <a:off x="3635896" y="-27384"/>
            <a:ext cx="1874837" cy="1143001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/>
              </a:rPr>
              <a:t>FOR</a:t>
            </a:r>
          </a:p>
        </p:txBody>
      </p:sp>
      <p:pic>
        <p:nvPicPr>
          <p:cNvPr id="9" name="Imagen 8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203A38A8-0875-4AE9-847B-FBB8190C19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976" y="3978748"/>
            <a:ext cx="3938024" cy="336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8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73536"/>
            <a:ext cx="7239000" cy="114300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Estructura del for</a:t>
            </a:r>
            <a:b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 </a:t>
            </a:r>
            <a:r>
              <a:rPr lang="es-ES_tradn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(max_value)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9632" y="2008962"/>
            <a:ext cx="7238999" cy="16688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range(max_value)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genera una secuencia con números: </a:t>
            </a:r>
          </a:p>
          <a:p>
            <a:pPr marL="0" indent="0"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0 , 1 , ... , max_value – 1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. El último número no está incluido. </a:t>
            </a:r>
            <a:endParaRPr lang="es-ES_tradnl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C41043D5-FA3A-49D4-8CB3-6DC6B09822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409" y="3989666"/>
            <a:ext cx="2133786" cy="182329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B516CA-BFCA-45D9-B146-6CE795A4C79E}"/>
              </a:ext>
            </a:extLst>
          </p:cNvPr>
          <p:cNvSpPr/>
          <p:nvPr/>
        </p:nvSpPr>
        <p:spPr>
          <a:xfrm>
            <a:off x="1835696" y="3989666"/>
            <a:ext cx="4683713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b="1" dirty="0">
                <a:solidFill>
                  <a:srgbClr val="0070C0"/>
                </a:solidFill>
              </a:rPr>
              <a:t>for </a:t>
            </a:r>
            <a:r>
              <a:rPr lang="es-ES_tradnl" sz="2400" b="1" dirty="0">
                <a:solidFill>
                  <a:srgbClr val="FF3300"/>
                </a:solidFill>
              </a:rPr>
              <a:t>contador </a:t>
            </a:r>
            <a:r>
              <a:rPr lang="es-ES_tradnl" sz="2400" b="1" dirty="0">
                <a:solidFill>
                  <a:srgbClr val="00B050"/>
                </a:solidFill>
              </a:rPr>
              <a:t>in range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(max_value): 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instrucciones</a:t>
            </a:r>
            <a:endParaRPr lang="es-ES_tradnl" sz="2400" b="1" dirty="0"/>
          </a:p>
        </p:txBody>
      </p:sp>
    </p:spTree>
    <p:extLst>
      <p:ext uri="{BB962C8B-B14F-4D97-AF65-F5344CB8AC3E}">
        <p14:creationId xmlns:p14="http://schemas.microsoft.com/office/powerpoint/2010/main" val="219195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21626" y="1887102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793616" y="2880987"/>
            <a:ext cx="5594808" cy="15057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imprime0_8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Despliegue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en pantalla números sucesivos del 0 al 8.</a:t>
            </a:r>
            <a:endParaRPr lang="es-ES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>
              <a:spcAft>
                <a:spcPts val="600"/>
              </a:spcAft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60" y="4447002"/>
            <a:ext cx="2712266" cy="169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47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71923" y="764704"/>
            <a:ext cx="5585771" cy="89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 en Python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CC2B8DA-4FB5-44D2-AD9F-AF57C91FD10F}"/>
              </a:ext>
            </a:extLst>
          </p:cNvPr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002D472-7157-46A4-9BE7-04783659D857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5CDB304-112F-45BE-8B12-4E094D058F5F}"/>
              </a:ext>
            </a:extLst>
          </p:cNvPr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99C8C99-CF6F-4804-99D7-8E2A4DEB8DF4}"/>
              </a:ext>
            </a:extLst>
          </p:cNvPr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0CE1FA0-693F-4562-9DCE-C8A3779B1E96}"/>
              </a:ext>
            </a:extLst>
          </p:cNvPr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7F07ED6F-FAAA-40D6-825A-313810C01F47}"/>
              </a:ext>
            </a:extLst>
          </p:cNvPr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9D2B534-8F22-448E-9E60-1ECCFA34ED6F}"/>
              </a:ext>
            </a:extLst>
          </p:cNvPr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57FEF698-3FBE-4D18-9368-8A12698881C7}"/>
              </a:ext>
            </a:extLst>
          </p:cNvPr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33DD9A85-EFBE-403F-99C7-86830B9CB975}"/>
              </a:ext>
            </a:extLst>
          </p:cNvPr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4FB7D33D-F5E2-4FD4-A36A-BBF09B430D78}"/>
              </a:ext>
            </a:extLst>
          </p:cNvPr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3096D364-6CC0-4D80-9316-FEE5D1D02867}"/>
              </a:ext>
            </a:extLst>
          </p:cNvPr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5A51283F-5A5F-4122-951C-16EF9C32CA9B}"/>
              </a:ext>
            </a:extLst>
          </p:cNvPr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A413B54A-712C-46C5-A159-9C7AF8F9E971}"/>
              </a:ext>
            </a:extLst>
          </p:cNvPr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413A7575-AAF6-485C-8701-5E351DF94474}"/>
              </a:ext>
            </a:extLst>
          </p:cNvPr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6A94F2E-8C48-47CD-8152-50B94BBE0677}"/>
              </a:ext>
            </a:extLst>
          </p:cNvPr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79FE6946-C4B6-4AE2-8998-8D6B6CFF2492}"/>
              </a:ext>
            </a:extLst>
          </p:cNvPr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DB524AF-63F7-4B75-86CC-6A8A41D8EFC8}"/>
              </a:ext>
            </a:extLst>
          </p:cNvPr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BB506128-04C5-43CA-963C-B6F546C0F300}"/>
              </a:ext>
            </a:extLst>
          </p:cNvPr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F7B39F4A-6D3B-4FC2-A9FB-CC25EDEE1845}"/>
              </a:ext>
            </a:extLst>
          </p:cNvPr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D59DA53D-6D38-4288-900A-FBD98504B35F}"/>
              </a:ext>
            </a:extLst>
          </p:cNvPr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22AB4573-6E9C-4B74-A04E-68A13776FC10}"/>
              </a:ext>
            </a:extLst>
          </p:cNvPr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E4196ECA-A5B8-44A9-A064-50C1BFE43F45}"/>
              </a:ext>
            </a:extLst>
          </p:cNvPr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C09DE7F0-F2DE-46F7-9022-8BAF46FA1266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ES"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1CE60C-1A28-4346-9D23-67269DA1C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2262" y="1892677"/>
            <a:ext cx="4693322" cy="297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52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-10469"/>
            <a:ext cx="7239000" cy="157129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Estructura del for</a:t>
            </a:r>
            <a:b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rango (min_value, max_value)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165" y="1648149"/>
            <a:ext cx="8123403" cy="291766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Se puede utilizar el ciclo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para incrementar en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uno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valor de una variable entera.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range(min_value, max_value)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genera una secuencia con números </a:t>
            </a:r>
            <a:r>
              <a:rPr lang="es-ES" sz="2200" b="1" dirty="0">
                <a:solidFill>
                  <a:srgbClr val="0070C0"/>
                </a:solidFill>
              </a:rPr>
              <a:t>min_value , min_value + 1 , ..., max_value – 1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. El último número no está incluido. </a:t>
            </a:r>
            <a:endParaRPr lang="es-ES_tradnl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C41043D5-FA3A-49D4-8CB3-6DC6B0982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350" y="4869160"/>
            <a:ext cx="1721793" cy="147125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B516CA-BFCA-45D9-B146-6CE795A4C79E}"/>
              </a:ext>
            </a:extLst>
          </p:cNvPr>
          <p:cNvSpPr/>
          <p:nvPr/>
        </p:nvSpPr>
        <p:spPr>
          <a:xfrm>
            <a:off x="1043608" y="4941168"/>
            <a:ext cx="6048672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for </a:t>
            </a:r>
            <a:r>
              <a:rPr lang="es-ES_tradnl" sz="2400" b="1" dirty="0">
                <a:solidFill>
                  <a:srgbClr val="FF3300"/>
                </a:solidFill>
              </a:rPr>
              <a:t>contador </a:t>
            </a:r>
            <a:r>
              <a:rPr lang="es-ES_tradnl" sz="2400" b="1" dirty="0">
                <a:solidFill>
                  <a:srgbClr val="00B050"/>
                </a:solidFill>
              </a:rPr>
              <a:t>in range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(min_value, max_value): 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instrucciones</a:t>
            </a:r>
            <a:endParaRPr lang="es-ES_tradnl" sz="2400" b="1" dirty="0"/>
          </a:p>
        </p:txBody>
      </p:sp>
    </p:spTree>
    <p:extLst>
      <p:ext uri="{BB962C8B-B14F-4D97-AF65-F5344CB8AC3E}">
        <p14:creationId xmlns:p14="http://schemas.microsoft.com/office/powerpoint/2010/main" val="360556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887102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49600" y="2880987"/>
            <a:ext cx="5666816" cy="15057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imprime1_10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Despliegue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en pantalla números sucesivos del 1 al 10.</a:t>
            </a:r>
            <a:endParaRPr lang="es-ES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>
              <a:spcAft>
                <a:spcPts val="600"/>
              </a:spcAft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28" y="4520811"/>
            <a:ext cx="2592288" cy="16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74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71923" y="1125261"/>
            <a:ext cx="5585771" cy="89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 en Python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CC2B8DA-4FB5-44D2-AD9F-AF57C91FD10F}"/>
              </a:ext>
            </a:extLst>
          </p:cNvPr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002D472-7157-46A4-9BE7-04783659D857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5CDB304-112F-45BE-8B12-4E094D058F5F}"/>
              </a:ext>
            </a:extLst>
          </p:cNvPr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99C8C99-CF6F-4804-99D7-8E2A4DEB8DF4}"/>
              </a:ext>
            </a:extLst>
          </p:cNvPr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0CE1FA0-693F-4562-9DCE-C8A3779B1E96}"/>
              </a:ext>
            </a:extLst>
          </p:cNvPr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7F07ED6F-FAAA-40D6-825A-313810C01F47}"/>
              </a:ext>
            </a:extLst>
          </p:cNvPr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9D2B534-8F22-448E-9E60-1ECCFA34ED6F}"/>
              </a:ext>
            </a:extLst>
          </p:cNvPr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57FEF698-3FBE-4D18-9368-8A12698881C7}"/>
              </a:ext>
            </a:extLst>
          </p:cNvPr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33DD9A85-EFBE-403F-99C7-86830B9CB975}"/>
              </a:ext>
            </a:extLst>
          </p:cNvPr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4FB7D33D-F5E2-4FD4-A36A-BBF09B430D78}"/>
              </a:ext>
            </a:extLst>
          </p:cNvPr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3096D364-6CC0-4D80-9316-FEE5D1D02867}"/>
              </a:ext>
            </a:extLst>
          </p:cNvPr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5A51283F-5A5F-4122-951C-16EF9C32CA9B}"/>
              </a:ext>
            </a:extLst>
          </p:cNvPr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A413B54A-712C-46C5-A159-9C7AF8F9E971}"/>
              </a:ext>
            </a:extLst>
          </p:cNvPr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413A7575-AAF6-485C-8701-5E351DF94474}"/>
              </a:ext>
            </a:extLst>
          </p:cNvPr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6A94F2E-8C48-47CD-8152-50B94BBE0677}"/>
              </a:ext>
            </a:extLst>
          </p:cNvPr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79FE6946-C4B6-4AE2-8998-8D6B6CFF2492}"/>
              </a:ext>
            </a:extLst>
          </p:cNvPr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DB524AF-63F7-4B75-86CC-6A8A41D8EFC8}"/>
              </a:ext>
            </a:extLst>
          </p:cNvPr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BB506128-04C5-43CA-963C-B6F546C0F300}"/>
              </a:ext>
            </a:extLst>
          </p:cNvPr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F7B39F4A-6D3B-4FC2-A9FB-CC25EDEE1845}"/>
              </a:ext>
            </a:extLst>
          </p:cNvPr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D59DA53D-6D38-4288-900A-FBD98504B35F}"/>
              </a:ext>
            </a:extLst>
          </p:cNvPr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22AB4573-6E9C-4B74-A04E-68A13776FC10}"/>
              </a:ext>
            </a:extLst>
          </p:cNvPr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E4196ECA-A5B8-44A9-A064-50C1BFE43F45}"/>
              </a:ext>
            </a:extLst>
          </p:cNvPr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C09DE7F0-F2DE-46F7-9022-8BAF46FA1266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9896C6C-78D2-4C79-A23F-06B8B688B6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012" y="2329216"/>
            <a:ext cx="5184141" cy="289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5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620689"/>
            <a:ext cx="7239000" cy="75474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Estructura del for</a:t>
            </a:r>
            <a:b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sz="4000" b="1" dirty="0">
                <a:solidFill>
                  <a:srgbClr val="FF0000"/>
                </a:solidFill>
              </a:rPr>
              <a:t>foro </a:t>
            </a:r>
            <a:r>
              <a:rPr lang="es-ES" sz="4000" b="1" dirty="0">
                <a:solidFill>
                  <a:srgbClr val="FF0000"/>
                </a:solidFill>
              </a:rPr>
              <a:t>(min_value, max_value, num)</a:t>
            </a:r>
            <a:br>
              <a:rPr lang="es-ES_tradnl" sz="40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es-ES_tradnl" sz="4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669906"/>
            <a:ext cx="8226914" cy="291766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Se puede utilizar el ciclo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para </a:t>
            </a:r>
            <a:r>
              <a:rPr lang="es-ES" sz="2200" u="sng" dirty="0">
                <a:solidFill>
                  <a:schemeClr val="bg2">
                    <a:lumMod val="25000"/>
                  </a:schemeClr>
                </a:solidFill>
              </a:rPr>
              <a:t>incrementar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en cierto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número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el valor de una variable entera.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range(min_value, max_value, num)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genera una secuencia con números </a:t>
            </a:r>
            <a:r>
              <a:rPr lang="es-ES" sz="2200" b="1" dirty="0">
                <a:solidFill>
                  <a:srgbClr val="0070C0"/>
                </a:solidFill>
              </a:rPr>
              <a:t>min_value , min_value + num, ...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El ciclo siempre incluye min_value y excluye max_value.</a:t>
            </a:r>
            <a:endParaRPr lang="es-ES_tradnl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C41043D5-FA3A-49D4-8CB3-6DC6B0982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793" y="5453574"/>
            <a:ext cx="1643586" cy="14044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B516CA-BFCA-45D9-B146-6CE795A4C79E}"/>
              </a:ext>
            </a:extLst>
          </p:cNvPr>
          <p:cNvSpPr/>
          <p:nvPr/>
        </p:nvSpPr>
        <p:spPr>
          <a:xfrm>
            <a:off x="899592" y="5022234"/>
            <a:ext cx="7344817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for </a:t>
            </a:r>
            <a:r>
              <a:rPr lang="es-ES_tradnl" sz="2400" b="1" dirty="0">
                <a:solidFill>
                  <a:srgbClr val="FF3300"/>
                </a:solidFill>
              </a:rPr>
              <a:t>contador </a:t>
            </a:r>
            <a:r>
              <a:rPr lang="es-ES_tradnl" sz="2400" b="1" dirty="0">
                <a:solidFill>
                  <a:srgbClr val="00B050"/>
                </a:solidFill>
              </a:rPr>
              <a:t>in range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(min_value, max_value, num): 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instrucciones</a:t>
            </a:r>
            <a:endParaRPr lang="es-ES_tradnl" sz="2400" b="1" dirty="0"/>
          </a:p>
        </p:txBody>
      </p:sp>
    </p:spTree>
    <p:extLst>
      <p:ext uri="{BB962C8B-B14F-4D97-AF65-F5344CB8AC3E}">
        <p14:creationId xmlns:p14="http://schemas.microsoft.com/office/powerpoint/2010/main" val="3262134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887102"/>
            <a:ext cx="4702702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individual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49600" y="2880987"/>
            <a:ext cx="5882840" cy="15057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imprime2_10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Despliegue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en pantalla los números del </a:t>
            </a:r>
            <a:r>
              <a:rPr lang="es-ES" sz="2400" b="1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2 al 10 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con incrementos de dos en dos.</a:t>
            </a:r>
            <a:endParaRPr lang="es-ES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>
              <a:spcAft>
                <a:spcPts val="600"/>
              </a:spcAft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9" name="Imagen 28" descr="Imagen que contiene dibujo, luz&#10;&#10;Descripción generada automáticamente">
            <a:extLst>
              <a:ext uri="{FF2B5EF4-FFF2-40B4-BE49-F238E27FC236}">
                <a16:creationId xmlns:a16="http://schemas.microsoft.com/office/drawing/2014/main" id="{2EA30597-CECB-4632-8D95-0DE7148D6F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4322826"/>
            <a:ext cx="3240360" cy="188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24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620689"/>
            <a:ext cx="7239000" cy="75474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Estructura del for</a:t>
            </a:r>
            <a:b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sz="4000" b="1" dirty="0">
                <a:solidFill>
                  <a:srgbClr val="FF0000"/>
                </a:solidFill>
              </a:rPr>
              <a:t>núm. </a:t>
            </a:r>
            <a:r>
              <a:rPr lang="es-ES" sz="4000" b="1" dirty="0">
                <a:solidFill>
                  <a:srgbClr val="FF0000"/>
                </a:solidFill>
              </a:rPr>
              <a:t>(max_value, min_value, -num)</a:t>
            </a:r>
            <a:br>
              <a:rPr lang="es-ES_tradnl" sz="4000" b="1" dirty="0">
                <a:solidFill>
                  <a:schemeClr val="accent6">
                    <a:lumMod val="75000"/>
                  </a:schemeClr>
                </a:solidFill>
              </a:rPr>
            </a:br>
            <a:endParaRPr lang="es-ES_tradnl" sz="4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669906"/>
            <a:ext cx="8226914" cy="291766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Se puede utilizar el ciclo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para </a:t>
            </a:r>
            <a:r>
              <a:rPr lang="es-ES" sz="2200" u="sng" dirty="0">
                <a:solidFill>
                  <a:schemeClr val="bg2">
                    <a:lumMod val="25000"/>
                  </a:schemeClr>
                </a:solidFill>
              </a:rPr>
              <a:t>decrementar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en cierto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número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el valor de una variable entera.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El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range(max_value, min_value, -num) 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genera una secuencia con números </a:t>
            </a:r>
            <a:r>
              <a:rPr lang="es-ES" sz="2200" b="1" dirty="0">
                <a:solidFill>
                  <a:srgbClr val="0070C0"/>
                </a:solidFill>
              </a:rPr>
              <a:t>max_value , max_value - num, ...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</a:rPr>
              <a:t> El ciclo siempre incluye max_value y excluye min_value.</a:t>
            </a:r>
            <a:endParaRPr lang="es-ES_tradnl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globo, lámpara&#10;&#10;Descripción generada automáticamente">
            <a:extLst>
              <a:ext uri="{FF2B5EF4-FFF2-40B4-BE49-F238E27FC236}">
                <a16:creationId xmlns:a16="http://schemas.microsoft.com/office/drawing/2014/main" id="{C41043D5-FA3A-49D4-8CB3-6DC6B0982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793" y="5453574"/>
            <a:ext cx="1643586" cy="14044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B516CA-BFCA-45D9-B146-6CE795A4C79E}"/>
              </a:ext>
            </a:extLst>
          </p:cNvPr>
          <p:cNvSpPr/>
          <p:nvPr/>
        </p:nvSpPr>
        <p:spPr>
          <a:xfrm>
            <a:off x="899591" y="4882039"/>
            <a:ext cx="7344817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for </a:t>
            </a:r>
            <a:r>
              <a:rPr lang="es-ES_tradnl" sz="2400" b="1" dirty="0">
                <a:solidFill>
                  <a:srgbClr val="FF3300"/>
                </a:solidFill>
              </a:rPr>
              <a:t>contador </a:t>
            </a:r>
            <a:r>
              <a:rPr lang="es-ES_tradnl" sz="2400" b="1" dirty="0">
                <a:solidFill>
                  <a:srgbClr val="00B050"/>
                </a:solidFill>
              </a:rPr>
              <a:t>in range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(max_value, min_value, -num): 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instrucciones</a:t>
            </a:r>
            <a:endParaRPr lang="es-ES_tradnl" sz="2400" b="1" dirty="0"/>
          </a:p>
        </p:txBody>
      </p:sp>
    </p:spTree>
    <p:extLst>
      <p:ext uri="{BB962C8B-B14F-4D97-AF65-F5344CB8AC3E}">
        <p14:creationId xmlns:p14="http://schemas.microsoft.com/office/powerpoint/2010/main" val="165394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887102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49600" y="2880987"/>
            <a:ext cx="5666816" cy="15057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imprime10_1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Despliegue</a:t>
            </a:r>
            <a:r>
              <a:rPr lang="es-ES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en pantalla números sucesivos del 10 al 1.</a:t>
            </a:r>
            <a:endParaRPr lang="es-ES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>
              <a:spcAft>
                <a:spcPts val="600"/>
              </a:spcAft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28" y="4520811"/>
            <a:ext cx="2592288" cy="16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2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43912" y="857251"/>
            <a:ext cx="5585771" cy="89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 en Python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CC2B8DA-4FB5-44D2-AD9F-AF57C91FD10F}"/>
              </a:ext>
            </a:extLst>
          </p:cNvPr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002D472-7157-46A4-9BE7-04783659D857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5CDB304-112F-45BE-8B12-4E094D058F5F}"/>
              </a:ext>
            </a:extLst>
          </p:cNvPr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99C8C99-CF6F-4804-99D7-8E2A4DEB8DF4}"/>
              </a:ext>
            </a:extLst>
          </p:cNvPr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0CE1FA0-693F-4562-9DCE-C8A3779B1E96}"/>
              </a:ext>
            </a:extLst>
          </p:cNvPr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7F07ED6F-FAAA-40D6-825A-313810C01F47}"/>
              </a:ext>
            </a:extLst>
          </p:cNvPr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9D2B534-8F22-448E-9E60-1ECCFA34ED6F}"/>
              </a:ext>
            </a:extLst>
          </p:cNvPr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57FEF698-3FBE-4D18-9368-8A12698881C7}"/>
              </a:ext>
            </a:extLst>
          </p:cNvPr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33DD9A85-EFBE-403F-99C7-86830B9CB975}"/>
              </a:ext>
            </a:extLst>
          </p:cNvPr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4FB7D33D-F5E2-4FD4-A36A-BBF09B430D78}"/>
              </a:ext>
            </a:extLst>
          </p:cNvPr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3096D364-6CC0-4D80-9316-FEE5D1D02867}"/>
              </a:ext>
            </a:extLst>
          </p:cNvPr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5A51283F-5A5F-4122-951C-16EF9C32CA9B}"/>
              </a:ext>
            </a:extLst>
          </p:cNvPr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A413B54A-712C-46C5-A159-9C7AF8F9E971}"/>
              </a:ext>
            </a:extLst>
          </p:cNvPr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413A7575-AAF6-485C-8701-5E351DF94474}"/>
              </a:ext>
            </a:extLst>
          </p:cNvPr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6A94F2E-8C48-47CD-8152-50B94BBE0677}"/>
              </a:ext>
            </a:extLst>
          </p:cNvPr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79FE6946-C4B6-4AE2-8998-8D6B6CFF2492}"/>
              </a:ext>
            </a:extLst>
          </p:cNvPr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DB524AF-63F7-4B75-86CC-6A8A41D8EFC8}"/>
              </a:ext>
            </a:extLst>
          </p:cNvPr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BB506128-04C5-43CA-963C-B6F546C0F300}"/>
              </a:ext>
            </a:extLst>
          </p:cNvPr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F7B39F4A-6D3B-4FC2-A9FB-CC25EDEE1845}"/>
              </a:ext>
            </a:extLst>
          </p:cNvPr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D59DA53D-6D38-4288-900A-FBD98504B35F}"/>
              </a:ext>
            </a:extLst>
          </p:cNvPr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22AB4573-6E9C-4B74-A04E-68A13776FC10}"/>
              </a:ext>
            </a:extLst>
          </p:cNvPr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E4196ECA-A5B8-44A9-A064-50C1BFE43F45}"/>
              </a:ext>
            </a:extLst>
          </p:cNvPr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C09DE7F0-F2DE-46F7-9022-8BAF46FA1266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4B4DB4-4AF0-4F38-B622-63035DAE6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3973" y="2239846"/>
            <a:ext cx="5172048" cy="25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53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7CC2B8DA-4FB5-44D2-AD9F-AF57C91FD10F}"/>
              </a:ext>
            </a:extLst>
          </p:cNvPr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002D472-7157-46A4-9BE7-04783659D857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5CDB304-112F-45BE-8B12-4E094D058F5F}"/>
              </a:ext>
            </a:extLst>
          </p:cNvPr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99C8C99-CF6F-4804-99D7-8E2A4DEB8DF4}"/>
              </a:ext>
            </a:extLst>
          </p:cNvPr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0CE1FA0-693F-4562-9DCE-C8A3779B1E96}"/>
              </a:ext>
            </a:extLst>
          </p:cNvPr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7F07ED6F-FAAA-40D6-825A-313810C01F47}"/>
              </a:ext>
            </a:extLst>
          </p:cNvPr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9D2B534-8F22-448E-9E60-1ECCFA34ED6F}"/>
              </a:ext>
            </a:extLst>
          </p:cNvPr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57FEF698-3FBE-4D18-9368-8A12698881C7}"/>
              </a:ext>
            </a:extLst>
          </p:cNvPr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33DD9A85-EFBE-403F-99C7-86830B9CB975}"/>
              </a:ext>
            </a:extLst>
          </p:cNvPr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4FB7D33D-F5E2-4FD4-A36A-BBF09B430D78}"/>
              </a:ext>
            </a:extLst>
          </p:cNvPr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3096D364-6CC0-4D80-9316-FEE5D1D02867}"/>
              </a:ext>
            </a:extLst>
          </p:cNvPr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5A51283F-5A5F-4122-951C-16EF9C32CA9B}"/>
              </a:ext>
            </a:extLst>
          </p:cNvPr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A413B54A-712C-46C5-A159-9C7AF8F9E971}"/>
              </a:ext>
            </a:extLst>
          </p:cNvPr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413A7575-AAF6-485C-8701-5E351DF94474}"/>
              </a:ext>
            </a:extLst>
          </p:cNvPr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6A94F2E-8C48-47CD-8152-50B94BBE0677}"/>
              </a:ext>
            </a:extLst>
          </p:cNvPr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79FE6946-C4B6-4AE2-8998-8D6B6CFF2492}"/>
              </a:ext>
            </a:extLst>
          </p:cNvPr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BDB524AF-63F7-4B75-86CC-6A8A41D8EFC8}"/>
              </a:ext>
            </a:extLst>
          </p:cNvPr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BB506128-04C5-43CA-963C-B6F546C0F300}"/>
              </a:ext>
            </a:extLst>
          </p:cNvPr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F7B39F4A-6D3B-4FC2-A9FB-CC25EDEE1845}"/>
              </a:ext>
            </a:extLst>
          </p:cNvPr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D59DA53D-6D38-4288-900A-FBD98504B35F}"/>
              </a:ext>
            </a:extLst>
          </p:cNvPr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22AB4573-6E9C-4B74-A04E-68A13776FC10}"/>
              </a:ext>
            </a:extLst>
          </p:cNvPr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E4196ECA-A5B8-44A9-A064-50C1BFE43F45}"/>
              </a:ext>
            </a:extLst>
          </p:cNvPr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C09DE7F0-F2DE-46F7-9022-8BAF46FA1266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32" name="Imagen 31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70FBA62-B044-4249-9272-055D6BE72D8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4509120"/>
            <a:ext cx="2400267" cy="1800200"/>
          </a:xfrm>
          <a:prstGeom prst="rect">
            <a:avLst/>
          </a:prstGeom>
        </p:spPr>
      </p:pic>
      <p:sp>
        <p:nvSpPr>
          <p:cNvPr id="33" name="object 24">
            <a:extLst>
              <a:ext uri="{FF2B5EF4-FFF2-40B4-BE49-F238E27FC236}">
                <a16:creationId xmlns:a16="http://schemas.microsoft.com/office/drawing/2014/main" id="{5980DC8B-5148-4F83-ACB3-72002BDE8749}"/>
              </a:ext>
            </a:extLst>
          </p:cNvPr>
          <p:cNvSpPr txBox="1"/>
          <p:nvPr/>
        </p:nvSpPr>
        <p:spPr>
          <a:xfrm>
            <a:off x="2659730" y="745490"/>
            <a:ext cx="4702702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individual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D8D21E19-80B3-4826-915F-8D1B1ED47F98}"/>
              </a:ext>
            </a:extLst>
          </p:cNvPr>
          <p:cNvSpPr txBox="1"/>
          <p:nvPr/>
        </p:nvSpPr>
        <p:spPr>
          <a:xfrm>
            <a:off x="2649108" y="1769253"/>
            <a:ext cx="5955339" cy="44774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1200"/>
              </a:spcAft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 la función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dibuja_asteriscos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que:</a:t>
            </a:r>
          </a:p>
          <a:p>
            <a:pPr marL="3556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Recibe un número </a:t>
            </a:r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x</a:t>
            </a:r>
            <a:r>
              <a:rPr lang="es-MX" sz="24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y despliega en pantalla una línea vertical de asteriscos (*).</a:t>
            </a:r>
            <a:endParaRPr lang="es-ES_tradnl" sz="10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Clr>
                <a:schemeClr val="accent1"/>
              </a:buClr>
              <a:buSzPct val="80000"/>
              <a:defRPr/>
            </a:pPr>
            <a:endParaRPr lang="es-ES_tradnl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accent1"/>
              </a:buClr>
              <a:buSzPct val="80000"/>
              <a:defRPr/>
            </a:pPr>
            <a:r>
              <a:rPr lang="es-ES_tradnl" sz="2400" b="1" dirty="0">
                <a:solidFill>
                  <a:srgbClr val="002060"/>
                </a:solidFill>
              </a:rPr>
              <a:t>Ejemplo:</a:t>
            </a:r>
          </a:p>
          <a:p>
            <a:pPr>
              <a:buClr>
                <a:schemeClr val="accent1"/>
              </a:buClr>
              <a:buSzPct val="80000"/>
              <a:defRPr/>
            </a:pPr>
            <a:endParaRPr lang="es-ES_tradnl" sz="800" dirty="0"/>
          </a:p>
          <a:p>
            <a:pPr>
              <a:buClr>
                <a:schemeClr val="accent1"/>
              </a:buClr>
              <a:buSzPct val="80000"/>
              <a:defRPr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dibuja_asteriscos(4)</a:t>
            </a:r>
            <a:endParaRPr lang="es-ES_tradnl" sz="2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Clr>
                <a:schemeClr val="accent1"/>
              </a:buClr>
              <a:buSzPct val="80000"/>
              <a:defRPr/>
            </a:pPr>
            <a:r>
              <a:rPr lang="es-ES_tradnl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 la pantalla se desplegaría:</a:t>
            </a:r>
          </a:p>
          <a:p>
            <a:pPr>
              <a:buClr>
                <a:schemeClr val="accent1"/>
              </a:buClr>
              <a:buSzPct val="80000"/>
              <a:defRPr/>
            </a:pPr>
            <a:endParaRPr lang="es-ES_tradnl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accent1"/>
              </a:buClr>
              <a:buSzPct val="80000"/>
              <a:defRPr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* </a:t>
            </a:r>
          </a:p>
          <a:p>
            <a:pPr>
              <a:buClr>
                <a:schemeClr val="accent1"/>
              </a:buClr>
              <a:buSzPct val="80000"/>
              <a:defRPr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*</a:t>
            </a:r>
          </a:p>
          <a:p>
            <a:pPr>
              <a:buClr>
                <a:schemeClr val="accent1"/>
              </a:buClr>
              <a:buSzPct val="80000"/>
              <a:defRPr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* </a:t>
            </a:r>
          </a:p>
          <a:p>
            <a:pPr>
              <a:buClr>
                <a:schemeClr val="accent1"/>
              </a:buClr>
              <a:buSzPct val="80000"/>
              <a:defRPr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*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3667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2010</TotalTime>
  <Words>713</Words>
  <Application>Microsoft Office PowerPoint</Application>
  <PresentationFormat>Presentación en pantalla (4:3)</PresentationFormat>
  <Paragraphs>108</Paragraphs>
  <Slides>22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Arial Unicode MS</vt:lpstr>
      <vt:lpstr>Calibri</vt:lpstr>
      <vt:lpstr>Dom Casual</vt:lpstr>
      <vt:lpstr>Wingdings</vt:lpstr>
      <vt:lpstr>Tema de Office</vt:lpstr>
      <vt:lpstr>TC 1037  Pensamiento algorítmico</vt:lpstr>
      <vt:lpstr>La sesión pasada vimos…</vt:lpstr>
      <vt:lpstr>while True:</vt:lpstr>
      <vt:lpstr>while true</vt:lpstr>
      <vt:lpstr>Presentación de PowerPoint</vt:lpstr>
      <vt:lpstr>Presentación de PowerPoint</vt:lpstr>
      <vt:lpstr>Presentación de PowerPoint</vt:lpstr>
      <vt:lpstr>FOR</vt:lpstr>
      <vt:lpstr>FOR</vt:lpstr>
      <vt:lpstr>Estructura del for for (max_value)</vt:lpstr>
      <vt:lpstr>Presentación de PowerPoint</vt:lpstr>
      <vt:lpstr>Presentación de PowerPoint</vt:lpstr>
      <vt:lpstr>Estructura del for rango (min_value, max_value)</vt:lpstr>
      <vt:lpstr>Presentación de PowerPoint</vt:lpstr>
      <vt:lpstr>Presentación de PowerPoint</vt:lpstr>
      <vt:lpstr>Estructura del for foro (min_value, max_value, num) </vt:lpstr>
      <vt:lpstr>Presentación de PowerPoint</vt:lpstr>
      <vt:lpstr>Estructura del for núm. (max_value, min_value, -num) 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80</cp:revision>
  <dcterms:created xsi:type="dcterms:W3CDTF">2013-06-25T15:25:55Z</dcterms:created>
  <dcterms:modified xsi:type="dcterms:W3CDTF">2026-08-07T01:00:14Z</dcterms:modified>
</cp:coreProperties>
</file>