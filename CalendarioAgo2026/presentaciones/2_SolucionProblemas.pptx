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332" r:id="rId3"/>
    <p:sldId id="334" r:id="rId4"/>
    <p:sldId id="333" r:id="rId5"/>
    <p:sldId id="260" r:id="rId6"/>
    <p:sldId id="336" r:id="rId7"/>
    <p:sldId id="310" r:id="rId8"/>
    <p:sldId id="322" r:id="rId9"/>
    <p:sldId id="261" r:id="rId10"/>
    <p:sldId id="262" r:id="rId11"/>
    <p:sldId id="311" r:id="rId12"/>
    <p:sldId id="323" r:id="rId13"/>
    <p:sldId id="324" r:id="rId14"/>
    <p:sldId id="335" r:id="rId15"/>
    <p:sldId id="325" r:id="rId16"/>
    <p:sldId id="326" r:id="rId17"/>
    <p:sldId id="327" r:id="rId18"/>
    <p:sldId id="328" r:id="rId19"/>
    <p:sldId id="329" r:id="rId20"/>
    <p:sldId id="330" r:id="rId21"/>
    <p:sldId id="295" r:id="rId22"/>
    <p:sldId id="282" r:id="rId2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73" d="100"/>
          <a:sy n="73" d="100"/>
        </p:scale>
        <p:origin x="110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8-07T00:43:36.211" v="17" actId="27636"/>
      <pc:docMkLst>
        <pc:docMk/>
      </pc:docMkLst>
      <pc:sldChg chg="modSp mod">
        <pc:chgData name="Lizethe Pérez Fuertes" userId="4ae9ef87-2a7d-42f8-8dfa-0a501a9e2ff4" providerId="ADAL" clId="{FDDD45CB-1330-4033-A842-3D2746AFF7C7}" dt="2026-08-07T00:43:36.211" v="17" actId="27636"/>
        <pc:sldMkLst>
          <pc:docMk/>
          <pc:sldMk cId="2553855534" sldId="257"/>
        </pc:sldMkLst>
        <pc:spChg chg="mod">
          <ac:chgData name="Lizethe Pérez Fuertes" userId="4ae9ef87-2a7d-42f8-8dfa-0a501a9e2ff4" providerId="ADAL" clId="{FDDD45CB-1330-4033-A842-3D2746AFF7C7}" dt="2026-08-07T00:43:36.211" v="17" actId="27636"/>
          <ac:spMkLst>
            <pc:docMk/>
            <pc:sldMk cId="2553855534" sldId="25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0684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32263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3529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9876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9067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7437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947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84383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1422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877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696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0225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332656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  <a:endParaRPr lang="es-MX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153569"/>
            <a:ext cx="7342584" cy="113141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Solución de problemas y algoritmos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Análisis y diseño</a:t>
            </a: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8E72DCE7-B0F9-4C95-94E9-646D250AFCA5}"/>
              </a:ext>
            </a:extLst>
          </p:cNvPr>
          <p:cNvSpPr/>
          <p:nvPr/>
        </p:nvSpPr>
        <p:spPr>
          <a:xfrm>
            <a:off x="2611359" y="3690008"/>
            <a:ext cx="1872208" cy="18467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A251C5B9-5BD4-4093-8B6E-AB2917404AB5}"/>
              </a:ext>
            </a:extLst>
          </p:cNvPr>
          <p:cNvSpPr/>
          <p:nvPr/>
        </p:nvSpPr>
        <p:spPr>
          <a:xfrm>
            <a:off x="5032322" y="3574050"/>
            <a:ext cx="1621969" cy="19999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4338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 de problemas</a:t>
            </a:r>
            <a:endParaRPr lang="es-ES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7BEBE739-646B-43DF-8CC5-9A748CB2228B}"/>
              </a:ext>
            </a:extLst>
          </p:cNvPr>
          <p:cNvSpPr/>
          <p:nvPr/>
        </p:nvSpPr>
        <p:spPr>
          <a:xfrm>
            <a:off x="2600325" y="4438650"/>
            <a:ext cx="958156" cy="400050"/>
          </a:xfrm>
          <a:custGeom>
            <a:avLst/>
            <a:gdLst/>
            <a:ahLst/>
            <a:cxnLst/>
            <a:rect l="l" t="t" r="r" b="b"/>
            <a:pathLst>
              <a:path w="1703388" h="711200">
                <a:moveTo>
                  <a:pt x="0" y="0"/>
                </a:moveTo>
                <a:lnTo>
                  <a:pt x="1703388" y="0"/>
                </a:lnTo>
                <a:lnTo>
                  <a:pt x="1703388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C602304A-7EEE-4C47-919F-7DBFD4A039AF}"/>
              </a:ext>
            </a:extLst>
          </p:cNvPr>
          <p:cNvSpPr txBox="1"/>
          <p:nvPr/>
        </p:nvSpPr>
        <p:spPr>
          <a:xfrm>
            <a:off x="2644616" y="4463796"/>
            <a:ext cx="863680" cy="3464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144"/>
            <a:r>
              <a:rPr sz="1125" spc="-3" dirty="0">
                <a:latin typeface="Verdana"/>
                <a:cs typeface="Verdana"/>
              </a:rPr>
              <a:t>En</a:t>
            </a:r>
            <a:r>
              <a:rPr sz="1125" spc="-8" dirty="0">
                <a:latin typeface="Verdana"/>
                <a:cs typeface="Verdana"/>
              </a:rPr>
              <a:t>te</a:t>
            </a:r>
            <a:r>
              <a:rPr sz="1125" spc="-11" dirty="0">
                <a:latin typeface="Verdana"/>
                <a:cs typeface="Verdana"/>
              </a:rPr>
              <a:t>n</a:t>
            </a:r>
            <a:r>
              <a:rPr sz="1125" dirty="0">
                <a:latin typeface="Verdana"/>
                <a:cs typeface="Verdana"/>
              </a:rPr>
              <a:t>d</a:t>
            </a:r>
            <a:r>
              <a:rPr sz="1125" spc="-11" dirty="0">
                <a:latin typeface="Verdana"/>
                <a:cs typeface="Verdana"/>
              </a:rPr>
              <a:t>e</a:t>
            </a:r>
            <a:r>
              <a:rPr sz="1125" spc="-6" dirty="0">
                <a:latin typeface="Verdana"/>
                <a:cs typeface="Verdana"/>
              </a:rPr>
              <a:t>r</a:t>
            </a:r>
            <a:endParaRPr sz="1125" dirty="0">
              <a:latin typeface="Verdana"/>
              <a:cs typeface="Verdana"/>
            </a:endParaRPr>
          </a:p>
          <a:p>
            <a:pPr marL="7144"/>
            <a:r>
              <a:rPr sz="1125" spc="-3" dirty="0">
                <a:latin typeface="Verdana"/>
                <a:cs typeface="Verdana"/>
              </a:rPr>
              <a:t>e</a:t>
            </a:r>
            <a:r>
              <a:rPr sz="1125" dirty="0">
                <a:latin typeface="Verdana"/>
                <a:cs typeface="Verdana"/>
              </a:rPr>
              <a:t>l</a:t>
            </a:r>
            <a:r>
              <a:rPr sz="1125" spc="-3" dirty="0">
                <a:latin typeface="Verdana"/>
                <a:cs typeface="Verdana"/>
              </a:rPr>
              <a:t> </a:t>
            </a:r>
            <a:r>
              <a:rPr sz="1125" dirty="0">
                <a:latin typeface="Verdana"/>
                <a:cs typeface="Verdana"/>
              </a:rPr>
              <a:t>p</a:t>
            </a:r>
            <a:r>
              <a:rPr sz="1125" spc="-11" dirty="0">
                <a:latin typeface="Verdana"/>
                <a:cs typeface="Verdana"/>
              </a:rPr>
              <a:t>ro</a:t>
            </a:r>
            <a:r>
              <a:rPr sz="1125" dirty="0">
                <a:latin typeface="Verdana"/>
                <a:cs typeface="Verdana"/>
              </a:rPr>
              <a:t>bl</a:t>
            </a:r>
            <a:r>
              <a:rPr sz="1125" spc="-11" dirty="0">
                <a:latin typeface="Verdana"/>
                <a:cs typeface="Verdana"/>
              </a:rPr>
              <a:t>ema</a:t>
            </a:r>
            <a:endParaRPr sz="1125" dirty="0">
              <a:latin typeface="Verdana"/>
              <a:cs typeface="Verdana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5162C311-B0EC-44C1-B93F-D19810D2E087}"/>
              </a:ext>
            </a:extLst>
          </p:cNvPr>
          <p:cNvSpPr/>
          <p:nvPr/>
        </p:nvSpPr>
        <p:spPr>
          <a:xfrm>
            <a:off x="4054080" y="2953949"/>
            <a:ext cx="1347170" cy="1349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518538F9-8B02-4043-97A9-73D6F64E3A79}"/>
              </a:ext>
            </a:extLst>
          </p:cNvPr>
          <p:cNvSpPr/>
          <p:nvPr/>
        </p:nvSpPr>
        <p:spPr>
          <a:xfrm>
            <a:off x="2356322" y="2755541"/>
            <a:ext cx="1273703" cy="16014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7AFA20C8-9035-435B-A6F6-E54519709759}"/>
              </a:ext>
            </a:extLst>
          </p:cNvPr>
          <p:cNvSpPr/>
          <p:nvPr/>
        </p:nvSpPr>
        <p:spPr>
          <a:xfrm>
            <a:off x="6337648" y="3057236"/>
            <a:ext cx="741176" cy="7702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7FF5F751-EB4A-497C-B48A-B5BDA8501979}"/>
              </a:ext>
            </a:extLst>
          </p:cNvPr>
          <p:cNvSpPr/>
          <p:nvPr/>
        </p:nvSpPr>
        <p:spPr>
          <a:xfrm>
            <a:off x="5900738" y="3483673"/>
            <a:ext cx="857250" cy="5332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064EE636-3671-4EDC-A379-A9A332162A4B}"/>
              </a:ext>
            </a:extLst>
          </p:cNvPr>
          <p:cNvSpPr/>
          <p:nvPr/>
        </p:nvSpPr>
        <p:spPr>
          <a:xfrm>
            <a:off x="4350544" y="4438650"/>
            <a:ext cx="864394" cy="400050"/>
          </a:xfrm>
          <a:custGeom>
            <a:avLst/>
            <a:gdLst/>
            <a:ahLst/>
            <a:cxnLst/>
            <a:rect l="l" t="t" r="r" b="b"/>
            <a:pathLst>
              <a:path w="1536700" h="711200">
                <a:moveTo>
                  <a:pt x="0" y="0"/>
                </a:moveTo>
                <a:lnTo>
                  <a:pt x="1536700" y="0"/>
                </a:lnTo>
                <a:lnTo>
                  <a:pt x="15367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830FBB08-1970-4B91-8A5A-AFE6799920F7}"/>
              </a:ext>
            </a:extLst>
          </p:cNvPr>
          <p:cNvSpPr txBox="1"/>
          <p:nvPr/>
        </p:nvSpPr>
        <p:spPr>
          <a:xfrm>
            <a:off x="4394836" y="4463796"/>
            <a:ext cx="770096" cy="3464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144"/>
            <a:r>
              <a:rPr sz="1125" spc="-14" dirty="0">
                <a:latin typeface="Verdana"/>
                <a:cs typeface="Verdana"/>
              </a:rPr>
              <a:t>D</a:t>
            </a:r>
            <a:r>
              <a:rPr sz="1125" spc="-6" dirty="0">
                <a:latin typeface="Verdana"/>
                <a:cs typeface="Verdana"/>
              </a:rPr>
              <a:t>i</a:t>
            </a:r>
            <a:r>
              <a:rPr sz="1125" spc="-11" dirty="0">
                <a:latin typeface="Verdana"/>
                <a:cs typeface="Verdana"/>
              </a:rPr>
              <a:t>seña</a:t>
            </a:r>
            <a:r>
              <a:rPr sz="1125" spc="-6" dirty="0">
                <a:latin typeface="Verdana"/>
                <a:cs typeface="Verdana"/>
              </a:rPr>
              <a:t>r</a:t>
            </a:r>
            <a:endParaRPr sz="1125">
              <a:latin typeface="Verdana"/>
              <a:cs typeface="Verdana"/>
            </a:endParaRPr>
          </a:p>
          <a:p>
            <a:pPr marL="7144"/>
            <a:r>
              <a:rPr sz="1125" dirty="0">
                <a:latin typeface="Verdana"/>
                <a:cs typeface="Verdana"/>
              </a:rPr>
              <a:t>la</a:t>
            </a:r>
            <a:r>
              <a:rPr sz="1125" spc="-6" dirty="0">
                <a:latin typeface="Verdana"/>
                <a:cs typeface="Verdana"/>
              </a:rPr>
              <a:t> </a:t>
            </a:r>
            <a:r>
              <a:rPr sz="1125" spc="-11" dirty="0">
                <a:latin typeface="Verdana"/>
                <a:cs typeface="Verdana"/>
              </a:rPr>
              <a:t>so</a:t>
            </a:r>
            <a:r>
              <a:rPr sz="1125" dirty="0">
                <a:latin typeface="Verdana"/>
                <a:cs typeface="Verdana"/>
              </a:rPr>
              <a:t>l</a:t>
            </a:r>
            <a:r>
              <a:rPr sz="1125" spc="-3" dirty="0">
                <a:latin typeface="Verdana"/>
                <a:cs typeface="Verdana"/>
              </a:rPr>
              <a:t>u</a:t>
            </a:r>
            <a:r>
              <a:rPr sz="1125" spc="-11" dirty="0">
                <a:latin typeface="Verdana"/>
                <a:cs typeface="Verdana"/>
              </a:rPr>
              <a:t>c</a:t>
            </a:r>
            <a:r>
              <a:rPr sz="1125" dirty="0">
                <a:latin typeface="Verdana"/>
                <a:cs typeface="Verdana"/>
              </a:rPr>
              <a:t>i</a:t>
            </a:r>
            <a:r>
              <a:rPr sz="1125" spc="-3" dirty="0">
                <a:latin typeface="Verdana"/>
                <a:cs typeface="Verdana"/>
              </a:rPr>
              <a:t>ó</a:t>
            </a:r>
            <a:r>
              <a:rPr sz="1125" spc="-8" dirty="0">
                <a:latin typeface="Verdana"/>
                <a:cs typeface="Verdana"/>
              </a:rPr>
              <a:t>n</a:t>
            </a:r>
            <a:endParaRPr sz="1125">
              <a:latin typeface="Verdana"/>
              <a:cs typeface="Verdana"/>
            </a:endParaRPr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A02ADF5E-0E19-4872-BD7F-A3067988B9D1}"/>
              </a:ext>
            </a:extLst>
          </p:cNvPr>
          <p:cNvSpPr/>
          <p:nvPr/>
        </p:nvSpPr>
        <p:spPr>
          <a:xfrm>
            <a:off x="6072189" y="4438650"/>
            <a:ext cx="801886" cy="400050"/>
          </a:xfrm>
          <a:custGeom>
            <a:avLst/>
            <a:gdLst/>
            <a:ahLst/>
            <a:cxnLst/>
            <a:rect l="l" t="t" r="r" b="b"/>
            <a:pathLst>
              <a:path w="1425575" h="711200">
                <a:moveTo>
                  <a:pt x="0" y="0"/>
                </a:moveTo>
                <a:lnTo>
                  <a:pt x="1425575" y="0"/>
                </a:lnTo>
                <a:lnTo>
                  <a:pt x="1425575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E0D7D65F-1B75-4FF1-BD3E-B9C2926F8369}"/>
              </a:ext>
            </a:extLst>
          </p:cNvPr>
          <p:cNvSpPr txBox="1"/>
          <p:nvPr/>
        </p:nvSpPr>
        <p:spPr>
          <a:xfrm>
            <a:off x="6116480" y="4463796"/>
            <a:ext cx="657225" cy="3464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144" marR="7144"/>
            <a:r>
              <a:rPr sz="1125" spc="-14" dirty="0">
                <a:latin typeface="Verdana"/>
                <a:cs typeface="Verdana"/>
              </a:rPr>
              <a:t>P</a:t>
            </a:r>
            <a:r>
              <a:rPr sz="1125" spc="-8" dirty="0">
                <a:latin typeface="Verdana"/>
                <a:cs typeface="Verdana"/>
              </a:rPr>
              <a:t>r</a:t>
            </a:r>
            <a:r>
              <a:rPr sz="1125" spc="-11" dirty="0">
                <a:latin typeface="Verdana"/>
                <a:cs typeface="Verdana"/>
              </a:rPr>
              <a:t>o</a:t>
            </a:r>
            <a:r>
              <a:rPr sz="1125" dirty="0">
                <a:latin typeface="Verdana"/>
                <a:cs typeface="Verdana"/>
              </a:rPr>
              <a:t>b</a:t>
            </a:r>
            <a:r>
              <a:rPr sz="1125" spc="-11" dirty="0">
                <a:latin typeface="Verdana"/>
                <a:cs typeface="Verdana"/>
              </a:rPr>
              <a:t>a</a:t>
            </a:r>
            <a:r>
              <a:rPr sz="1125" spc="-6" dirty="0">
                <a:latin typeface="Verdana"/>
                <a:cs typeface="Verdana"/>
              </a:rPr>
              <a:t>r </a:t>
            </a:r>
            <a:r>
              <a:rPr sz="1125" spc="-11" dirty="0">
                <a:latin typeface="Verdana"/>
                <a:cs typeface="Verdana"/>
              </a:rPr>
              <a:t>e</a:t>
            </a:r>
            <a:r>
              <a:rPr sz="1125" dirty="0">
                <a:latin typeface="Verdana"/>
                <a:cs typeface="Verdana"/>
              </a:rPr>
              <a:t>l di</a:t>
            </a:r>
            <a:r>
              <a:rPr sz="1125" spc="-11" dirty="0">
                <a:latin typeface="Verdana"/>
                <a:cs typeface="Verdana"/>
              </a:rPr>
              <a:t>señ</a:t>
            </a:r>
            <a:r>
              <a:rPr sz="1125" spc="-8" dirty="0">
                <a:latin typeface="Verdana"/>
                <a:cs typeface="Verdana"/>
              </a:rPr>
              <a:t>o</a:t>
            </a:r>
            <a:endParaRPr sz="1125">
              <a:latin typeface="Verdana"/>
              <a:cs typeface="Verdana"/>
            </a:endParaRPr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3F73717D-D405-4A56-B56D-CF520D556E58}"/>
              </a:ext>
            </a:extLst>
          </p:cNvPr>
          <p:cNvSpPr/>
          <p:nvPr/>
        </p:nvSpPr>
        <p:spPr>
          <a:xfrm>
            <a:off x="3757613" y="4481512"/>
            <a:ext cx="385763" cy="300038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514348" y="0"/>
                </a:moveTo>
                <a:lnTo>
                  <a:pt x="514348" y="133350"/>
                </a:lnTo>
                <a:lnTo>
                  <a:pt x="0" y="133350"/>
                </a:lnTo>
                <a:lnTo>
                  <a:pt x="0" y="400050"/>
                </a:lnTo>
                <a:lnTo>
                  <a:pt x="514348" y="400050"/>
                </a:lnTo>
                <a:lnTo>
                  <a:pt x="514348" y="533400"/>
                </a:lnTo>
                <a:lnTo>
                  <a:pt x="685800" y="266700"/>
                </a:lnTo>
                <a:lnTo>
                  <a:pt x="514348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319BA0BC-C35E-4310-AFAA-6A1E6FDAC0B6}"/>
              </a:ext>
            </a:extLst>
          </p:cNvPr>
          <p:cNvSpPr/>
          <p:nvPr/>
        </p:nvSpPr>
        <p:spPr>
          <a:xfrm>
            <a:off x="3757613" y="4481512"/>
            <a:ext cx="385763" cy="300038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133350"/>
                </a:moveTo>
                <a:lnTo>
                  <a:pt x="514349" y="133350"/>
                </a:lnTo>
                <a:lnTo>
                  <a:pt x="514349" y="0"/>
                </a:lnTo>
                <a:lnTo>
                  <a:pt x="685800" y="266700"/>
                </a:lnTo>
                <a:lnTo>
                  <a:pt x="514349" y="533400"/>
                </a:lnTo>
                <a:lnTo>
                  <a:pt x="514349" y="400050"/>
                </a:lnTo>
                <a:lnTo>
                  <a:pt x="0" y="400050"/>
                </a:lnTo>
                <a:lnTo>
                  <a:pt x="0" y="1333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1C4D7192-88CF-4267-852E-C9C2C6EBF3B9}"/>
              </a:ext>
            </a:extLst>
          </p:cNvPr>
          <p:cNvSpPr/>
          <p:nvPr/>
        </p:nvSpPr>
        <p:spPr>
          <a:xfrm>
            <a:off x="2857501" y="2295526"/>
            <a:ext cx="428625" cy="385763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435433" y="457200"/>
                </a:moveTo>
                <a:lnTo>
                  <a:pt x="0" y="457200"/>
                </a:lnTo>
                <a:lnTo>
                  <a:pt x="217699" y="685800"/>
                </a:lnTo>
                <a:lnTo>
                  <a:pt x="435433" y="457200"/>
                </a:lnTo>
                <a:close/>
              </a:path>
              <a:path w="762000" h="685800">
                <a:moveTo>
                  <a:pt x="762000" y="0"/>
                </a:moveTo>
                <a:lnTo>
                  <a:pt x="108866" y="0"/>
                </a:lnTo>
                <a:lnTo>
                  <a:pt x="108866" y="457200"/>
                </a:lnTo>
                <a:lnTo>
                  <a:pt x="326566" y="457200"/>
                </a:lnTo>
                <a:lnTo>
                  <a:pt x="326566" y="228600"/>
                </a:lnTo>
                <a:lnTo>
                  <a:pt x="762000" y="228600"/>
                </a:lnTo>
                <a:lnTo>
                  <a:pt x="76200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CB56BE8B-8987-49F0-8F2A-E0C01AD21386}"/>
              </a:ext>
            </a:extLst>
          </p:cNvPr>
          <p:cNvSpPr/>
          <p:nvPr/>
        </p:nvSpPr>
        <p:spPr>
          <a:xfrm>
            <a:off x="2857501" y="2295526"/>
            <a:ext cx="428625" cy="385763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217699" y="685800"/>
                </a:moveTo>
                <a:lnTo>
                  <a:pt x="435433" y="457200"/>
                </a:lnTo>
                <a:lnTo>
                  <a:pt x="326566" y="457200"/>
                </a:lnTo>
                <a:lnTo>
                  <a:pt x="326566" y="228600"/>
                </a:lnTo>
                <a:lnTo>
                  <a:pt x="762000" y="228600"/>
                </a:lnTo>
                <a:lnTo>
                  <a:pt x="762000" y="0"/>
                </a:lnTo>
                <a:lnTo>
                  <a:pt x="108867" y="0"/>
                </a:lnTo>
                <a:lnTo>
                  <a:pt x="108867" y="457200"/>
                </a:lnTo>
                <a:lnTo>
                  <a:pt x="0" y="457200"/>
                </a:lnTo>
                <a:lnTo>
                  <a:pt x="217699" y="6858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8AB8B660-4F62-4FAB-8846-46A05F363669}"/>
              </a:ext>
            </a:extLst>
          </p:cNvPr>
          <p:cNvSpPr/>
          <p:nvPr/>
        </p:nvSpPr>
        <p:spPr>
          <a:xfrm>
            <a:off x="6115051" y="2252664"/>
            <a:ext cx="385763" cy="428625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685800" y="326566"/>
                </a:moveTo>
                <a:lnTo>
                  <a:pt x="457200" y="326566"/>
                </a:lnTo>
                <a:lnTo>
                  <a:pt x="457200" y="762000"/>
                </a:lnTo>
                <a:lnTo>
                  <a:pt x="685800" y="762000"/>
                </a:lnTo>
                <a:lnTo>
                  <a:pt x="685800" y="326566"/>
                </a:lnTo>
                <a:close/>
              </a:path>
              <a:path w="685800" h="762000">
                <a:moveTo>
                  <a:pt x="228600" y="0"/>
                </a:moveTo>
                <a:lnTo>
                  <a:pt x="0" y="217699"/>
                </a:lnTo>
                <a:lnTo>
                  <a:pt x="228600" y="435433"/>
                </a:lnTo>
                <a:lnTo>
                  <a:pt x="228600" y="326566"/>
                </a:lnTo>
                <a:lnTo>
                  <a:pt x="685800" y="326566"/>
                </a:lnTo>
                <a:lnTo>
                  <a:pt x="685800" y="108866"/>
                </a:lnTo>
                <a:lnTo>
                  <a:pt x="228600" y="108866"/>
                </a:lnTo>
                <a:lnTo>
                  <a:pt x="22860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65294B12-04CB-4512-8A1F-2E784176DB36}"/>
              </a:ext>
            </a:extLst>
          </p:cNvPr>
          <p:cNvSpPr/>
          <p:nvPr/>
        </p:nvSpPr>
        <p:spPr>
          <a:xfrm>
            <a:off x="6115051" y="2252664"/>
            <a:ext cx="385763" cy="428625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0" y="217699"/>
                </a:moveTo>
                <a:lnTo>
                  <a:pt x="228600" y="435433"/>
                </a:lnTo>
                <a:lnTo>
                  <a:pt x="228600" y="326566"/>
                </a:lnTo>
                <a:lnTo>
                  <a:pt x="457200" y="326566"/>
                </a:lnTo>
                <a:lnTo>
                  <a:pt x="457200" y="762000"/>
                </a:lnTo>
                <a:lnTo>
                  <a:pt x="685800" y="762000"/>
                </a:lnTo>
                <a:lnTo>
                  <a:pt x="685800" y="108867"/>
                </a:lnTo>
                <a:lnTo>
                  <a:pt x="228600" y="108867"/>
                </a:lnTo>
                <a:lnTo>
                  <a:pt x="228600" y="0"/>
                </a:lnTo>
                <a:lnTo>
                  <a:pt x="0" y="21769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75A3F257-6668-4BB7-BCA3-7C200DC76790}"/>
              </a:ext>
            </a:extLst>
          </p:cNvPr>
          <p:cNvSpPr/>
          <p:nvPr/>
        </p:nvSpPr>
        <p:spPr>
          <a:xfrm>
            <a:off x="3457575" y="2209800"/>
            <a:ext cx="514350" cy="300038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228598" y="0"/>
                </a:moveTo>
                <a:lnTo>
                  <a:pt x="0" y="266700"/>
                </a:lnTo>
                <a:lnTo>
                  <a:pt x="228598" y="533400"/>
                </a:lnTo>
                <a:lnTo>
                  <a:pt x="228598" y="400050"/>
                </a:lnTo>
                <a:lnTo>
                  <a:pt x="914400" y="400050"/>
                </a:lnTo>
                <a:lnTo>
                  <a:pt x="914400" y="133350"/>
                </a:lnTo>
                <a:lnTo>
                  <a:pt x="228598" y="133350"/>
                </a:lnTo>
                <a:lnTo>
                  <a:pt x="228598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8347C7FA-DAA1-4148-809D-F995E10BDE83}"/>
              </a:ext>
            </a:extLst>
          </p:cNvPr>
          <p:cNvSpPr/>
          <p:nvPr/>
        </p:nvSpPr>
        <p:spPr>
          <a:xfrm>
            <a:off x="3457575" y="2209800"/>
            <a:ext cx="514350" cy="300038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914400" y="133350"/>
                </a:moveTo>
                <a:lnTo>
                  <a:pt x="228599" y="133350"/>
                </a:lnTo>
                <a:lnTo>
                  <a:pt x="228599" y="0"/>
                </a:lnTo>
                <a:lnTo>
                  <a:pt x="0" y="266700"/>
                </a:lnTo>
                <a:lnTo>
                  <a:pt x="228599" y="533400"/>
                </a:lnTo>
                <a:lnTo>
                  <a:pt x="228599" y="400050"/>
                </a:lnTo>
                <a:lnTo>
                  <a:pt x="914400" y="400050"/>
                </a:lnTo>
                <a:lnTo>
                  <a:pt x="914400" y="1333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28" name="object 23">
            <a:extLst>
              <a:ext uri="{FF2B5EF4-FFF2-40B4-BE49-F238E27FC236}">
                <a16:creationId xmlns:a16="http://schemas.microsoft.com/office/drawing/2014/main" id="{D4A7D27D-6818-4C4F-9EAC-B4DEFF156E24}"/>
              </a:ext>
            </a:extLst>
          </p:cNvPr>
          <p:cNvSpPr/>
          <p:nvPr/>
        </p:nvSpPr>
        <p:spPr>
          <a:xfrm>
            <a:off x="4100513" y="2209800"/>
            <a:ext cx="514350" cy="300038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228598" y="0"/>
                </a:moveTo>
                <a:lnTo>
                  <a:pt x="0" y="266700"/>
                </a:lnTo>
                <a:lnTo>
                  <a:pt x="228598" y="533400"/>
                </a:lnTo>
                <a:lnTo>
                  <a:pt x="228598" y="400050"/>
                </a:lnTo>
                <a:lnTo>
                  <a:pt x="914400" y="400050"/>
                </a:lnTo>
                <a:lnTo>
                  <a:pt x="914400" y="133350"/>
                </a:lnTo>
                <a:lnTo>
                  <a:pt x="228598" y="133350"/>
                </a:lnTo>
                <a:lnTo>
                  <a:pt x="228598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29" name="object 24">
            <a:extLst>
              <a:ext uri="{FF2B5EF4-FFF2-40B4-BE49-F238E27FC236}">
                <a16:creationId xmlns:a16="http://schemas.microsoft.com/office/drawing/2014/main" id="{FD08B4D7-C064-4770-9A47-84FE76A91624}"/>
              </a:ext>
            </a:extLst>
          </p:cNvPr>
          <p:cNvSpPr/>
          <p:nvPr/>
        </p:nvSpPr>
        <p:spPr>
          <a:xfrm>
            <a:off x="4100513" y="2209800"/>
            <a:ext cx="514350" cy="300038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914400" y="133350"/>
                </a:moveTo>
                <a:lnTo>
                  <a:pt x="228599" y="133350"/>
                </a:lnTo>
                <a:lnTo>
                  <a:pt x="228599" y="0"/>
                </a:lnTo>
                <a:lnTo>
                  <a:pt x="0" y="266700"/>
                </a:lnTo>
                <a:lnTo>
                  <a:pt x="228599" y="533400"/>
                </a:lnTo>
                <a:lnTo>
                  <a:pt x="228599" y="400050"/>
                </a:lnTo>
                <a:lnTo>
                  <a:pt x="914400" y="400050"/>
                </a:lnTo>
                <a:lnTo>
                  <a:pt x="914400" y="1333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71DBC477-6F91-43A6-ACDE-C2918A788E83}"/>
              </a:ext>
            </a:extLst>
          </p:cNvPr>
          <p:cNvSpPr/>
          <p:nvPr/>
        </p:nvSpPr>
        <p:spPr>
          <a:xfrm>
            <a:off x="4786313" y="2209800"/>
            <a:ext cx="514350" cy="300038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228598" y="0"/>
                </a:moveTo>
                <a:lnTo>
                  <a:pt x="0" y="266700"/>
                </a:lnTo>
                <a:lnTo>
                  <a:pt x="228598" y="533400"/>
                </a:lnTo>
                <a:lnTo>
                  <a:pt x="228598" y="400050"/>
                </a:lnTo>
                <a:lnTo>
                  <a:pt x="914400" y="400050"/>
                </a:lnTo>
                <a:lnTo>
                  <a:pt x="914400" y="133350"/>
                </a:lnTo>
                <a:lnTo>
                  <a:pt x="228598" y="133350"/>
                </a:lnTo>
                <a:lnTo>
                  <a:pt x="228598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E80F4D07-F2F3-4578-B99E-9181B579FDB3}"/>
              </a:ext>
            </a:extLst>
          </p:cNvPr>
          <p:cNvSpPr/>
          <p:nvPr/>
        </p:nvSpPr>
        <p:spPr>
          <a:xfrm>
            <a:off x="4786313" y="2209800"/>
            <a:ext cx="514350" cy="300038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914400" y="133350"/>
                </a:moveTo>
                <a:lnTo>
                  <a:pt x="228599" y="133350"/>
                </a:lnTo>
                <a:lnTo>
                  <a:pt x="228599" y="0"/>
                </a:lnTo>
                <a:lnTo>
                  <a:pt x="0" y="266700"/>
                </a:lnTo>
                <a:lnTo>
                  <a:pt x="228599" y="533400"/>
                </a:lnTo>
                <a:lnTo>
                  <a:pt x="228599" y="400050"/>
                </a:lnTo>
                <a:lnTo>
                  <a:pt x="914400" y="400050"/>
                </a:lnTo>
                <a:lnTo>
                  <a:pt x="914400" y="1333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9BFBA274-7E25-47E7-B2CE-5032BC79E0D4}"/>
              </a:ext>
            </a:extLst>
          </p:cNvPr>
          <p:cNvSpPr/>
          <p:nvPr/>
        </p:nvSpPr>
        <p:spPr>
          <a:xfrm>
            <a:off x="5472113" y="2209800"/>
            <a:ext cx="514350" cy="300038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228598" y="0"/>
                </a:moveTo>
                <a:lnTo>
                  <a:pt x="0" y="266700"/>
                </a:lnTo>
                <a:lnTo>
                  <a:pt x="228598" y="533400"/>
                </a:lnTo>
                <a:lnTo>
                  <a:pt x="228598" y="400050"/>
                </a:lnTo>
                <a:lnTo>
                  <a:pt x="914400" y="400050"/>
                </a:lnTo>
                <a:lnTo>
                  <a:pt x="914400" y="133350"/>
                </a:lnTo>
                <a:lnTo>
                  <a:pt x="228598" y="133350"/>
                </a:lnTo>
                <a:lnTo>
                  <a:pt x="228598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33" name="object 28">
            <a:extLst>
              <a:ext uri="{FF2B5EF4-FFF2-40B4-BE49-F238E27FC236}">
                <a16:creationId xmlns:a16="http://schemas.microsoft.com/office/drawing/2014/main" id="{8E2269A2-F0C7-4519-B910-E547866D4125}"/>
              </a:ext>
            </a:extLst>
          </p:cNvPr>
          <p:cNvSpPr/>
          <p:nvPr/>
        </p:nvSpPr>
        <p:spPr>
          <a:xfrm>
            <a:off x="5472113" y="2209800"/>
            <a:ext cx="514350" cy="300038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914400" y="133350"/>
                </a:moveTo>
                <a:lnTo>
                  <a:pt x="228599" y="133350"/>
                </a:lnTo>
                <a:lnTo>
                  <a:pt x="228599" y="0"/>
                </a:lnTo>
                <a:lnTo>
                  <a:pt x="0" y="266700"/>
                </a:lnTo>
                <a:lnTo>
                  <a:pt x="228599" y="533400"/>
                </a:lnTo>
                <a:lnTo>
                  <a:pt x="228599" y="400050"/>
                </a:lnTo>
                <a:lnTo>
                  <a:pt x="914400" y="400050"/>
                </a:lnTo>
                <a:lnTo>
                  <a:pt x="914400" y="1333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34" name="object 29">
            <a:extLst>
              <a:ext uri="{FF2B5EF4-FFF2-40B4-BE49-F238E27FC236}">
                <a16:creationId xmlns:a16="http://schemas.microsoft.com/office/drawing/2014/main" id="{A3204EDE-99F5-4AFF-8961-C3FD3B598118}"/>
              </a:ext>
            </a:extLst>
          </p:cNvPr>
          <p:cNvSpPr/>
          <p:nvPr/>
        </p:nvSpPr>
        <p:spPr>
          <a:xfrm>
            <a:off x="4486275" y="2552700"/>
            <a:ext cx="300038" cy="471488"/>
          </a:xfrm>
          <a:custGeom>
            <a:avLst/>
            <a:gdLst/>
            <a:ahLst/>
            <a:cxnLst/>
            <a:rect l="l" t="t" r="r" b="b"/>
            <a:pathLst>
              <a:path w="533400" h="838200">
                <a:moveTo>
                  <a:pt x="533400" y="628648"/>
                </a:moveTo>
                <a:lnTo>
                  <a:pt x="0" y="628648"/>
                </a:lnTo>
                <a:lnTo>
                  <a:pt x="266700" y="838200"/>
                </a:lnTo>
                <a:lnTo>
                  <a:pt x="533400" y="628648"/>
                </a:lnTo>
                <a:close/>
              </a:path>
              <a:path w="533400" h="838200">
                <a:moveTo>
                  <a:pt x="400050" y="0"/>
                </a:moveTo>
                <a:lnTo>
                  <a:pt x="133350" y="0"/>
                </a:lnTo>
                <a:lnTo>
                  <a:pt x="133350" y="628648"/>
                </a:lnTo>
                <a:lnTo>
                  <a:pt x="400050" y="628648"/>
                </a:lnTo>
                <a:lnTo>
                  <a:pt x="40005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35" name="object 30">
            <a:extLst>
              <a:ext uri="{FF2B5EF4-FFF2-40B4-BE49-F238E27FC236}">
                <a16:creationId xmlns:a16="http://schemas.microsoft.com/office/drawing/2014/main" id="{80CE9FC8-F7F3-4077-B494-7179A3DD87CD}"/>
              </a:ext>
            </a:extLst>
          </p:cNvPr>
          <p:cNvSpPr/>
          <p:nvPr/>
        </p:nvSpPr>
        <p:spPr>
          <a:xfrm>
            <a:off x="4486275" y="2552700"/>
            <a:ext cx="300038" cy="471488"/>
          </a:xfrm>
          <a:custGeom>
            <a:avLst/>
            <a:gdLst/>
            <a:ahLst/>
            <a:cxnLst/>
            <a:rect l="l" t="t" r="r" b="b"/>
            <a:pathLst>
              <a:path w="533400" h="838200">
                <a:moveTo>
                  <a:pt x="400049" y="0"/>
                </a:moveTo>
                <a:lnTo>
                  <a:pt x="400049" y="628649"/>
                </a:lnTo>
                <a:lnTo>
                  <a:pt x="533400" y="628649"/>
                </a:lnTo>
                <a:lnTo>
                  <a:pt x="266700" y="838200"/>
                </a:lnTo>
                <a:lnTo>
                  <a:pt x="0" y="628649"/>
                </a:lnTo>
                <a:lnTo>
                  <a:pt x="133349" y="628649"/>
                </a:lnTo>
                <a:lnTo>
                  <a:pt x="133349" y="0"/>
                </a:lnTo>
                <a:lnTo>
                  <a:pt x="400049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36" name="object 31">
            <a:extLst>
              <a:ext uri="{FF2B5EF4-FFF2-40B4-BE49-F238E27FC236}">
                <a16:creationId xmlns:a16="http://schemas.microsoft.com/office/drawing/2014/main" id="{DDEBD20E-FA93-4A3C-8F45-8F918887F9A4}"/>
              </a:ext>
            </a:extLst>
          </p:cNvPr>
          <p:cNvSpPr/>
          <p:nvPr/>
        </p:nvSpPr>
        <p:spPr>
          <a:xfrm>
            <a:off x="5472113" y="4481512"/>
            <a:ext cx="385763" cy="300038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514348" y="0"/>
                </a:moveTo>
                <a:lnTo>
                  <a:pt x="514348" y="133350"/>
                </a:lnTo>
                <a:lnTo>
                  <a:pt x="0" y="133350"/>
                </a:lnTo>
                <a:lnTo>
                  <a:pt x="0" y="400050"/>
                </a:lnTo>
                <a:lnTo>
                  <a:pt x="514348" y="400050"/>
                </a:lnTo>
                <a:lnTo>
                  <a:pt x="514348" y="533400"/>
                </a:lnTo>
                <a:lnTo>
                  <a:pt x="685800" y="266700"/>
                </a:lnTo>
                <a:lnTo>
                  <a:pt x="514348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  <p:sp>
        <p:nvSpPr>
          <p:cNvPr id="37" name="object 32">
            <a:extLst>
              <a:ext uri="{FF2B5EF4-FFF2-40B4-BE49-F238E27FC236}">
                <a16:creationId xmlns:a16="http://schemas.microsoft.com/office/drawing/2014/main" id="{DFAD7691-6E92-4219-88AF-ABB69B89544C}"/>
              </a:ext>
            </a:extLst>
          </p:cNvPr>
          <p:cNvSpPr/>
          <p:nvPr/>
        </p:nvSpPr>
        <p:spPr>
          <a:xfrm>
            <a:off x="5472113" y="4481512"/>
            <a:ext cx="385763" cy="300038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133350"/>
                </a:moveTo>
                <a:lnTo>
                  <a:pt x="514349" y="133350"/>
                </a:lnTo>
                <a:lnTo>
                  <a:pt x="514349" y="0"/>
                </a:lnTo>
                <a:lnTo>
                  <a:pt x="685800" y="266700"/>
                </a:lnTo>
                <a:lnTo>
                  <a:pt x="514349" y="533400"/>
                </a:lnTo>
                <a:lnTo>
                  <a:pt x="514349" y="400050"/>
                </a:lnTo>
                <a:lnTo>
                  <a:pt x="0" y="400050"/>
                </a:lnTo>
                <a:lnTo>
                  <a:pt x="0" y="1333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013"/>
          </a:p>
        </p:txBody>
      </p:sp>
    </p:spTree>
    <p:extLst>
      <p:ext uri="{BB962C8B-B14F-4D97-AF65-F5344CB8AC3E}">
        <p14:creationId xmlns:p14="http://schemas.microsoft.com/office/powerpoint/2010/main" val="2281595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 de problemas</a:t>
            </a:r>
            <a:endParaRPr lang="es-ES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40" name="object 5">
            <a:extLst>
              <a:ext uri="{FF2B5EF4-FFF2-40B4-BE49-F238E27FC236}">
                <a16:creationId xmlns:a16="http://schemas.microsoft.com/office/drawing/2014/main" id="{C7C21D4B-FA49-468D-8946-182AC7FDCC94}"/>
              </a:ext>
            </a:extLst>
          </p:cNvPr>
          <p:cNvSpPr txBox="1"/>
          <p:nvPr/>
        </p:nvSpPr>
        <p:spPr>
          <a:xfrm>
            <a:off x="611560" y="1412776"/>
            <a:ext cx="8424936" cy="46085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17897" indent="-310754">
              <a:lnSpc>
                <a:spcPct val="150000"/>
              </a:lnSpc>
              <a:buClr>
                <a:schemeClr val="accent4">
                  <a:lumMod val="75000"/>
                </a:schemeClr>
              </a:buClr>
              <a:buFont typeface="Gill Sans MT"/>
              <a:buAutoNum type="arabicPeriod"/>
              <a:tabLst>
                <a:tab pos="317540" algn="l"/>
              </a:tabLst>
            </a:pPr>
            <a:r>
              <a:rPr lang="es-ES"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E</a:t>
            </a:r>
            <a:r>
              <a:rPr sz="2000" b="1" dirty="0" err="1">
                <a:solidFill>
                  <a:schemeClr val="accent6">
                    <a:lumMod val="75000"/>
                  </a:schemeClr>
                </a:solidFill>
                <a:cs typeface="Gill Sans MT"/>
              </a:rPr>
              <a:t>nt</a:t>
            </a:r>
            <a:r>
              <a:rPr sz="2000" b="1" spc="-6" dirty="0" err="1">
                <a:solidFill>
                  <a:schemeClr val="accent6">
                    <a:lumMod val="75000"/>
                  </a:schemeClr>
                </a:solidFill>
                <a:cs typeface="Gill Sans MT"/>
              </a:rPr>
              <a:t>e</a:t>
            </a:r>
            <a:r>
              <a:rPr sz="2000" b="1" spc="-8" dirty="0" err="1">
                <a:solidFill>
                  <a:schemeClr val="accent6">
                    <a:lumMod val="75000"/>
                  </a:schemeClr>
                </a:solidFill>
                <a:cs typeface="Gill Sans MT"/>
              </a:rPr>
              <a:t>nd</a:t>
            </a:r>
            <a:r>
              <a:rPr sz="2000" b="1" spc="-6" dirty="0" err="1">
                <a:solidFill>
                  <a:schemeClr val="accent6">
                    <a:lumMod val="75000"/>
                  </a:schemeClr>
                </a:solidFill>
                <a:cs typeface="Gill Sans MT"/>
              </a:rPr>
              <a:t>er</a:t>
            </a:r>
            <a:r>
              <a:rPr sz="2000" b="1" spc="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 </a:t>
            </a:r>
            <a:r>
              <a:rPr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e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l</a:t>
            </a:r>
            <a:r>
              <a:rPr sz="2000" b="1" spc="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 </a:t>
            </a:r>
            <a:r>
              <a:rPr sz="2000" b="1" spc="-8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p</a:t>
            </a:r>
            <a:r>
              <a:rPr sz="2000" b="1" spc="-34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r</a:t>
            </a:r>
            <a:r>
              <a:rPr sz="2000" b="1" spc="-8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obl</a:t>
            </a:r>
            <a:r>
              <a:rPr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e</a:t>
            </a:r>
            <a:r>
              <a:rPr sz="2000" b="1" spc="-8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m</a:t>
            </a:r>
            <a:r>
              <a:rPr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a</a:t>
            </a:r>
            <a:endParaRPr sz="2000" b="1" dirty="0">
              <a:solidFill>
                <a:schemeClr val="accent6">
                  <a:lumMod val="75000"/>
                </a:schemeClr>
              </a:solidFill>
              <a:cs typeface="Gill Sans MT"/>
            </a:endParaRPr>
          </a:p>
          <a:p>
            <a:pPr marL="532210" lvl="1" indent="-267891">
              <a:lnSpc>
                <a:spcPct val="150000"/>
              </a:lnSpc>
              <a:buClr>
                <a:schemeClr val="accent4">
                  <a:lumMod val="50000"/>
                </a:schemeClr>
              </a:buClr>
              <a:buFont typeface="Arial"/>
              <a:buChar char="•"/>
              <a:tabLst>
                <a:tab pos="531852" algn="l"/>
              </a:tabLst>
            </a:pPr>
            <a:r>
              <a:rPr sz="2000" spc="-11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As</a:t>
            </a:r>
            <a:r>
              <a:rPr sz="2000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6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g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ú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ate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ente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n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 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m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ane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p</a:t>
            </a:r>
            <a:r>
              <a:rPr sz="2000" spc="-3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ci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qué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t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i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ene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que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ha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c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115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.</a:t>
            </a:r>
          </a:p>
          <a:p>
            <a:pPr marL="317897" indent="-310754">
              <a:lnSpc>
                <a:spcPct val="150000"/>
              </a:lnSpc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Gill Sans MT"/>
              <a:buAutoNum type="arabicPeriod"/>
              <a:tabLst>
                <a:tab pos="317540" algn="l"/>
              </a:tabLst>
            </a:pPr>
            <a:r>
              <a:rPr lang="es-ES"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Diseñar la solución </a:t>
            </a:r>
            <a:r>
              <a:rPr lang="es-ES" sz="2000" b="1" spc="42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(algoritmo)</a:t>
            </a:r>
            <a:endParaRPr sz="2000" b="1" dirty="0">
              <a:solidFill>
                <a:schemeClr val="accent6">
                  <a:lumMod val="75000"/>
                </a:schemeClr>
              </a:solidFill>
              <a:cs typeface="Gill Sans MT"/>
            </a:endParaRPr>
          </a:p>
          <a:p>
            <a:pPr marL="264319" lvl="1">
              <a:lnSpc>
                <a:spcPct val="150000"/>
              </a:lnSpc>
              <a:buClr>
                <a:schemeClr val="accent4">
                  <a:lumMod val="50000"/>
                </a:schemeClr>
              </a:buClr>
              <a:tabLst>
                <a:tab pos="531852" algn="l"/>
              </a:tabLst>
            </a:pPr>
            <a:r>
              <a:rPr lang="es-ES" sz="2000" spc="-8" dirty="0">
                <a:solidFill>
                  <a:srgbClr val="262626"/>
                </a:solidFill>
                <a:cs typeface="Gill Sans MT"/>
              </a:rPr>
              <a:t>  </a:t>
            </a:r>
            <a:r>
              <a:rPr lang="es-ES"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Identificar:</a:t>
            </a:r>
          </a:p>
          <a:p>
            <a:pPr marL="989410" lvl="2" indent="-267891">
              <a:lnSpc>
                <a:spcPct val="150000"/>
              </a:lnSpc>
              <a:buClr>
                <a:schemeClr val="accent4">
                  <a:lumMod val="50000"/>
                </a:schemeClr>
              </a:buClr>
              <a:buFont typeface="Arial"/>
              <a:buChar char="•"/>
              <a:tabLst>
                <a:tab pos="531852" algn="l"/>
              </a:tabLst>
            </a:pPr>
            <a:r>
              <a:rPr lang="es-ES" sz="2000" b="1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Entradas: </a:t>
            </a:r>
            <a:r>
              <a:rPr lang="es-ES"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Dat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os 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que</a:t>
            </a:r>
            <a:r>
              <a:rPr lang="es-ES"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lang="es-ES"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lang="es-ES"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v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an</a:t>
            </a:r>
            <a:r>
              <a:rPr lang="es-ES"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lang="es-ES"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pe</a:t>
            </a:r>
            <a:r>
              <a:rPr lang="es-ES"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lang="es-ES"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i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 al u</a:t>
            </a:r>
            <a:r>
              <a:rPr lang="es-ES"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ua</a:t>
            </a:r>
            <a:r>
              <a:rPr lang="es-ES"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lang="es-ES"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i</a:t>
            </a:r>
            <a:r>
              <a:rPr lang="es-ES" sz="2000" spc="-4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.</a:t>
            </a:r>
          </a:p>
          <a:p>
            <a:pPr marL="989410" lvl="2" indent="-267891">
              <a:lnSpc>
                <a:spcPct val="150000"/>
              </a:lnSpc>
              <a:buClr>
                <a:schemeClr val="accent4">
                  <a:lumMod val="50000"/>
                </a:schemeClr>
              </a:buClr>
              <a:buFont typeface="Arial"/>
              <a:buChar char="•"/>
              <a:tabLst>
                <a:tab pos="531852" algn="l"/>
              </a:tabLst>
            </a:pPr>
            <a:r>
              <a:rPr lang="es-ES" sz="2000" b="1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Proceso: </a:t>
            </a:r>
            <a:r>
              <a:rPr sz="2000" spc="-8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Dat</a:t>
            </a:r>
            <a:r>
              <a:rPr sz="2000" spc="-6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os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fó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spc="-2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m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u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l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as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que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17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pa</a:t>
            </a:r>
            <a:r>
              <a:rPr sz="2000" spc="-3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c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en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en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el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n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un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ci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el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6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p</a:t>
            </a:r>
            <a:r>
              <a:rPr sz="2000" spc="-34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spc="-8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ob</a:t>
            </a:r>
            <a:r>
              <a:rPr sz="2000" spc="-3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l</a:t>
            </a:r>
            <a:r>
              <a:rPr sz="2000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11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m</a:t>
            </a:r>
            <a:r>
              <a:rPr sz="2000" spc="-6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.</a:t>
            </a:r>
          </a:p>
          <a:p>
            <a:pPr marL="989410" lvl="2" indent="-267891">
              <a:lnSpc>
                <a:spcPct val="150000"/>
              </a:lnSpc>
              <a:buClr>
                <a:schemeClr val="accent4">
                  <a:lumMod val="50000"/>
                </a:schemeClr>
              </a:buClr>
              <a:buFont typeface="Arial"/>
              <a:buChar char="•"/>
              <a:tabLst>
                <a:tab pos="531852" algn="l"/>
              </a:tabLst>
            </a:pP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Salida: 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Re</a:t>
            </a:r>
            <a:r>
              <a:rPr lang="es-ES"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u</a:t>
            </a:r>
            <a:r>
              <a:rPr lang="es-ES"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l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t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lang="es-ES"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os </a:t>
            </a:r>
            <a:r>
              <a:rPr lang="es-ES"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lang="es-ES"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lang="es-ES"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m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et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lang="es-ES"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lang="es-ES"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el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p</a:t>
            </a:r>
            <a:r>
              <a:rPr lang="es-ES" sz="2000" spc="-34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lang="es-ES"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ob</a:t>
            </a:r>
            <a:r>
              <a:rPr lang="es-ES"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l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lang="es-ES"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m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a.</a:t>
            </a:r>
            <a:endParaRPr lang="es-ES" sz="2000" dirty="0">
              <a:solidFill>
                <a:schemeClr val="bg2">
                  <a:lumMod val="25000"/>
                </a:schemeClr>
              </a:solidFill>
              <a:cs typeface="Gill Sans MT"/>
            </a:endParaRPr>
          </a:p>
          <a:p>
            <a:pPr marL="317897" indent="-310754">
              <a:lnSpc>
                <a:spcPct val="150000"/>
              </a:lnSpc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Gill Sans MT"/>
              <a:buAutoNum type="arabicPeriod"/>
              <a:tabLst>
                <a:tab pos="317540" algn="l"/>
              </a:tabLst>
            </a:pPr>
            <a:r>
              <a:rPr lang="es-ES"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Probar el diseño (h</a:t>
            </a:r>
            <a:r>
              <a:rPr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a</a:t>
            </a:r>
            <a:r>
              <a:rPr sz="2000" b="1" spc="-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c</a:t>
            </a:r>
            <a:r>
              <a:rPr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er</a:t>
            </a:r>
            <a:r>
              <a:rPr sz="2000" b="1" spc="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 </a:t>
            </a:r>
            <a:r>
              <a:rPr sz="2000" b="1" spc="-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c</a:t>
            </a:r>
            <a:r>
              <a:rPr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asos</a:t>
            </a:r>
            <a:r>
              <a:rPr sz="2000" b="1" spc="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 </a:t>
            </a:r>
            <a:r>
              <a:rPr sz="2000" b="1" spc="-8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de</a:t>
            </a:r>
            <a:r>
              <a:rPr sz="2000" b="1" spc="-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 </a:t>
            </a:r>
            <a:r>
              <a:rPr sz="2000" b="1" spc="-8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p</a:t>
            </a:r>
            <a:r>
              <a:rPr sz="2000" b="1" spc="-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r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u</a:t>
            </a:r>
            <a:r>
              <a:rPr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eba</a:t>
            </a:r>
            <a:r>
              <a:rPr sz="2000" b="1" spc="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 </a:t>
            </a:r>
            <a:r>
              <a:rPr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pa</a:t>
            </a:r>
            <a:r>
              <a:rPr sz="2000" b="1" spc="-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r</a:t>
            </a:r>
            <a:r>
              <a:rPr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a</a:t>
            </a:r>
            <a:r>
              <a:rPr sz="2000" b="1" spc="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 </a:t>
            </a:r>
            <a:r>
              <a:rPr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e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l</a:t>
            </a:r>
            <a:r>
              <a:rPr sz="2000" b="1" spc="3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 </a:t>
            </a:r>
            <a:r>
              <a:rPr sz="2000" b="1" spc="-8" dirty="0" err="1">
                <a:solidFill>
                  <a:schemeClr val="accent6">
                    <a:lumMod val="75000"/>
                  </a:schemeClr>
                </a:solidFill>
                <a:cs typeface="Gill Sans MT"/>
              </a:rPr>
              <a:t>p</a:t>
            </a:r>
            <a:r>
              <a:rPr sz="2000" b="1" spc="-34" dirty="0" err="1">
                <a:solidFill>
                  <a:schemeClr val="accent6">
                    <a:lumMod val="75000"/>
                  </a:schemeClr>
                </a:solidFill>
                <a:cs typeface="Gill Sans MT"/>
              </a:rPr>
              <a:t>r</a:t>
            </a:r>
            <a:r>
              <a:rPr sz="2000" b="1" spc="-8" dirty="0" err="1">
                <a:solidFill>
                  <a:schemeClr val="accent6">
                    <a:lumMod val="75000"/>
                  </a:schemeClr>
                </a:solidFill>
                <a:cs typeface="Gill Sans MT"/>
              </a:rPr>
              <a:t>obl</a:t>
            </a:r>
            <a:r>
              <a:rPr sz="2000" b="1" spc="-6" dirty="0" err="1">
                <a:solidFill>
                  <a:schemeClr val="accent6">
                    <a:lumMod val="75000"/>
                  </a:schemeClr>
                </a:solidFill>
                <a:cs typeface="Gill Sans MT"/>
              </a:rPr>
              <a:t>e</a:t>
            </a:r>
            <a:r>
              <a:rPr sz="2000" b="1" spc="-8" dirty="0" err="1">
                <a:solidFill>
                  <a:schemeClr val="accent6">
                    <a:lumMod val="75000"/>
                  </a:schemeClr>
                </a:solidFill>
                <a:cs typeface="Gill Sans MT"/>
              </a:rPr>
              <a:t>m</a:t>
            </a:r>
            <a:r>
              <a:rPr sz="2000" b="1" spc="-6" dirty="0" err="1">
                <a:solidFill>
                  <a:schemeClr val="accent6">
                    <a:lumMod val="75000"/>
                  </a:schemeClr>
                </a:solidFill>
                <a:cs typeface="Gill Sans MT"/>
              </a:rPr>
              <a:t>a</a:t>
            </a:r>
            <a:r>
              <a:rPr lang="es-ES" sz="2000" b="1" spc="-6" dirty="0">
                <a:solidFill>
                  <a:schemeClr val="accent6">
                    <a:lumMod val="75000"/>
                  </a:schemeClr>
                </a:solidFill>
                <a:cs typeface="Gill Sans MT"/>
              </a:rPr>
              <a:t>)</a:t>
            </a:r>
            <a:endParaRPr sz="2000" b="1" dirty="0">
              <a:solidFill>
                <a:schemeClr val="accent6">
                  <a:lumMod val="75000"/>
                </a:schemeClr>
              </a:solidFill>
              <a:cs typeface="Gill Sans MT"/>
            </a:endParaRPr>
          </a:p>
          <a:p>
            <a:pPr marL="532210" lvl="1" indent="-267891">
              <a:lnSpc>
                <a:spcPct val="150000"/>
              </a:lnSpc>
              <a:spcBef>
                <a:spcPts val="272"/>
              </a:spcBef>
              <a:buClr>
                <a:schemeClr val="accent4">
                  <a:lumMod val="50000"/>
                </a:schemeClr>
              </a:buClr>
              <a:buFont typeface="Arial"/>
              <a:buChar char="•"/>
              <a:tabLst>
                <a:tab pos="531852" algn="l"/>
              </a:tabLst>
            </a:pP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In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cl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u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i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t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os 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l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os 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c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os pa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l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os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que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el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p</a:t>
            </a:r>
            <a:r>
              <a:rPr sz="2000" spc="-34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og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m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ebe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fun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ci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ona</a:t>
            </a:r>
            <a:r>
              <a:rPr sz="2000" spc="-115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4890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122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Casos de prueba</a:t>
            </a:r>
            <a:endParaRPr lang="es-ES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496DD644-911C-4891-B4C5-8CC154C27556}"/>
              </a:ext>
            </a:extLst>
          </p:cNvPr>
          <p:cNvSpPr txBox="1"/>
          <p:nvPr/>
        </p:nvSpPr>
        <p:spPr>
          <a:xfrm>
            <a:off x="1151775" y="1320195"/>
            <a:ext cx="7517321" cy="54329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00000"/>
              </a:lnSpc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Para preparar los casos de prueba es necesario: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69B828BF-D375-4BF7-8005-220D7E8D418E}"/>
              </a:ext>
            </a:extLst>
          </p:cNvPr>
          <p:cNvSpPr txBox="1"/>
          <p:nvPr/>
        </p:nvSpPr>
        <p:spPr>
          <a:xfrm>
            <a:off x="1151775" y="1908845"/>
            <a:ext cx="7236647" cy="20574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429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+mj-lt"/>
              <a:buAutoNum type="arabicPeriod"/>
              <a:tabLst>
                <a:tab pos="135374" algn="l"/>
              </a:tabLst>
            </a:pP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ef</a:t>
            </a:r>
            <a:r>
              <a:rPr sz="2000" spc="-3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i</a:t>
            </a:r>
            <a:r>
              <a:rPr sz="2000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n</a:t>
            </a:r>
            <a:r>
              <a:rPr sz="2000" spc="-3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i</a:t>
            </a:r>
            <a:r>
              <a:rPr sz="2000" spc="-6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un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va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l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p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ar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 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ca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da 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uno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d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l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t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en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t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ra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da</a:t>
            </a:r>
            <a:r>
              <a:rPr lang="es-ES"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.</a:t>
            </a:r>
            <a:endParaRPr sz="2000" dirty="0">
              <a:solidFill>
                <a:schemeClr val="bg2">
                  <a:lumMod val="25000"/>
                </a:schemeClr>
              </a:solidFill>
              <a:cs typeface="Gill Sans MT"/>
            </a:endParaRPr>
          </a:p>
          <a:p>
            <a:pPr marL="342900" marR="7144" indent="-342900" algn="just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+mj-lt"/>
              <a:buAutoNum type="arabicPeriod"/>
              <a:tabLst>
                <a:tab pos="135374" algn="l"/>
              </a:tabLst>
            </a:pPr>
            <a:r>
              <a:rPr lang="es-ES"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C</a:t>
            </a:r>
            <a:r>
              <a:rPr sz="2000" spc="-8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3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l</a:t>
            </a:r>
            <a:r>
              <a:rPr sz="2000" spc="-8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c</a:t>
            </a:r>
            <a:r>
              <a:rPr sz="2000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u</a:t>
            </a:r>
            <a:r>
              <a:rPr sz="2000" spc="-3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l</a:t>
            </a:r>
            <a:r>
              <a:rPr sz="2000" spc="-8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6" dirty="0" err="1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l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3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u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lt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d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t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s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li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da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que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s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b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t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nd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rá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n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c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n 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i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c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h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t</a:t>
            </a:r>
            <a:r>
              <a:rPr sz="2000" spc="-11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o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s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en</a:t>
            </a:r>
            <a:r>
              <a:rPr sz="2000" spc="-3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t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ra</a:t>
            </a:r>
            <a:r>
              <a:rPr sz="2000" spc="-6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d</a:t>
            </a:r>
            <a:r>
              <a:rPr sz="2000" spc="-8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a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cs typeface="Gill Sans MT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537165-6D10-4181-82EB-9AF8E12C7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3429000"/>
            <a:ext cx="4729424" cy="309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71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0" name="Rectangle 10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Algoritmos</a:t>
            </a:r>
            <a:endParaRPr lang="es-ES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2F56E484-5344-4990-AE16-3DAFE5DAF58C}"/>
              </a:ext>
            </a:extLst>
          </p:cNvPr>
          <p:cNvSpPr txBox="1"/>
          <p:nvPr/>
        </p:nvSpPr>
        <p:spPr>
          <a:xfrm>
            <a:off x="683568" y="1884030"/>
            <a:ext cx="9001000" cy="5040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/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Al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diseñar un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algori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mo,</a:t>
            </a:r>
            <a:r>
              <a:rPr sz="24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es </a:t>
            </a:r>
            <a:r>
              <a:rPr sz="2400" spc="-1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mpor</a:t>
            </a:r>
            <a:r>
              <a:rPr sz="2400" spc="-1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t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ante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iden</a:t>
            </a:r>
            <a:r>
              <a:rPr sz="2400" spc="-1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t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400" spc="-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f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icar</a:t>
            </a: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previamen</a:t>
            </a:r>
            <a:r>
              <a:rPr sz="2400" spc="-1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t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: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8D0A9DFE-0249-469D-9FCC-702CBAEC9D7A}"/>
              </a:ext>
            </a:extLst>
          </p:cNvPr>
          <p:cNvSpPr/>
          <p:nvPr/>
        </p:nvSpPr>
        <p:spPr>
          <a:xfrm>
            <a:off x="1999828" y="3140968"/>
            <a:ext cx="1946147" cy="1324356"/>
          </a:xfrm>
          <a:custGeom>
            <a:avLst/>
            <a:gdLst/>
            <a:ahLst/>
            <a:cxnLst/>
            <a:rect l="l" t="t" r="r" b="b"/>
            <a:pathLst>
              <a:path w="1946148" h="1324356">
                <a:moveTo>
                  <a:pt x="0" y="0"/>
                </a:moveTo>
                <a:lnTo>
                  <a:pt x="1547114" y="0"/>
                </a:lnTo>
                <a:lnTo>
                  <a:pt x="1946147" y="662178"/>
                </a:lnTo>
                <a:lnTo>
                  <a:pt x="1547114" y="1324356"/>
                </a:lnTo>
                <a:lnTo>
                  <a:pt x="0" y="1324356"/>
                </a:lnTo>
                <a:lnTo>
                  <a:pt x="0" y="0"/>
                </a:lnTo>
                <a:close/>
              </a:path>
            </a:pathLst>
          </a:custGeom>
          <a:ln w="114300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2FA9533A-FB65-40CA-94BB-AC773956A1FF}"/>
              </a:ext>
            </a:extLst>
          </p:cNvPr>
          <p:cNvSpPr txBox="1"/>
          <p:nvPr/>
        </p:nvSpPr>
        <p:spPr>
          <a:xfrm>
            <a:off x="2210784" y="3607583"/>
            <a:ext cx="1636348" cy="39049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ENT</a:t>
            </a:r>
            <a:r>
              <a:rPr sz="2400" b="1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AD</a:t>
            </a:r>
            <a:r>
              <a:rPr sz="2400" b="1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8A0A2592-4A71-4717-8FD5-DC0235BDA82C}"/>
              </a:ext>
            </a:extLst>
          </p:cNvPr>
          <p:cNvSpPr/>
          <p:nvPr/>
        </p:nvSpPr>
        <p:spPr>
          <a:xfrm>
            <a:off x="3752427" y="3140968"/>
            <a:ext cx="1982724" cy="1324356"/>
          </a:xfrm>
          <a:custGeom>
            <a:avLst/>
            <a:gdLst/>
            <a:ahLst/>
            <a:cxnLst/>
            <a:rect l="l" t="t" r="r" b="b"/>
            <a:pathLst>
              <a:path w="1982724" h="1324356">
                <a:moveTo>
                  <a:pt x="0" y="0"/>
                </a:moveTo>
                <a:lnTo>
                  <a:pt x="1587373" y="0"/>
                </a:lnTo>
                <a:lnTo>
                  <a:pt x="1982724" y="662178"/>
                </a:lnTo>
                <a:lnTo>
                  <a:pt x="1587373" y="1324356"/>
                </a:lnTo>
                <a:lnTo>
                  <a:pt x="0" y="1324356"/>
                </a:lnTo>
                <a:lnTo>
                  <a:pt x="395351" y="662178"/>
                </a:lnTo>
                <a:lnTo>
                  <a:pt x="0" y="0"/>
                </a:lnTo>
                <a:close/>
              </a:path>
            </a:pathLst>
          </a:custGeom>
          <a:ln w="114300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6D7A595-60C9-4C4F-9DEF-AAD4B7E51E14}"/>
              </a:ext>
            </a:extLst>
          </p:cNvPr>
          <p:cNvSpPr txBox="1"/>
          <p:nvPr/>
        </p:nvSpPr>
        <p:spPr>
          <a:xfrm>
            <a:off x="4217215" y="3626956"/>
            <a:ext cx="1382516" cy="39049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4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P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</a:t>
            </a:r>
            <a:r>
              <a:rPr sz="2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O</a:t>
            </a:r>
            <a:r>
              <a:rPr sz="24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ESOS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99B234BE-DF1D-436B-B399-A33478508167}"/>
              </a:ext>
            </a:extLst>
          </p:cNvPr>
          <p:cNvSpPr/>
          <p:nvPr/>
        </p:nvSpPr>
        <p:spPr>
          <a:xfrm>
            <a:off x="5541605" y="3140968"/>
            <a:ext cx="1982723" cy="1324356"/>
          </a:xfrm>
          <a:custGeom>
            <a:avLst/>
            <a:gdLst/>
            <a:ahLst/>
            <a:cxnLst/>
            <a:rect l="l" t="t" r="r" b="b"/>
            <a:pathLst>
              <a:path w="1982723" h="1324356">
                <a:moveTo>
                  <a:pt x="0" y="0"/>
                </a:moveTo>
                <a:lnTo>
                  <a:pt x="1587372" y="0"/>
                </a:lnTo>
                <a:lnTo>
                  <a:pt x="1982723" y="662178"/>
                </a:lnTo>
                <a:lnTo>
                  <a:pt x="1587372" y="1324356"/>
                </a:lnTo>
                <a:lnTo>
                  <a:pt x="0" y="1324356"/>
                </a:lnTo>
                <a:lnTo>
                  <a:pt x="395350" y="662178"/>
                </a:lnTo>
                <a:lnTo>
                  <a:pt x="0" y="0"/>
                </a:lnTo>
                <a:close/>
              </a:path>
            </a:pathLst>
          </a:custGeom>
          <a:ln w="114299">
            <a:solidFill>
              <a:srgbClr val="3192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C977A179-826F-4BC0-A5B4-256D4D977411}"/>
              </a:ext>
            </a:extLst>
          </p:cNvPr>
          <p:cNvSpPr txBox="1"/>
          <p:nvPr/>
        </p:nvSpPr>
        <p:spPr>
          <a:xfrm>
            <a:off x="6148585" y="3636623"/>
            <a:ext cx="1335072" cy="3324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</a:t>
            </a:r>
            <a:r>
              <a:rPr sz="2400" b="1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DAS</a:t>
            </a:r>
          </a:p>
        </p:txBody>
      </p:sp>
    </p:spTree>
    <p:extLst>
      <p:ext uri="{BB962C8B-B14F-4D97-AF65-F5344CB8AC3E}">
        <p14:creationId xmlns:p14="http://schemas.microsoft.com/office/powerpoint/2010/main" val="230501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0" name="Rectangle 1032"/>
          <p:cNvSpPr>
            <a:spLocks noGrp="1" noChangeArrowheads="1"/>
          </p:cNvSpPr>
          <p:nvPr>
            <p:ph type="title"/>
          </p:nvPr>
        </p:nvSpPr>
        <p:spPr>
          <a:xfrm>
            <a:off x="899592" y="185174"/>
            <a:ext cx="7532233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Algoritmos</a:t>
            </a:r>
            <a:endParaRPr lang="es-ES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CC94B554-C8BF-4BE3-B24C-D0C21E00318B}"/>
              </a:ext>
            </a:extLst>
          </p:cNvPr>
          <p:cNvSpPr/>
          <p:nvPr/>
        </p:nvSpPr>
        <p:spPr>
          <a:xfrm>
            <a:off x="1567780" y="2636913"/>
            <a:ext cx="1946147" cy="1512168"/>
          </a:xfrm>
          <a:custGeom>
            <a:avLst/>
            <a:gdLst/>
            <a:ahLst/>
            <a:cxnLst/>
            <a:rect l="l" t="t" r="r" b="b"/>
            <a:pathLst>
              <a:path w="1946148" h="1324356">
                <a:moveTo>
                  <a:pt x="0" y="0"/>
                </a:moveTo>
                <a:lnTo>
                  <a:pt x="1547114" y="0"/>
                </a:lnTo>
                <a:lnTo>
                  <a:pt x="1946147" y="662178"/>
                </a:lnTo>
                <a:lnTo>
                  <a:pt x="1547114" y="1324356"/>
                </a:lnTo>
                <a:lnTo>
                  <a:pt x="0" y="1324356"/>
                </a:lnTo>
                <a:lnTo>
                  <a:pt x="0" y="0"/>
                </a:lnTo>
                <a:close/>
              </a:path>
            </a:pathLst>
          </a:custGeom>
          <a:ln w="114300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7BB14BA-90C4-42FC-BD07-9D991883D5FC}"/>
              </a:ext>
            </a:extLst>
          </p:cNvPr>
          <p:cNvSpPr txBox="1"/>
          <p:nvPr/>
        </p:nvSpPr>
        <p:spPr>
          <a:xfrm>
            <a:off x="1778736" y="3103527"/>
            <a:ext cx="1636348" cy="140559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Datos que se procesarán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4E6712B-5148-4F99-AA3C-C9D861568964}"/>
              </a:ext>
            </a:extLst>
          </p:cNvPr>
          <p:cNvSpPr/>
          <p:nvPr/>
        </p:nvSpPr>
        <p:spPr>
          <a:xfrm>
            <a:off x="3320378" y="2636913"/>
            <a:ext cx="2355487" cy="1512168"/>
          </a:xfrm>
          <a:custGeom>
            <a:avLst/>
            <a:gdLst/>
            <a:ahLst/>
            <a:cxnLst/>
            <a:rect l="l" t="t" r="r" b="b"/>
            <a:pathLst>
              <a:path w="1982724" h="1324356">
                <a:moveTo>
                  <a:pt x="0" y="0"/>
                </a:moveTo>
                <a:lnTo>
                  <a:pt x="1587373" y="0"/>
                </a:lnTo>
                <a:lnTo>
                  <a:pt x="1982724" y="662178"/>
                </a:lnTo>
                <a:lnTo>
                  <a:pt x="1587373" y="1324356"/>
                </a:lnTo>
                <a:lnTo>
                  <a:pt x="0" y="1324356"/>
                </a:lnTo>
                <a:lnTo>
                  <a:pt x="395351" y="662178"/>
                </a:lnTo>
                <a:lnTo>
                  <a:pt x="0" y="0"/>
                </a:lnTo>
                <a:close/>
              </a:path>
            </a:pathLst>
          </a:custGeom>
          <a:ln w="114300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B7740B98-6A9B-4CFB-8090-F8A99D12250F}"/>
              </a:ext>
            </a:extLst>
          </p:cNvPr>
          <p:cNvSpPr txBox="1"/>
          <p:nvPr/>
        </p:nvSpPr>
        <p:spPr>
          <a:xfrm>
            <a:off x="3909564" y="2907749"/>
            <a:ext cx="1382516" cy="10326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ES" sz="2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Operaciones que se harán con los datos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E3AD0FD-F7BA-4885-B092-155AD1133167}"/>
              </a:ext>
            </a:extLst>
          </p:cNvPr>
          <p:cNvSpPr/>
          <p:nvPr/>
        </p:nvSpPr>
        <p:spPr>
          <a:xfrm>
            <a:off x="5397589" y="2636913"/>
            <a:ext cx="2846819" cy="1512168"/>
          </a:xfrm>
          <a:custGeom>
            <a:avLst/>
            <a:gdLst/>
            <a:ahLst/>
            <a:cxnLst/>
            <a:rect l="l" t="t" r="r" b="b"/>
            <a:pathLst>
              <a:path w="1982723" h="1324356">
                <a:moveTo>
                  <a:pt x="0" y="0"/>
                </a:moveTo>
                <a:lnTo>
                  <a:pt x="1587372" y="0"/>
                </a:lnTo>
                <a:lnTo>
                  <a:pt x="1982723" y="662178"/>
                </a:lnTo>
                <a:lnTo>
                  <a:pt x="1587372" y="1324356"/>
                </a:lnTo>
                <a:lnTo>
                  <a:pt x="0" y="1324356"/>
                </a:lnTo>
                <a:lnTo>
                  <a:pt x="395350" y="662178"/>
                </a:lnTo>
                <a:lnTo>
                  <a:pt x="0" y="0"/>
                </a:lnTo>
                <a:close/>
              </a:path>
            </a:pathLst>
          </a:custGeom>
          <a:ln w="114299">
            <a:solidFill>
              <a:srgbClr val="3192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D77181E6-5FF8-409D-800F-F4EBFAF4EC03}"/>
              </a:ext>
            </a:extLst>
          </p:cNvPr>
          <p:cNvSpPr txBox="1"/>
          <p:nvPr/>
        </p:nvSpPr>
        <p:spPr>
          <a:xfrm>
            <a:off x="6071502" y="2799554"/>
            <a:ext cx="1686193" cy="1205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Resultados que se obtienen con las operaciones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3936F10E-3A94-4CC3-8142-A7ACAB76582A}"/>
              </a:ext>
            </a:extLst>
          </p:cNvPr>
          <p:cNvSpPr txBox="1"/>
          <p:nvPr/>
        </p:nvSpPr>
        <p:spPr>
          <a:xfrm>
            <a:off x="1475656" y="2060849"/>
            <a:ext cx="1636348" cy="39049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ENT</a:t>
            </a:r>
            <a:r>
              <a:rPr sz="2400" b="1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AD</a:t>
            </a:r>
            <a:r>
              <a:rPr sz="2400" b="1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5EF6F987-AFE9-4F86-A501-A5FD83F3A6BE}"/>
              </a:ext>
            </a:extLst>
          </p:cNvPr>
          <p:cNvSpPr txBox="1"/>
          <p:nvPr/>
        </p:nvSpPr>
        <p:spPr>
          <a:xfrm>
            <a:off x="3598530" y="2060849"/>
            <a:ext cx="1382516" cy="39049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4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P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</a:t>
            </a:r>
            <a:r>
              <a:rPr sz="2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O</a:t>
            </a:r>
            <a:r>
              <a:rPr sz="24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ESOS</a:t>
            </a: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D775DFA7-1BA0-44C2-BB84-78D4C270F2C2}"/>
              </a:ext>
            </a:extLst>
          </p:cNvPr>
          <p:cNvSpPr txBox="1"/>
          <p:nvPr/>
        </p:nvSpPr>
        <p:spPr>
          <a:xfrm>
            <a:off x="5982151" y="2088477"/>
            <a:ext cx="1335072" cy="3324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</a:t>
            </a:r>
            <a:r>
              <a:rPr sz="2400" b="1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DAS</a:t>
            </a:r>
          </a:p>
        </p:txBody>
      </p:sp>
    </p:spTree>
    <p:extLst>
      <p:ext uri="{BB962C8B-B14F-4D97-AF65-F5344CB8AC3E}">
        <p14:creationId xmlns:p14="http://schemas.microsoft.com/office/powerpoint/2010/main" val="14693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619672" y="980728"/>
            <a:ext cx="6147814" cy="952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6000" b="1" dirty="0">
                <a:solidFill>
                  <a:srgbClr val="002060"/>
                </a:solidFill>
                <a:latin typeface="Calibri"/>
                <a:cs typeface="Calibri"/>
              </a:rPr>
              <a:t>Licuado</a:t>
            </a:r>
            <a:r>
              <a:rPr lang="es-MX" sz="60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6000" b="1" dirty="0">
                <a:solidFill>
                  <a:srgbClr val="002060"/>
                </a:solidFill>
                <a:latin typeface="Calibri"/>
                <a:cs typeface="Calibri"/>
              </a:rPr>
              <a:t>de plátano</a:t>
            </a:r>
            <a:endParaRPr sz="6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7362" y="2140112"/>
            <a:ext cx="6080125" cy="9963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Iden</a:t>
            </a:r>
            <a:r>
              <a:rPr sz="3200" spc="-1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t</a:t>
            </a:r>
            <a:r>
              <a:rPr sz="3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3200" spc="-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f</a:t>
            </a:r>
            <a:r>
              <a:rPr sz="3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ica</a:t>
            </a:r>
            <a:r>
              <a:rPr sz="3200" spc="2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En</a:t>
            </a:r>
            <a:r>
              <a:rPr sz="32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t</a:t>
            </a: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rada</a:t>
            </a:r>
            <a:r>
              <a:rPr sz="3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</a:t>
            </a: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-Procesos-Salidas.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-371689" y="4540030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7</a:t>
            </a:fld>
            <a:endParaRPr sz="1200">
              <a:latin typeface="Calibri"/>
              <a:cs typeface="Calibri"/>
            </a:endParaRPr>
          </a:p>
        </p:txBody>
      </p:sp>
      <p:pic>
        <p:nvPicPr>
          <p:cNvPr id="19" name="Imagen 18" descr="Imagen que contiene reloj, señal&#10;&#10;Descripción generada automáticamente">
            <a:extLst>
              <a:ext uri="{FF2B5EF4-FFF2-40B4-BE49-F238E27FC236}">
                <a16:creationId xmlns:a16="http://schemas.microsoft.com/office/drawing/2014/main" id="{B1BE4103-3569-4587-9E81-CA10B761A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064849"/>
            <a:ext cx="7923644" cy="167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919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629028" y="2350398"/>
            <a:ext cx="5347335" cy="238389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600" b="1" dirty="0">
                <a:solidFill>
                  <a:srgbClr val="002060"/>
                </a:solidFill>
                <a:latin typeface="Calibri"/>
                <a:cs typeface="Calibri"/>
              </a:rPr>
              <a:t>Entr</a:t>
            </a:r>
            <a:r>
              <a:rPr sz="3600" b="1" spc="5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3600" b="1" dirty="0">
                <a:solidFill>
                  <a:srgbClr val="002060"/>
                </a:solidFill>
                <a:latin typeface="Calibri"/>
                <a:cs typeface="Calibri"/>
              </a:rPr>
              <a:t>da</a:t>
            </a:r>
          </a:p>
          <a:p>
            <a:pPr>
              <a:lnSpc>
                <a:spcPts val="950"/>
              </a:lnSpc>
              <a:spcBef>
                <a:spcPts val="7"/>
              </a:spcBef>
            </a:pPr>
            <a:endParaRPr sz="950" dirty="0">
              <a:solidFill>
                <a:srgbClr val="002060"/>
              </a:solidFill>
            </a:endParaRPr>
          </a:p>
          <a:p>
            <a:pPr marL="469900" marR="12700" indent="-317500" algn="just">
              <a:lnSpc>
                <a:spcPct val="100099"/>
              </a:lnSpc>
            </a:pPr>
            <a:r>
              <a:rPr lang="es-MX" dirty="0">
                <a:solidFill>
                  <a:srgbClr val="002060"/>
                </a:solidFill>
                <a:latin typeface="Calibri"/>
                <a:cs typeface="Calibri"/>
              </a:rPr>
              <a:t>     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Ident</a:t>
            </a:r>
            <a:r>
              <a:rPr sz="2400" spc="-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fi</a:t>
            </a:r>
            <a:r>
              <a:rPr sz="2400" spc="-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as var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ables que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se requie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en</a:t>
            </a:r>
            <a:r>
              <a:rPr sz="24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para</a:t>
            </a:r>
            <a:r>
              <a:rPr sz="24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reso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ver el algor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itmo,</a:t>
            </a:r>
            <a:r>
              <a:rPr sz="24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os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datos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con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os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q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ue</a:t>
            </a:r>
            <a:r>
              <a:rPr sz="24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ontamos o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qu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4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se n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4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si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tan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sol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4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ta</a:t>
            </a:r>
            <a:r>
              <a:rPr sz="24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7"/>
            <a:ext cx="334645" cy="775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730602" y="2309623"/>
            <a:ext cx="5777230" cy="252295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600" b="1" spc="-20" dirty="0">
                <a:solidFill>
                  <a:srgbClr val="002060"/>
                </a:solidFill>
                <a:latin typeface="Calibri"/>
                <a:cs typeface="Calibri"/>
              </a:rPr>
              <a:t>Pro</a:t>
            </a:r>
            <a:r>
              <a:rPr sz="3600" b="1" spc="-15" dirty="0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3600" b="1" dirty="0">
                <a:solidFill>
                  <a:srgbClr val="002060"/>
                </a:solidFill>
                <a:latin typeface="Calibri"/>
                <a:cs typeface="Calibri"/>
              </a:rPr>
              <a:t>eso</a:t>
            </a:r>
          </a:p>
          <a:p>
            <a:pPr>
              <a:lnSpc>
                <a:spcPts val="950"/>
              </a:lnSpc>
              <a:spcBef>
                <a:spcPts val="7"/>
              </a:spcBef>
            </a:pPr>
            <a:endParaRPr sz="950" dirty="0">
              <a:solidFill>
                <a:srgbClr val="002060"/>
              </a:solidFill>
            </a:endParaRPr>
          </a:p>
          <a:p>
            <a:pPr marL="469900" marR="12700" indent="-317500" algn="just">
              <a:lnSpc>
                <a:spcPct val="100099"/>
              </a:lnSpc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    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Son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las a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cci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ones</a:t>
            </a:r>
            <a:r>
              <a:rPr sz="2400" spc="2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que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se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requ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eren</a:t>
            </a:r>
            <a:r>
              <a:rPr sz="2400" spc="2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para enc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nt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ar</a:t>
            </a:r>
            <a:r>
              <a:rPr sz="24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solu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ci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ón 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algor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itmo, es</a:t>
            </a:r>
            <a:r>
              <a:rPr sz="24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la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forma como</a:t>
            </a:r>
            <a:r>
              <a:rPr sz="24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vamos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 obte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n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</a:t>
            </a:r>
            <a:r>
              <a:rPr sz="24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 soluc</a:t>
            </a:r>
            <a:r>
              <a:rPr sz="24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ón</a:t>
            </a:r>
            <a:r>
              <a:rPr sz="24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al prob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ema</a:t>
            </a:r>
            <a:r>
              <a:rPr sz="24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plantea</a:t>
            </a:r>
            <a:r>
              <a:rPr sz="24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o.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7"/>
            <a:ext cx="334645" cy="775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20364" y="2826766"/>
            <a:ext cx="5684084" cy="149605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600" b="1" dirty="0">
                <a:solidFill>
                  <a:srgbClr val="002060"/>
                </a:solidFill>
                <a:latin typeface="Calibri"/>
                <a:cs typeface="Calibri"/>
              </a:rPr>
              <a:t>S</a:t>
            </a:r>
            <a:r>
              <a:rPr sz="3600" b="1" spc="5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3600" b="1" dirty="0">
                <a:solidFill>
                  <a:srgbClr val="002060"/>
                </a:solidFill>
                <a:latin typeface="Calibri"/>
                <a:cs typeface="Calibri"/>
              </a:rPr>
              <a:t>lida</a:t>
            </a:r>
          </a:p>
          <a:p>
            <a:pPr>
              <a:lnSpc>
                <a:spcPts val="950"/>
              </a:lnSpc>
              <a:spcBef>
                <a:spcPts val="10"/>
              </a:spcBef>
            </a:pPr>
            <a:endParaRPr sz="950" dirty="0">
              <a:solidFill>
                <a:srgbClr val="002060"/>
              </a:solidFill>
            </a:endParaRPr>
          </a:p>
          <a:p>
            <a:pPr marL="153035"/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Es</a:t>
            </a:r>
            <a:r>
              <a:rPr sz="24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el 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esul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ado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o 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solu</a:t>
            </a:r>
            <a:r>
              <a:rPr sz="2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ci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ón</a:t>
            </a:r>
            <a:r>
              <a:rPr sz="24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del</a:t>
            </a:r>
            <a:r>
              <a:rPr sz="24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prob</a:t>
            </a:r>
            <a:r>
              <a:rPr sz="24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ema.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7"/>
            <a:ext cx="334645" cy="775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331640" y="692696"/>
            <a:ext cx="3643338" cy="952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6000" b="1" dirty="0">
                <a:solidFill>
                  <a:srgbClr val="002060"/>
                </a:solidFill>
                <a:latin typeface="Calibri"/>
                <a:cs typeface="Calibri"/>
              </a:rPr>
              <a:t>Ejemplo: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-798404" y="4114075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11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7567D123-F0B7-4DC7-B130-718E3DCF38FA}"/>
              </a:ext>
            </a:extLst>
          </p:cNvPr>
          <p:cNvSpPr txBox="1"/>
          <p:nvPr/>
        </p:nvSpPr>
        <p:spPr>
          <a:xfrm>
            <a:off x="1403648" y="1942001"/>
            <a:ext cx="5746549" cy="6682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00099"/>
              </a:lnSpc>
            </a:pP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Calcu</a:t>
            </a:r>
            <a:r>
              <a:rPr sz="32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</a:t>
            </a: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ar</a:t>
            </a:r>
            <a:r>
              <a:rPr sz="32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el área</a:t>
            </a:r>
            <a:r>
              <a:rPr sz="3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de un tr</a:t>
            </a:r>
            <a:r>
              <a:rPr sz="3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lang="es-MX" sz="3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á</a:t>
            </a:r>
            <a:r>
              <a:rPr sz="3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ngulo</a:t>
            </a:r>
            <a:endParaRPr sz="32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3F2C1DAB-C2C1-4C9A-8A06-982E02D39C09}"/>
              </a:ext>
            </a:extLst>
          </p:cNvPr>
          <p:cNvSpPr/>
          <p:nvPr/>
        </p:nvSpPr>
        <p:spPr>
          <a:xfrm>
            <a:off x="2987824" y="2852730"/>
            <a:ext cx="2268723" cy="29290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0700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 txBox="1"/>
          <p:nvPr/>
        </p:nvSpPr>
        <p:spPr>
          <a:xfrm>
            <a:off x="1475695" y="620688"/>
            <a:ext cx="6619493" cy="8551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000" b="1" spc="-20" dirty="0">
                <a:solidFill>
                  <a:srgbClr val="002060"/>
                </a:solidFill>
                <a:latin typeface="Calibri"/>
                <a:cs typeface="Calibri"/>
              </a:rPr>
              <a:t>Calcular </a:t>
            </a:r>
            <a:r>
              <a:rPr sz="4000" b="1" spc="-15" dirty="0">
                <a:solidFill>
                  <a:srgbClr val="002060"/>
                </a:solidFill>
                <a:latin typeface="Calibri"/>
                <a:cs typeface="Calibri"/>
              </a:rPr>
              <a:t>el </a:t>
            </a:r>
            <a:r>
              <a:rPr sz="4000" b="1" spc="-20" dirty="0">
                <a:solidFill>
                  <a:srgbClr val="002060"/>
                </a:solidFill>
                <a:latin typeface="Calibri"/>
                <a:cs typeface="Calibri"/>
              </a:rPr>
              <a:t>área </a:t>
            </a:r>
            <a:r>
              <a:rPr sz="4000" b="1" spc="-25" dirty="0">
                <a:solidFill>
                  <a:srgbClr val="002060"/>
                </a:solidFill>
                <a:latin typeface="Calibri"/>
                <a:cs typeface="Calibri"/>
              </a:rPr>
              <a:t>de</a:t>
            </a:r>
            <a:r>
              <a:rPr sz="4000" b="1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2060"/>
                </a:solidFill>
                <a:latin typeface="Calibri"/>
                <a:cs typeface="Calibri"/>
              </a:rPr>
              <a:t>un</a:t>
            </a:r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2060"/>
                </a:solidFill>
                <a:latin typeface="Calibri"/>
                <a:cs typeface="Calibri"/>
              </a:rPr>
              <a:t>tri</a:t>
            </a:r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á</a:t>
            </a:r>
            <a:r>
              <a:rPr sz="4000" b="1" spc="-20" dirty="0" err="1">
                <a:solidFill>
                  <a:srgbClr val="002060"/>
                </a:solidFill>
                <a:latin typeface="Calibri"/>
                <a:cs typeface="Calibri"/>
              </a:rPr>
              <a:t>ngulo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596336" y="4869160"/>
            <a:ext cx="1296144" cy="1859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graphicFrame>
        <p:nvGraphicFramePr>
          <p:cNvPr id="42" name="object 38">
            <a:extLst>
              <a:ext uri="{FF2B5EF4-FFF2-40B4-BE49-F238E27FC236}">
                <a16:creationId xmlns:a16="http://schemas.microsoft.com/office/drawing/2014/main" id="{9B435FA9-DA88-4443-BDFE-B90E28E0B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429818"/>
              </p:ext>
            </p:extLst>
          </p:nvPr>
        </p:nvGraphicFramePr>
        <p:xfrm>
          <a:off x="969017" y="1772816"/>
          <a:ext cx="7632848" cy="2954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8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4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795"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ENT</a:t>
                      </a:r>
                      <a:r>
                        <a:rPr sz="2400" b="1" spc="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ADA</a:t>
                      </a:r>
                      <a:endParaRPr sz="2400" b="1" dirty="0">
                        <a:solidFill>
                          <a:srgbClr val="00206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lnT w="19050">
                      <a:solidFill>
                        <a:srgbClr val="18BA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9880" algn="l">
                        <a:lnSpc>
                          <a:spcPct val="100000"/>
                        </a:lnSpc>
                      </a:pPr>
                      <a:r>
                        <a:rPr lang="es-MX" sz="2400" b="1" spc="-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            </a:t>
                      </a:r>
                      <a:r>
                        <a:rPr sz="2400" b="1" spc="-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2400" b="1" spc="-1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2400" b="1" spc="-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ESO</a:t>
                      </a:r>
                      <a:endParaRPr sz="2400" b="1" dirty="0">
                        <a:solidFill>
                          <a:srgbClr val="00206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lnT w="19050">
                      <a:solidFill>
                        <a:srgbClr val="18BA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</a:pPr>
                      <a:r>
                        <a:rPr lang="es-ES" sz="2400" b="1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2400" b="1" spc="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2400" b="1" spc="-1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DA</a:t>
                      </a:r>
                      <a:endParaRPr sz="2400" b="1" dirty="0">
                        <a:solidFill>
                          <a:srgbClr val="00206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lnT w="19050">
                      <a:solidFill>
                        <a:srgbClr val="18BAD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5364"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</a:pPr>
                      <a:r>
                        <a:rPr lang="es-MX" sz="2400" spc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 </a:t>
                      </a:r>
                    </a:p>
                    <a:p>
                      <a:pPr marL="280670">
                        <a:lnSpc>
                          <a:spcPct val="100000"/>
                        </a:lnSpc>
                      </a:pPr>
                      <a:r>
                        <a:rPr lang="es-MX" sz="2400" spc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altura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solidFill>
                      <a:srgbClr val="174669"/>
                    </a:solidFill>
                  </a:tcPr>
                </a:tc>
                <a:tc>
                  <a:txBody>
                    <a:bodyPr/>
                    <a:lstStyle/>
                    <a:p>
                      <a:pPr marL="63881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s-MX" sz="240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Pedir la base</a:t>
                      </a:r>
                      <a:endParaRPr lang="es-MX" sz="2400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  <a:p>
                      <a:pPr marL="63881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s-MX" sz="2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Pedir la altura</a:t>
                      </a:r>
                    </a:p>
                    <a:p>
                      <a:pPr marL="63881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s-MX" sz="2400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area</a:t>
                      </a:r>
                      <a:r>
                        <a:rPr lang="es-MX" sz="2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= (base * altura) / 2</a:t>
                      </a:r>
                    </a:p>
                    <a:p>
                      <a:pPr marL="63881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s-MX" sz="2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Escribir área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solidFill>
                      <a:srgbClr val="174669"/>
                    </a:solidFill>
                  </a:tcPr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</a:pPr>
                      <a:r>
                        <a:rPr lang="es-MX" sz="2400" spc="0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area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solidFill>
                      <a:srgbClr val="174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 txBox="1"/>
          <p:nvPr/>
        </p:nvSpPr>
        <p:spPr>
          <a:xfrm>
            <a:off x="1264875" y="685431"/>
            <a:ext cx="6619493" cy="132802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000" b="1" spc="-20" dirty="0">
                <a:solidFill>
                  <a:srgbClr val="002060"/>
                </a:solidFill>
                <a:latin typeface="Calibri"/>
                <a:cs typeface="Calibri"/>
              </a:rPr>
              <a:t>Calcular </a:t>
            </a:r>
            <a:r>
              <a:rPr sz="4000" b="1" spc="-15" dirty="0">
                <a:solidFill>
                  <a:srgbClr val="002060"/>
                </a:solidFill>
                <a:latin typeface="Calibri"/>
                <a:cs typeface="Calibri"/>
              </a:rPr>
              <a:t>el </a:t>
            </a:r>
            <a:r>
              <a:rPr sz="4000" b="1" spc="-20" dirty="0">
                <a:solidFill>
                  <a:srgbClr val="002060"/>
                </a:solidFill>
                <a:latin typeface="Calibri"/>
                <a:cs typeface="Calibri"/>
              </a:rPr>
              <a:t>área </a:t>
            </a:r>
            <a:r>
              <a:rPr sz="4000" b="1" spc="-25" dirty="0">
                <a:solidFill>
                  <a:srgbClr val="002060"/>
                </a:solidFill>
                <a:latin typeface="Calibri"/>
                <a:cs typeface="Calibri"/>
              </a:rPr>
              <a:t>de</a:t>
            </a:r>
            <a:r>
              <a:rPr sz="4000" b="1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2060"/>
                </a:solidFill>
                <a:latin typeface="Calibri"/>
                <a:cs typeface="Calibri"/>
              </a:rPr>
              <a:t>un</a:t>
            </a:r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2060"/>
                </a:solidFill>
                <a:latin typeface="Calibri"/>
                <a:cs typeface="Calibri"/>
              </a:rPr>
              <a:t>tri</a:t>
            </a:r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á</a:t>
            </a:r>
            <a:r>
              <a:rPr sz="4000" b="1" spc="-20" dirty="0" err="1">
                <a:solidFill>
                  <a:srgbClr val="002060"/>
                </a:solidFill>
                <a:latin typeface="Calibri"/>
                <a:cs typeface="Calibri"/>
              </a:rPr>
              <a:t>ngulo</a:t>
            </a:r>
            <a:endParaRPr lang="es-ES" sz="4000" b="1" spc="-2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 algn="ctr"/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Casos de prueba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47363" y="2585354"/>
            <a:ext cx="1618488" cy="23362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graphicFrame>
        <p:nvGraphicFramePr>
          <p:cNvPr id="41" name="Tabla 40">
            <a:extLst>
              <a:ext uri="{FF2B5EF4-FFF2-40B4-BE49-F238E27FC236}">
                <a16:creationId xmlns:a16="http://schemas.microsoft.com/office/drawing/2014/main" id="{275E7361-C640-48F1-BCD9-CD0C9883F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085992"/>
              </p:ext>
            </p:extLst>
          </p:nvPr>
        </p:nvGraphicFramePr>
        <p:xfrm>
          <a:off x="2699791" y="2585354"/>
          <a:ext cx="5760641" cy="2232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7">
                  <a:extLst>
                    <a:ext uri="{9D8B030D-6E8A-4147-A177-3AD203B41FA5}">
                      <a16:colId xmlns:a16="http://schemas.microsoft.com/office/drawing/2014/main" val="759293770"/>
                    </a:ext>
                  </a:extLst>
                </a:gridCol>
                <a:gridCol w="1844047">
                  <a:extLst>
                    <a:ext uri="{9D8B030D-6E8A-4147-A177-3AD203B41FA5}">
                      <a16:colId xmlns:a16="http://schemas.microsoft.com/office/drawing/2014/main" val="2302406452"/>
                    </a:ext>
                  </a:extLst>
                </a:gridCol>
                <a:gridCol w="2072547">
                  <a:extLst>
                    <a:ext uri="{9D8B030D-6E8A-4147-A177-3AD203B41FA5}">
                      <a16:colId xmlns:a16="http://schemas.microsoft.com/office/drawing/2014/main" val="2658956394"/>
                    </a:ext>
                  </a:extLst>
                </a:gridCol>
              </a:tblGrid>
              <a:tr h="558062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altura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 err="1"/>
                        <a:t>area</a:t>
                      </a:r>
                      <a:endParaRPr lang="es-MX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959547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6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202940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10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25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235849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4.2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7.1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/>
                        <a:t>14.91</a:t>
                      </a:r>
                      <a:endParaRPr lang="es-MX" sz="2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3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841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331640" y="692696"/>
            <a:ext cx="3643338" cy="952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6000" b="1" dirty="0">
                <a:solidFill>
                  <a:srgbClr val="002060"/>
                </a:solidFill>
                <a:latin typeface="Calibri"/>
                <a:cs typeface="Calibri"/>
              </a:rPr>
              <a:t>Ejemplo: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-798404" y="4114075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14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7567D123-F0B7-4DC7-B130-718E3DCF38FA}"/>
              </a:ext>
            </a:extLst>
          </p:cNvPr>
          <p:cNvSpPr txBox="1"/>
          <p:nvPr/>
        </p:nvSpPr>
        <p:spPr>
          <a:xfrm>
            <a:off x="1403648" y="1942000"/>
            <a:ext cx="6696744" cy="112695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00099"/>
              </a:lnSpc>
            </a:pPr>
            <a:r>
              <a:rPr lang="es-ES" sz="32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Calcular el pago neto para un empleado que trabaja por horas</a:t>
            </a:r>
          </a:p>
          <a:p>
            <a:pPr marL="12700" marR="12700">
              <a:lnSpc>
                <a:spcPct val="100099"/>
              </a:lnSpc>
            </a:pPr>
            <a:endParaRPr sz="32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C37EC6-7BA2-4D0A-8C73-125FC8B6B4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900" y="3212976"/>
            <a:ext cx="2160240" cy="277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9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15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7567D123-F0B7-4DC7-B130-718E3DCF38FA}"/>
              </a:ext>
            </a:extLst>
          </p:cNvPr>
          <p:cNvSpPr txBox="1"/>
          <p:nvPr/>
        </p:nvSpPr>
        <p:spPr>
          <a:xfrm>
            <a:off x="792436" y="416462"/>
            <a:ext cx="7559127" cy="117142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ctr">
              <a:lnSpc>
                <a:spcPct val="100099"/>
              </a:lnSpc>
            </a:pPr>
            <a:r>
              <a:rPr sz="3600" b="1" dirty="0">
                <a:solidFill>
                  <a:srgbClr val="002060"/>
                </a:solidFill>
                <a:latin typeface="Calibri"/>
                <a:cs typeface="Calibri"/>
              </a:rPr>
              <a:t>Calcu</a:t>
            </a:r>
            <a:r>
              <a:rPr sz="3600" b="1" spc="-15" dirty="0">
                <a:solidFill>
                  <a:srgbClr val="002060"/>
                </a:solidFill>
                <a:latin typeface="Calibri"/>
                <a:cs typeface="Calibri"/>
              </a:rPr>
              <a:t>l</a:t>
            </a:r>
            <a:r>
              <a:rPr sz="3600" b="1" dirty="0">
                <a:solidFill>
                  <a:srgbClr val="002060"/>
                </a:solidFill>
                <a:latin typeface="Calibri"/>
                <a:cs typeface="Calibri"/>
              </a:rPr>
              <a:t>ar</a:t>
            </a:r>
            <a:r>
              <a:rPr sz="3600" b="1" spc="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2060"/>
                </a:solidFill>
                <a:latin typeface="Calibri"/>
                <a:cs typeface="Calibri"/>
              </a:rPr>
              <a:t>el </a:t>
            </a:r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pago neto para un empleado que trabaja por horas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AEF8F49-0F84-4711-BF74-E217EE0DFF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3848237"/>
            <a:ext cx="2040882" cy="2624889"/>
          </a:xfrm>
          <a:prstGeom prst="rect">
            <a:avLst/>
          </a:prstGeom>
        </p:spPr>
      </p:pic>
      <p:sp>
        <p:nvSpPr>
          <p:cNvPr id="20" name="Google Shape;259;p25">
            <a:extLst>
              <a:ext uri="{FF2B5EF4-FFF2-40B4-BE49-F238E27FC236}">
                <a16:creationId xmlns:a16="http://schemas.microsoft.com/office/drawing/2014/main" id="{96642953-4C1E-4425-A730-191BB1FFE57A}"/>
              </a:ext>
            </a:extLst>
          </p:cNvPr>
          <p:cNvSpPr txBox="1"/>
          <p:nvPr/>
        </p:nvSpPr>
        <p:spPr>
          <a:xfrm>
            <a:off x="760369" y="1844824"/>
            <a:ext cx="8017545" cy="265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indent="-342900" algn="just">
              <a:lnSpc>
                <a:spcPct val="150000"/>
              </a:lnSpc>
              <a:spcBef>
                <a:spcPts val="600"/>
              </a:spcBef>
              <a:buClr>
                <a:schemeClr val="accent5">
                  <a:lumMod val="50000"/>
                </a:schemeClr>
              </a:buClr>
              <a:buSzPts val="2450"/>
              <a:buFont typeface="Wingdings" panose="05000000000000000000" pitchFamily="2" charset="2"/>
              <a:buChar char="v"/>
            </a:pPr>
            <a:r>
              <a:rPr lang="en-US" sz="2400" dirty="0">
                <a:cs typeface="Calibri"/>
                <a:sym typeface="Corbel"/>
              </a:rPr>
              <a:t>Para llevar a cabo el proceso se </a:t>
            </a:r>
            <a:r>
              <a:rPr lang="en-US" sz="2400" dirty="0" err="1">
                <a:cs typeface="Calibri"/>
                <a:sym typeface="Corbel"/>
              </a:rPr>
              <a:t>requiere</a:t>
            </a:r>
            <a:r>
              <a:rPr lang="en-US" sz="2400" dirty="0">
                <a:cs typeface="Calibri"/>
                <a:sym typeface="Corbel"/>
              </a:rPr>
              <a:t> </a:t>
            </a:r>
            <a:r>
              <a:rPr lang="en-US" sz="2400" dirty="0" err="1">
                <a:cs typeface="Calibri"/>
                <a:sym typeface="Corbel"/>
              </a:rPr>
              <a:t>conocer</a:t>
            </a:r>
            <a:r>
              <a:rPr lang="en-US" sz="2400" dirty="0">
                <a:cs typeface="Calibri"/>
                <a:sym typeface="Corbel"/>
              </a:rPr>
              <a:t>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cuántas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 horas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trabajó</a:t>
            </a:r>
            <a:r>
              <a:rPr lang="en-US" sz="2400" dirty="0">
                <a:cs typeface="Calibri"/>
                <a:sym typeface="Corbel"/>
              </a:rPr>
              <a:t> el </a:t>
            </a:r>
            <a:r>
              <a:rPr lang="en-US" sz="2400" dirty="0" err="1">
                <a:cs typeface="Calibri"/>
                <a:sym typeface="Corbel"/>
              </a:rPr>
              <a:t>empleado</a:t>
            </a:r>
            <a:r>
              <a:rPr lang="en-US" sz="2400" dirty="0">
                <a:cs typeface="Calibri"/>
                <a:sym typeface="Corbel"/>
              </a:rPr>
              <a:t> y cuál sería el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pago por hora</a:t>
            </a:r>
            <a:r>
              <a:rPr lang="en-US" sz="2400" dirty="0">
                <a:cs typeface="Calibri"/>
                <a:sym typeface="Corbel"/>
              </a:rPr>
              <a:t>.</a:t>
            </a:r>
            <a:endParaRPr sz="2400" dirty="0">
              <a:cs typeface="Calibri"/>
              <a:sym typeface="Corbel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600"/>
              </a:spcBef>
              <a:buClr>
                <a:schemeClr val="accent5">
                  <a:lumMod val="50000"/>
                </a:schemeClr>
              </a:buClr>
              <a:buSzPts val="2450"/>
              <a:buFont typeface="Wingdings" panose="05000000000000000000" pitchFamily="2" charset="2"/>
              <a:buChar char="v"/>
            </a:pPr>
            <a:r>
              <a:rPr lang="en-US" sz="2400" dirty="0">
                <a:cs typeface="Calibri"/>
                <a:sym typeface="Corbel"/>
              </a:rPr>
              <a:t>Se calcula la </a:t>
            </a:r>
            <a:r>
              <a:rPr lang="en-US" sz="2400" dirty="0" err="1">
                <a:cs typeface="Calibri"/>
                <a:sym typeface="Corbel"/>
              </a:rPr>
              <a:t>salida</a:t>
            </a:r>
            <a:r>
              <a:rPr lang="en-US" sz="2400" dirty="0">
                <a:cs typeface="Calibri"/>
                <a:sym typeface="Corbel"/>
              </a:rPr>
              <a:t>: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pago neto</a:t>
            </a:r>
            <a:r>
              <a:rPr lang="en-US" sz="2400" dirty="0">
                <a:cs typeface="Calibri"/>
                <a:sym typeface="Corbel"/>
              </a:rPr>
              <a:t>, con los datos que se tienen.</a:t>
            </a:r>
            <a:endParaRPr sz="2400" dirty="0">
              <a:cs typeface="Calibri"/>
              <a:sym typeface="Corbel"/>
            </a:endParaRPr>
          </a:p>
          <a:p>
            <a:pPr marL="355600" indent="-342900" algn="just">
              <a:lnSpc>
                <a:spcPct val="150000"/>
              </a:lnSpc>
              <a:spcBef>
                <a:spcPts val="600"/>
              </a:spcBef>
              <a:buClr>
                <a:schemeClr val="accent5">
                  <a:lumMod val="50000"/>
                </a:schemeClr>
              </a:buClr>
              <a:buSzPts val="2450"/>
              <a:buFont typeface="Wingdings" panose="05000000000000000000" pitchFamily="2" charset="2"/>
              <a:buChar char="v"/>
            </a:pPr>
            <a:r>
              <a:rPr lang="en-US" sz="2400" dirty="0">
                <a:cs typeface="Calibri"/>
                <a:sym typeface="Corbel"/>
              </a:rPr>
              <a:t>El resultado se imprime en la pantalla.</a:t>
            </a:r>
            <a:endParaRPr sz="2400" dirty="0">
              <a:cs typeface="Calibri"/>
              <a:sym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450817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/>
          <p:cNvSpPr/>
          <p:nvPr/>
        </p:nvSpPr>
        <p:spPr>
          <a:xfrm>
            <a:off x="6720078" y="3094516"/>
            <a:ext cx="819911" cy="710184"/>
          </a:xfrm>
          <a:custGeom>
            <a:avLst/>
            <a:gdLst/>
            <a:ahLst/>
            <a:cxnLst/>
            <a:rect l="l" t="t" r="r" b="b"/>
            <a:pathLst>
              <a:path w="819911" h="710184">
                <a:moveTo>
                  <a:pt x="616203" y="0"/>
                </a:moveTo>
                <a:lnTo>
                  <a:pt x="203707" y="0"/>
                </a:lnTo>
                <a:lnTo>
                  <a:pt x="0" y="355092"/>
                </a:lnTo>
                <a:lnTo>
                  <a:pt x="203707" y="710184"/>
                </a:lnTo>
                <a:lnTo>
                  <a:pt x="616203" y="710184"/>
                </a:lnTo>
                <a:lnTo>
                  <a:pt x="819911" y="355092"/>
                </a:lnTo>
                <a:lnTo>
                  <a:pt x="616203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534150" y="3586769"/>
            <a:ext cx="137159" cy="149352"/>
          </a:xfrm>
          <a:custGeom>
            <a:avLst/>
            <a:gdLst/>
            <a:ahLst/>
            <a:cxnLst/>
            <a:rect l="l" t="t" r="r" b="b"/>
            <a:pathLst>
              <a:path w="137159" h="149351">
                <a:moveTo>
                  <a:pt x="98678" y="0"/>
                </a:moveTo>
                <a:lnTo>
                  <a:pt x="72262" y="11303"/>
                </a:lnTo>
                <a:lnTo>
                  <a:pt x="69595" y="13843"/>
                </a:lnTo>
                <a:lnTo>
                  <a:pt x="67563" y="16891"/>
                </a:lnTo>
                <a:lnTo>
                  <a:pt x="65404" y="19938"/>
                </a:lnTo>
                <a:lnTo>
                  <a:pt x="63880" y="22987"/>
                </a:lnTo>
                <a:lnTo>
                  <a:pt x="62356" y="26543"/>
                </a:lnTo>
                <a:lnTo>
                  <a:pt x="61340" y="33781"/>
                </a:lnTo>
                <a:lnTo>
                  <a:pt x="60832" y="37846"/>
                </a:lnTo>
                <a:lnTo>
                  <a:pt x="61340" y="43434"/>
                </a:lnTo>
                <a:lnTo>
                  <a:pt x="62864" y="49149"/>
                </a:lnTo>
                <a:lnTo>
                  <a:pt x="64896" y="54229"/>
                </a:lnTo>
                <a:lnTo>
                  <a:pt x="67563" y="58800"/>
                </a:lnTo>
                <a:lnTo>
                  <a:pt x="0" y="137033"/>
                </a:lnTo>
                <a:lnTo>
                  <a:pt x="7746" y="142748"/>
                </a:lnTo>
                <a:lnTo>
                  <a:pt x="15112" y="149352"/>
                </a:lnTo>
                <a:lnTo>
                  <a:pt x="82550" y="71628"/>
                </a:lnTo>
                <a:lnTo>
                  <a:pt x="114807" y="71628"/>
                </a:lnTo>
                <a:lnTo>
                  <a:pt x="116839" y="70612"/>
                </a:lnTo>
                <a:lnTo>
                  <a:pt x="135000" y="48641"/>
                </a:lnTo>
                <a:lnTo>
                  <a:pt x="136143" y="44957"/>
                </a:lnTo>
                <a:lnTo>
                  <a:pt x="137159" y="37846"/>
                </a:lnTo>
                <a:lnTo>
                  <a:pt x="136651" y="33781"/>
                </a:lnTo>
                <a:lnTo>
                  <a:pt x="136143" y="30225"/>
                </a:lnTo>
                <a:lnTo>
                  <a:pt x="135000" y="26543"/>
                </a:lnTo>
                <a:lnTo>
                  <a:pt x="133984" y="22987"/>
                </a:lnTo>
                <a:lnTo>
                  <a:pt x="102869" y="507"/>
                </a:lnTo>
                <a:lnTo>
                  <a:pt x="98678" y="0"/>
                </a:lnTo>
                <a:close/>
              </a:path>
              <a:path w="137159" h="149351">
                <a:moveTo>
                  <a:pt x="114807" y="71628"/>
                </a:moveTo>
                <a:lnTo>
                  <a:pt x="82550" y="71628"/>
                </a:lnTo>
                <a:lnTo>
                  <a:pt x="86232" y="73151"/>
                </a:lnTo>
                <a:lnTo>
                  <a:pt x="90424" y="74168"/>
                </a:lnTo>
                <a:lnTo>
                  <a:pt x="98678" y="75184"/>
                </a:lnTo>
                <a:lnTo>
                  <a:pt x="102869" y="74675"/>
                </a:lnTo>
                <a:lnTo>
                  <a:pt x="110108" y="73660"/>
                </a:lnTo>
                <a:lnTo>
                  <a:pt x="113791" y="72136"/>
                </a:lnTo>
                <a:lnTo>
                  <a:pt x="114807" y="71628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28410" y="3608104"/>
            <a:ext cx="108203" cy="124968"/>
          </a:xfrm>
          <a:custGeom>
            <a:avLst/>
            <a:gdLst/>
            <a:ahLst/>
            <a:cxnLst/>
            <a:rect l="l" t="t" r="r" b="b"/>
            <a:pathLst>
              <a:path w="108203" h="124968">
                <a:moveTo>
                  <a:pt x="76919" y="72516"/>
                </a:moveTo>
                <a:lnTo>
                  <a:pt x="52070" y="72516"/>
                </a:lnTo>
                <a:lnTo>
                  <a:pt x="92709" y="124968"/>
                </a:lnTo>
                <a:lnTo>
                  <a:pt x="99949" y="118744"/>
                </a:lnTo>
                <a:lnTo>
                  <a:pt x="108203" y="113156"/>
                </a:lnTo>
                <a:lnTo>
                  <a:pt x="76919" y="72516"/>
                </a:lnTo>
                <a:close/>
              </a:path>
              <a:path w="108203" h="124968">
                <a:moveTo>
                  <a:pt x="40767" y="0"/>
                </a:moveTo>
                <a:lnTo>
                  <a:pt x="33020" y="0"/>
                </a:lnTo>
                <a:lnTo>
                  <a:pt x="29336" y="507"/>
                </a:lnTo>
                <a:lnTo>
                  <a:pt x="25780" y="1524"/>
                </a:lnTo>
                <a:lnTo>
                  <a:pt x="22732" y="3048"/>
                </a:lnTo>
                <a:lnTo>
                  <a:pt x="19050" y="4571"/>
                </a:lnTo>
                <a:lnTo>
                  <a:pt x="16001" y="6731"/>
                </a:lnTo>
                <a:lnTo>
                  <a:pt x="13334" y="8762"/>
                </a:lnTo>
                <a:lnTo>
                  <a:pt x="8254" y="13843"/>
                </a:lnTo>
                <a:lnTo>
                  <a:pt x="6223" y="17018"/>
                </a:lnTo>
                <a:lnTo>
                  <a:pt x="4191" y="20065"/>
                </a:lnTo>
                <a:lnTo>
                  <a:pt x="2540" y="23113"/>
                </a:lnTo>
                <a:lnTo>
                  <a:pt x="1524" y="26796"/>
                </a:lnTo>
                <a:lnTo>
                  <a:pt x="507" y="30861"/>
                </a:lnTo>
                <a:lnTo>
                  <a:pt x="0" y="34417"/>
                </a:lnTo>
                <a:lnTo>
                  <a:pt x="0" y="42163"/>
                </a:lnTo>
                <a:lnTo>
                  <a:pt x="507" y="45719"/>
                </a:lnTo>
                <a:lnTo>
                  <a:pt x="1524" y="49402"/>
                </a:lnTo>
                <a:lnTo>
                  <a:pt x="3048" y="52450"/>
                </a:lnTo>
                <a:lnTo>
                  <a:pt x="4699" y="56006"/>
                </a:lnTo>
                <a:lnTo>
                  <a:pt x="6730" y="58674"/>
                </a:lnTo>
                <a:lnTo>
                  <a:pt x="8763" y="61721"/>
                </a:lnTo>
                <a:lnTo>
                  <a:pt x="11302" y="64262"/>
                </a:lnTo>
                <a:lnTo>
                  <a:pt x="36068" y="75056"/>
                </a:lnTo>
                <a:lnTo>
                  <a:pt x="41782" y="75056"/>
                </a:lnTo>
                <a:lnTo>
                  <a:pt x="46863" y="74040"/>
                </a:lnTo>
                <a:lnTo>
                  <a:pt x="52070" y="72516"/>
                </a:lnTo>
                <a:lnTo>
                  <a:pt x="76919" y="72516"/>
                </a:lnTo>
                <a:lnTo>
                  <a:pt x="67436" y="60198"/>
                </a:lnTo>
                <a:lnTo>
                  <a:pt x="70103" y="56514"/>
                </a:lnTo>
                <a:lnTo>
                  <a:pt x="72135" y="52958"/>
                </a:lnTo>
                <a:lnTo>
                  <a:pt x="73659" y="48894"/>
                </a:lnTo>
                <a:lnTo>
                  <a:pt x="74675" y="44195"/>
                </a:lnTo>
                <a:lnTo>
                  <a:pt x="75183" y="40639"/>
                </a:lnTo>
                <a:lnTo>
                  <a:pt x="75183" y="32893"/>
                </a:lnTo>
                <a:lnTo>
                  <a:pt x="58166" y="6223"/>
                </a:lnTo>
                <a:lnTo>
                  <a:pt x="55118" y="4063"/>
                </a:lnTo>
                <a:lnTo>
                  <a:pt x="51561" y="2539"/>
                </a:lnTo>
                <a:lnTo>
                  <a:pt x="44323" y="507"/>
                </a:lnTo>
                <a:lnTo>
                  <a:pt x="40767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253733" y="3824513"/>
            <a:ext cx="150875" cy="91440"/>
          </a:xfrm>
          <a:custGeom>
            <a:avLst/>
            <a:gdLst/>
            <a:ahLst/>
            <a:cxnLst/>
            <a:rect l="l" t="t" r="r" b="b"/>
            <a:pathLst>
              <a:path w="150875" h="91439">
                <a:moveTo>
                  <a:pt x="38861" y="16382"/>
                </a:moveTo>
                <a:lnTo>
                  <a:pt x="35305" y="16890"/>
                </a:lnTo>
                <a:lnTo>
                  <a:pt x="31750" y="16890"/>
                </a:lnTo>
                <a:lnTo>
                  <a:pt x="24510" y="18922"/>
                </a:lnTo>
                <a:lnTo>
                  <a:pt x="18415" y="21970"/>
                </a:lnTo>
                <a:lnTo>
                  <a:pt x="15367" y="24002"/>
                </a:lnTo>
                <a:lnTo>
                  <a:pt x="12319" y="26542"/>
                </a:lnTo>
                <a:lnTo>
                  <a:pt x="9778" y="29082"/>
                </a:lnTo>
                <a:lnTo>
                  <a:pt x="7111" y="31622"/>
                </a:lnTo>
                <a:lnTo>
                  <a:pt x="0" y="52577"/>
                </a:lnTo>
                <a:lnTo>
                  <a:pt x="0" y="56133"/>
                </a:lnTo>
                <a:lnTo>
                  <a:pt x="507" y="59816"/>
                </a:lnTo>
                <a:lnTo>
                  <a:pt x="2540" y="66928"/>
                </a:lnTo>
                <a:lnTo>
                  <a:pt x="4064" y="69976"/>
                </a:lnTo>
                <a:lnTo>
                  <a:pt x="5587" y="73532"/>
                </a:lnTo>
                <a:lnTo>
                  <a:pt x="7620" y="76072"/>
                </a:lnTo>
                <a:lnTo>
                  <a:pt x="9778" y="79120"/>
                </a:lnTo>
                <a:lnTo>
                  <a:pt x="12826" y="81660"/>
                </a:lnTo>
                <a:lnTo>
                  <a:pt x="36322" y="91439"/>
                </a:lnTo>
                <a:lnTo>
                  <a:pt x="39877" y="91439"/>
                </a:lnTo>
                <a:lnTo>
                  <a:pt x="72644" y="66928"/>
                </a:lnTo>
                <a:lnTo>
                  <a:pt x="75183" y="55117"/>
                </a:lnTo>
                <a:lnTo>
                  <a:pt x="74675" y="49021"/>
                </a:lnTo>
                <a:lnTo>
                  <a:pt x="118529" y="31114"/>
                </a:lnTo>
                <a:lnTo>
                  <a:pt x="67564" y="31114"/>
                </a:lnTo>
                <a:lnTo>
                  <a:pt x="64897" y="28574"/>
                </a:lnTo>
                <a:lnTo>
                  <a:pt x="59817" y="23494"/>
                </a:lnTo>
                <a:lnTo>
                  <a:pt x="56260" y="21462"/>
                </a:lnTo>
                <a:lnTo>
                  <a:pt x="53212" y="19938"/>
                </a:lnTo>
                <a:lnTo>
                  <a:pt x="49656" y="18414"/>
                </a:lnTo>
                <a:lnTo>
                  <a:pt x="45974" y="17398"/>
                </a:lnTo>
                <a:lnTo>
                  <a:pt x="38861" y="16382"/>
                </a:lnTo>
                <a:close/>
              </a:path>
              <a:path w="150875" h="91439">
                <a:moveTo>
                  <a:pt x="143255" y="0"/>
                </a:moveTo>
                <a:lnTo>
                  <a:pt x="67564" y="31114"/>
                </a:lnTo>
                <a:lnTo>
                  <a:pt x="118529" y="31114"/>
                </a:lnTo>
                <a:lnTo>
                  <a:pt x="150875" y="17906"/>
                </a:lnTo>
                <a:lnTo>
                  <a:pt x="146303" y="9143"/>
                </a:lnTo>
                <a:lnTo>
                  <a:pt x="143255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39662" y="3888521"/>
            <a:ext cx="74675" cy="134112"/>
          </a:xfrm>
          <a:custGeom>
            <a:avLst/>
            <a:gdLst/>
            <a:ahLst/>
            <a:cxnLst/>
            <a:rect l="l" t="t" r="r" b="b"/>
            <a:pathLst>
              <a:path w="74675" h="134112">
                <a:moveTo>
                  <a:pt x="31242" y="0"/>
                </a:moveTo>
                <a:lnTo>
                  <a:pt x="29209" y="59944"/>
                </a:lnTo>
                <a:lnTo>
                  <a:pt x="25019" y="60960"/>
                </a:lnTo>
                <a:lnTo>
                  <a:pt x="16891" y="65024"/>
                </a:lnTo>
                <a:lnTo>
                  <a:pt x="13334" y="67564"/>
                </a:lnTo>
                <a:lnTo>
                  <a:pt x="10287" y="70104"/>
                </a:lnTo>
                <a:lnTo>
                  <a:pt x="8254" y="73152"/>
                </a:lnTo>
                <a:lnTo>
                  <a:pt x="5588" y="76327"/>
                </a:lnTo>
                <a:lnTo>
                  <a:pt x="2540" y="82423"/>
                </a:lnTo>
                <a:lnTo>
                  <a:pt x="507" y="89535"/>
                </a:lnTo>
                <a:lnTo>
                  <a:pt x="70" y="92710"/>
                </a:lnTo>
                <a:lnTo>
                  <a:pt x="0" y="100330"/>
                </a:lnTo>
                <a:lnTo>
                  <a:pt x="507" y="103886"/>
                </a:lnTo>
                <a:lnTo>
                  <a:pt x="8763" y="120269"/>
                </a:lnTo>
                <a:lnTo>
                  <a:pt x="11302" y="123317"/>
                </a:lnTo>
                <a:lnTo>
                  <a:pt x="13843" y="125857"/>
                </a:lnTo>
                <a:lnTo>
                  <a:pt x="16891" y="128016"/>
                </a:lnTo>
                <a:lnTo>
                  <a:pt x="19939" y="129540"/>
                </a:lnTo>
                <a:lnTo>
                  <a:pt x="23495" y="131064"/>
                </a:lnTo>
                <a:lnTo>
                  <a:pt x="26670" y="132588"/>
                </a:lnTo>
                <a:lnTo>
                  <a:pt x="37338" y="134112"/>
                </a:lnTo>
                <a:lnTo>
                  <a:pt x="44450" y="133096"/>
                </a:lnTo>
                <a:lnTo>
                  <a:pt x="51689" y="131064"/>
                </a:lnTo>
                <a:lnTo>
                  <a:pt x="73151" y="106934"/>
                </a:lnTo>
                <a:lnTo>
                  <a:pt x="74168" y="103378"/>
                </a:lnTo>
                <a:lnTo>
                  <a:pt x="74603" y="100330"/>
                </a:lnTo>
                <a:lnTo>
                  <a:pt x="74675" y="92710"/>
                </a:lnTo>
                <a:lnTo>
                  <a:pt x="74168" y="89027"/>
                </a:lnTo>
                <a:lnTo>
                  <a:pt x="48641" y="60960"/>
                </a:lnTo>
                <a:lnTo>
                  <a:pt x="50655" y="1016"/>
                </a:lnTo>
                <a:lnTo>
                  <a:pt x="44450" y="1016"/>
                </a:lnTo>
                <a:lnTo>
                  <a:pt x="31242" y="0"/>
                </a:lnTo>
                <a:close/>
              </a:path>
              <a:path w="74675" h="134112">
                <a:moveTo>
                  <a:pt x="50673" y="508"/>
                </a:moveTo>
                <a:lnTo>
                  <a:pt x="44450" y="1016"/>
                </a:lnTo>
                <a:lnTo>
                  <a:pt x="50655" y="1016"/>
                </a:lnTo>
                <a:lnTo>
                  <a:pt x="50673" y="508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572250" y="3784890"/>
            <a:ext cx="135635" cy="74675"/>
          </a:xfrm>
          <a:custGeom>
            <a:avLst/>
            <a:gdLst/>
            <a:ahLst/>
            <a:cxnLst/>
            <a:rect l="l" t="t" r="r" b="b"/>
            <a:pathLst>
              <a:path w="135635" h="74675">
                <a:moveTo>
                  <a:pt x="2031" y="15747"/>
                </a:moveTo>
                <a:lnTo>
                  <a:pt x="1524" y="25399"/>
                </a:lnTo>
                <a:lnTo>
                  <a:pt x="0" y="34543"/>
                </a:lnTo>
                <a:lnTo>
                  <a:pt x="60959" y="42163"/>
                </a:lnTo>
                <a:lnTo>
                  <a:pt x="61467" y="46227"/>
                </a:lnTo>
                <a:lnTo>
                  <a:pt x="62991" y="50291"/>
                </a:lnTo>
                <a:lnTo>
                  <a:pt x="64515" y="53339"/>
                </a:lnTo>
                <a:lnTo>
                  <a:pt x="66039" y="56895"/>
                </a:lnTo>
                <a:lnTo>
                  <a:pt x="96265" y="74675"/>
                </a:lnTo>
                <a:lnTo>
                  <a:pt x="99821" y="74675"/>
                </a:lnTo>
                <a:lnTo>
                  <a:pt x="106933" y="73659"/>
                </a:lnTo>
                <a:lnTo>
                  <a:pt x="110489" y="72135"/>
                </a:lnTo>
                <a:lnTo>
                  <a:pt x="114173" y="71119"/>
                </a:lnTo>
                <a:lnTo>
                  <a:pt x="117728" y="69087"/>
                </a:lnTo>
                <a:lnTo>
                  <a:pt x="120776" y="67055"/>
                </a:lnTo>
                <a:lnTo>
                  <a:pt x="128396" y="59435"/>
                </a:lnTo>
                <a:lnTo>
                  <a:pt x="129920" y="56387"/>
                </a:lnTo>
                <a:lnTo>
                  <a:pt x="132079" y="53339"/>
                </a:lnTo>
                <a:lnTo>
                  <a:pt x="134111" y="46227"/>
                </a:lnTo>
                <a:lnTo>
                  <a:pt x="135127" y="43179"/>
                </a:lnTo>
                <a:lnTo>
                  <a:pt x="135635" y="39115"/>
                </a:lnTo>
                <a:lnTo>
                  <a:pt x="135635" y="35559"/>
                </a:lnTo>
                <a:lnTo>
                  <a:pt x="134619" y="28447"/>
                </a:lnTo>
                <a:lnTo>
                  <a:pt x="132442" y="23367"/>
                </a:lnTo>
                <a:lnTo>
                  <a:pt x="63500" y="23367"/>
                </a:lnTo>
                <a:lnTo>
                  <a:pt x="2031" y="15747"/>
                </a:lnTo>
                <a:close/>
              </a:path>
              <a:path w="135635" h="74675">
                <a:moveTo>
                  <a:pt x="96265" y="0"/>
                </a:moveTo>
                <a:lnTo>
                  <a:pt x="63500" y="23367"/>
                </a:lnTo>
                <a:lnTo>
                  <a:pt x="132442" y="23367"/>
                </a:lnTo>
                <a:lnTo>
                  <a:pt x="117220" y="5587"/>
                </a:lnTo>
                <a:lnTo>
                  <a:pt x="114173" y="3555"/>
                </a:lnTo>
                <a:lnTo>
                  <a:pt x="103377" y="507"/>
                </a:lnTo>
                <a:lnTo>
                  <a:pt x="99821" y="507"/>
                </a:lnTo>
                <a:lnTo>
                  <a:pt x="96265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04609" y="3717833"/>
            <a:ext cx="158496" cy="161544"/>
          </a:xfrm>
          <a:custGeom>
            <a:avLst/>
            <a:gdLst/>
            <a:ahLst/>
            <a:cxnLst/>
            <a:rect l="l" t="t" r="r" b="b"/>
            <a:pathLst>
              <a:path w="158496" h="161544">
                <a:moveTo>
                  <a:pt x="79248" y="0"/>
                </a:moveTo>
                <a:lnTo>
                  <a:pt x="41401" y="9906"/>
                </a:lnTo>
                <a:lnTo>
                  <a:pt x="9651" y="42037"/>
                </a:lnTo>
                <a:lnTo>
                  <a:pt x="0" y="80518"/>
                </a:lnTo>
                <a:lnTo>
                  <a:pt x="507" y="88773"/>
                </a:lnTo>
                <a:lnTo>
                  <a:pt x="13843" y="125730"/>
                </a:lnTo>
                <a:lnTo>
                  <a:pt x="48514" y="154813"/>
                </a:lnTo>
                <a:lnTo>
                  <a:pt x="79248" y="161544"/>
                </a:lnTo>
                <a:lnTo>
                  <a:pt x="87375" y="161036"/>
                </a:lnTo>
                <a:lnTo>
                  <a:pt x="123698" y="147447"/>
                </a:lnTo>
                <a:lnTo>
                  <a:pt x="149225" y="118999"/>
                </a:lnTo>
                <a:lnTo>
                  <a:pt x="158496" y="88773"/>
                </a:lnTo>
                <a:lnTo>
                  <a:pt x="158496" y="72771"/>
                </a:lnTo>
                <a:lnTo>
                  <a:pt x="145160" y="35814"/>
                </a:lnTo>
                <a:lnTo>
                  <a:pt x="117094" y="9906"/>
                </a:lnTo>
                <a:lnTo>
                  <a:pt x="7924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80681" y="3312449"/>
            <a:ext cx="300227" cy="272795"/>
          </a:xfrm>
          <a:custGeom>
            <a:avLst/>
            <a:gdLst/>
            <a:ahLst/>
            <a:cxnLst/>
            <a:rect l="l" t="t" r="r" b="b"/>
            <a:pathLst>
              <a:path w="300227" h="272796">
                <a:moveTo>
                  <a:pt x="157733" y="0"/>
                </a:moveTo>
                <a:lnTo>
                  <a:pt x="142494" y="0"/>
                </a:lnTo>
                <a:lnTo>
                  <a:pt x="134747" y="507"/>
                </a:lnTo>
                <a:lnTo>
                  <a:pt x="98551" y="7746"/>
                </a:lnTo>
                <a:lnTo>
                  <a:pt x="91821" y="9906"/>
                </a:lnTo>
                <a:lnTo>
                  <a:pt x="84962" y="12192"/>
                </a:lnTo>
                <a:lnTo>
                  <a:pt x="78612" y="15367"/>
                </a:lnTo>
                <a:lnTo>
                  <a:pt x="72389" y="18033"/>
                </a:lnTo>
                <a:lnTo>
                  <a:pt x="38861" y="41529"/>
                </a:lnTo>
                <a:lnTo>
                  <a:pt x="14985" y="71881"/>
                </a:lnTo>
                <a:lnTo>
                  <a:pt x="1777" y="107950"/>
                </a:lnTo>
                <a:lnTo>
                  <a:pt x="0" y="120650"/>
                </a:lnTo>
                <a:lnTo>
                  <a:pt x="0" y="134112"/>
                </a:lnTo>
                <a:lnTo>
                  <a:pt x="888" y="141350"/>
                </a:lnTo>
                <a:lnTo>
                  <a:pt x="1777" y="148081"/>
                </a:lnTo>
                <a:lnTo>
                  <a:pt x="3682" y="154431"/>
                </a:lnTo>
                <a:lnTo>
                  <a:pt x="5460" y="161289"/>
                </a:lnTo>
                <a:lnTo>
                  <a:pt x="24892" y="197357"/>
                </a:lnTo>
                <a:lnTo>
                  <a:pt x="28955" y="202819"/>
                </a:lnTo>
                <a:lnTo>
                  <a:pt x="38861" y="212725"/>
                </a:lnTo>
                <a:lnTo>
                  <a:pt x="44323" y="217677"/>
                </a:lnTo>
                <a:lnTo>
                  <a:pt x="49783" y="222250"/>
                </a:lnTo>
                <a:lnTo>
                  <a:pt x="46100" y="228981"/>
                </a:lnTo>
                <a:lnTo>
                  <a:pt x="21717" y="259714"/>
                </a:lnTo>
                <a:lnTo>
                  <a:pt x="17652" y="262381"/>
                </a:lnTo>
                <a:lnTo>
                  <a:pt x="13588" y="265175"/>
                </a:lnTo>
                <a:lnTo>
                  <a:pt x="9525" y="267843"/>
                </a:lnTo>
                <a:lnTo>
                  <a:pt x="4952" y="269620"/>
                </a:lnTo>
                <a:lnTo>
                  <a:pt x="0" y="271906"/>
                </a:lnTo>
                <a:lnTo>
                  <a:pt x="2285" y="271906"/>
                </a:lnTo>
                <a:lnTo>
                  <a:pt x="9017" y="272795"/>
                </a:lnTo>
                <a:lnTo>
                  <a:pt x="25273" y="272795"/>
                </a:lnTo>
                <a:lnTo>
                  <a:pt x="69596" y="261112"/>
                </a:lnTo>
                <a:lnTo>
                  <a:pt x="92201" y="244856"/>
                </a:lnTo>
                <a:lnTo>
                  <a:pt x="208406" y="244856"/>
                </a:lnTo>
                <a:lnTo>
                  <a:pt x="245491" y="225806"/>
                </a:lnTo>
                <a:lnTo>
                  <a:pt x="265810" y="208152"/>
                </a:lnTo>
                <a:lnTo>
                  <a:pt x="270382" y="203707"/>
                </a:lnTo>
                <a:lnTo>
                  <a:pt x="291210" y="171195"/>
                </a:lnTo>
                <a:lnTo>
                  <a:pt x="300177" y="134112"/>
                </a:lnTo>
                <a:lnTo>
                  <a:pt x="300227" y="120650"/>
                </a:lnTo>
                <a:lnTo>
                  <a:pt x="298450" y="107950"/>
                </a:lnTo>
                <a:lnTo>
                  <a:pt x="285369" y="71881"/>
                </a:lnTo>
                <a:lnTo>
                  <a:pt x="261366" y="41529"/>
                </a:lnTo>
                <a:lnTo>
                  <a:pt x="227837" y="18033"/>
                </a:lnTo>
                <a:lnTo>
                  <a:pt x="221487" y="15367"/>
                </a:lnTo>
                <a:lnTo>
                  <a:pt x="215264" y="12192"/>
                </a:lnTo>
                <a:lnTo>
                  <a:pt x="208406" y="9906"/>
                </a:lnTo>
                <a:lnTo>
                  <a:pt x="201675" y="7746"/>
                </a:lnTo>
                <a:lnTo>
                  <a:pt x="194818" y="5461"/>
                </a:lnTo>
                <a:lnTo>
                  <a:pt x="187578" y="3682"/>
                </a:lnTo>
                <a:lnTo>
                  <a:pt x="180339" y="2286"/>
                </a:lnTo>
                <a:lnTo>
                  <a:pt x="173227" y="1396"/>
                </a:lnTo>
                <a:lnTo>
                  <a:pt x="165480" y="507"/>
                </a:lnTo>
                <a:lnTo>
                  <a:pt x="157733" y="0"/>
                </a:lnTo>
                <a:close/>
              </a:path>
              <a:path w="300227" h="272796">
                <a:moveTo>
                  <a:pt x="208406" y="244856"/>
                </a:moveTo>
                <a:lnTo>
                  <a:pt x="92201" y="244856"/>
                </a:lnTo>
                <a:lnTo>
                  <a:pt x="99059" y="247014"/>
                </a:lnTo>
                <a:lnTo>
                  <a:pt x="105791" y="249300"/>
                </a:lnTo>
                <a:lnTo>
                  <a:pt x="113029" y="250698"/>
                </a:lnTo>
                <a:lnTo>
                  <a:pt x="120269" y="251968"/>
                </a:lnTo>
                <a:lnTo>
                  <a:pt x="127507" y="253364"/>
                </a:lnTo>
                <a:lnTo>
                  <a:pt x="134747" y="254254"/>
                </a:lnTo>
                <a:lnTo>
                  <a:pt x="142494" y="254762"/>
                </a:lnTo>
                <a:lnTo>
                  <a:pt x="157733" y="254762"/>
                </a:lnTo>
                <a:lnTo>
                  <a:pt x="165480" y="254254"/>
                </a:lnTo>
                <a:lnTo>
                  <a:pt x="173227" y="253364"/>
                </a:lnTo>
                <a:lnTo>
                  <a:pt x="180339" y="251968"/>
                </a:lnTo>
                <a:lnTo>
                  <a:pt x="187578" y="250698"/>
                </a:lnTo>
                <a:lnTo>
                  <a:pt x="194818" y="248919"/>
                </a:lnTo>
                <a:lnTo>
                  <a:pt x="201675" y="247014"/>
                </a:lnTo>
                <a:lnTo>
                  <a:pt x="208406" y="244856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69332" y="414886"/>
            <a:ext cx="6619493" cy="8551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000" b="1" spc="-20" dirty="0">
                <a:solidFill>
                  <a:srgbClr val="002060"/>
                </a:solidFill>
                <a:latin typeface="Calibri"/>
                <a:cs typeface="Calibri"/>
              </a:rPr>
              <a:t>Calcular </a:t>
            </a:r>
            <a:r>
              <a:rPr sz="4000" b="1" spc="-15" dirty="0">
                <a:solidFill>
                  <a:srgbClr val="002060"/>
                </a:solidFill>
                <a:latin typeface="Calibri"/>
                <a:cs typeface="Calibri"/>
              </a:rPr>
              <a:t>el </a:t>
            </a:r>
            <a:r>
              <a:rPr lang="es-MX" sz="4000" b="1" spc="-15" dirty="0">
                <a:solidFill>
                  <a:srgbClr val="002060"/>
                </a:solidFill>
                <a:latin typeface="Calibri"/>
                <a:cs typeface="Calibri"/>
              </a:rPr>
              <a:t>pago neto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16C6F753-C969-4675-9347-1ECFDEBA93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681" y="4549264"/>
            <a:ext cx="1654671" cy="2128161"/>
          </a:xfrm>
          <a:prstGeom prst="rect">
            <a:avLst/>
          </a:prstGeom>
        </p:spPr>
      </p:pic>
      <p:graphicFrame>
        <p:nvGraphicFramePr>
          <p:cNvPr id="42" name="object 38">
            <a:extLst>
              <a:ext uri="{FF2B5EF4-FFF2-40B4-BE49-F238E27FC236}">
                <a16:creationId xmlns:a16="http://schemas.microsoft.com/office/drawing/2014/main" id="{5B756453-76CD-4A04-9D2F-F8D4D45F8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827544"/>
              </p:ext>
            </p:extLst>
          </p:nvPr>
        </p:nvGraphicFramePr>
        <p:xfrm>
          <a:off x="575472" y="1544361"/>
          <a:ext cx="8057883" cy="28684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9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911"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ENT</a:t>
                      </a:r>
                      <a:r>
                        <a:rPr sz="2400" b="1" spc="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ADA</a:t>
                      </a:r>
                      <a:endParaRPr sz="2400" b="1" dirty="0">
                        <a:solidFill>
                          <a:srgbClr val="00206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lnT w="19050">
                      <a:solidFill>
                        <a:srgbClr val="18BA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9880" algn="l">
                        <a:lnSpc>
                          <a:spcPct val="100000"/>
                        </a:lnSpc>
                      </a:pPr>
                      <a:r>
                        <a:rPr lang="es-MX" sz="2400" b="1" spc="-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                  </a:t>
                      </a:r>
                      <a:r>
                        <a:rPr sz="2400" b="1" spc="-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2400" b="1" spc="-1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2400" b="1" spc="-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ESO</a:t>
                      </a:r>
                      <a:endParaRPr sz="2400" b="1" dirty="0">
                        <a:solidFill>
                          <a:srgbClr val="00206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lnT w="19050">
                      <a:solidFill>
                        <a:srgbClr val="18BA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</a:pPr>
                      <a:r>
                        <a:rPr lang="es-MX" sz="2400" b="1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2400" b="1" spc="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2400" b="1" spc="-1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DA</a:t>
                      </a:r>
                      <a:endParaRPr sz="2400" b="1" dirty="0">
                        <a:solidFill>
                          <a:srgbClr val="00206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lnT w="19050">
                      <a:solidFill>
                        <a:srgbClr val="18BAD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86"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</a:pPr>
                      <a:r>
                        <a:rPr lang="es-MX" sz="2400" spc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horas </a:t>
                      </a:r>
                    </a:p>
                    <a:p>
                      <a:pPr marL="280670">
                        <a:lnSpc>
                          <a:spcPct val="100000"/>
                        </a:lnSpc>
                      </a:pPr>
                      <a:r>
                        <a:rPr lang="es-MX" sz="2400" spc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salario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solidFill>
                      <a:srgbClr val="174669"/>
                    </a:solidFill>
                  </a:tcPr>
                </a:tc>
                <a:tc>
                  <a:txBody>
                    <a:bodyPr/>
                    <a:lstStyle/>
                    <a:p>
                      <a:pPr marL="63881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s-MX" sz="240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Pedir las </a:t>
                      </a:r>
                      <a:r>
                        <a:rPr lang="es-MX" sz="2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horas trabajadas</a:t>
                      </a:r>
                    </a:p>
                    <a:p>
                      <a:pPr marL="63881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s-MX" sz="2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Pedir el salario por hora</a:t>
                      </a:r>
                    </a:p>
                    <a:p>
                      <a:pPr marL="63881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s-MX" sz="2400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pagoNeto</a:t>
                      </a:r>
                      <a:r>
                        <a:rPr lang="es-MX" sz="2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= horas * salario</a:t>
                      </a:r>
                    </a:p>
                    <a:p>
                      <a:pPr marL="63881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s-MX" sz="2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Escribir </a:t>
                      </a:r>
                      <a:r>
                        <a:rPr lang="es-MX" sz="2400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pagoNeto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solidFill>
                      <a:srgbClr val="174669"/>
                    </a:solidFill>
                  </a:tcPr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</a:pPr>
                      <a:r>
                        <a:rPr lang="es-MX" sz="2400" spc="0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pagoNeto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solidFill>
                      <a:srgbClr val="174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12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 txBox="1"/>
          <p:nvPr/>
        </p:nvSpPr>
        <p:spPr>
          <a:xfrm>
            <a:off x="1262253" y="476672"/>
            <a:ext cx="6619493" cy="8551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000" b="1" spc="-20" dirty="0">
                <a:solidFill>
                  <a:srgbClr val="002060"/>
                </a:solidFill>
                <a:latin typeface="Calibri"/>
                <a:cs typeface="Calibri"/>
              </a:rPr>
              <a:t>Calcular </a:t>
            </a:r>
            <a:r>
              <a:rPr sz="4000" b="1" spc="-15" dirty="0">
                <a:solidFill>
                  <a:srgbClr val="002060"/>
                </a:solidFill>
                <a:latin typeface="Calibri"/>
                <a:cs typeface="Calibri"/>
              </a:rPr>
              <a:t>el </a:t>
            </a:r>
            <a:r>
              <a:rPr lang="es-MX" sz="4000" b="1" spc="-15" dirty="0">
                <a:solidFill>
                  <a:srgbClr val="002060"/>
                </a:solidFill>
                <a:latin typeface="Calibri"/>
                <a:cs typeface="Calibri"/>
              </a:rPr>
              <a:t>pago neto</a:t>
            </a:r>
          </a:p>
          <a:p>
            <a:pPr marL="12700" algn="ctr"/>
            <a:r>
              <a:rPr lang="es-MX" sz="2400" b="1" spc="-1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Casos de prueba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16C6F753-C969-4675-9347-1ECFDEBA93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509120"/>
            <a:ext cx="1642867" cy="2112980"/>
          </a:xfrm>
          <a:prstGeom prst="rect">
            <a:avLst/>
          </a:prstGeom>
        </p:spPr>
      </p:pic>
      <p:graphicFrame>
        <p:nvGraphicFramePr>
          <p:cNvPr id="43" name="Tabla 42">
            <a:extLst>
              <a:ext uri="{FF2B5EF4-FFF2-40B4-BE49-F238E27FC236}">
                <a16:creationId xmlns:a16="http://schemas.microsoft.com/office/drawing/2014/main" id="{939D38FA-213A-4B26-AFBE-3321D5A96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108836"/>
              </p:ext>
            </p:extLst>
          </p:nvPr>
        </p:nvGraphicFramePr>
        <p:xfrm>
          <a:off x="1547664" y="2071302"/>
          <a:ext cx="6120680" cy="2112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338">
                  <a:extLst>
                    <a:ext uri="{9D8B030D-6E8A-4147-A177-3AD203B41FA5}">
                      <a16:colId xmlns:a16="http://schemas.microsoft.com/office/drawing/2014/main" val="759293770"/>
                    </a:ext>
                  </a:extLst>
                </a:gridCol>
                <a:gridCol w="2499870">
                  <a:extLst>
                    <a:ext uri="{9D8B030D-6E8A-4147-A177-3AD203B41FA5}">
                      <a16:colId xmlns:a16="http://schemas.microsoft.com/office/drawing/2014/main" val="2302406452"/>
                    </a:ext>
                  </a:extLst>
                </a:gridCol>
                <a:gridCol w="2123472">
                  <a:extLst>
                    <a:ext uri="{9D8B030D-6E8A-4147-A177-3AD203B41FA5}">
                      <a16:colId xmlns:a16="http://schemas.microsoft.com/office/drawing/2014/main" val="2658956394"/>
                    </a:ext>
                  </a:extLst>
                </a:gridCol>
              </a:tblGrid>
              <a:tr h="528245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horas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salario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Pago neto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959547"/>
                  </a:ext>
                </a:extLst>
              </a:tr>
              <a:tr h="528245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15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100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/>
                        <a:t>1</a:t>
                      </a:r>
                      <a:r>
                        <a:rPr lang="es-MX" sz="2400" b="1" dirty="0"/>
                        <a:t>500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202940"/>
                  </a:ext>
                </a:extLst>
              </a:tr>
              <a:tr h="528245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  <a:r>
                        <a:rPr lang="es-MX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125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1250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235849"/>
                  </a:ext>
                </a:extLst>
              </a:tr>
              <a:tr h="528245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40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112.5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/>
                        <a:t>4500</a:t>
                      </a:r>
                      <a:endParaRPr lang="es-MX" sz="2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3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540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909453" y="362393"/>
            <a:ext cx="3643338" cy="952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6000" b="1" dirty="0">
                <a:solidFill>
                  <a:srgbClr val="002060"/>
                </a:solidFill>
                <a:latin typeface="Calibri"/>
                <a:cs typeface="Calibri"/>
              </a:rPr>
              <a:t>Ejemplo: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18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7567D123-F0B7-4DC7-B130-718E3DCF38FA}"/>
              </a:ext>
            </a:extLst>
          </p:cNvPr>
          <p:cNvSpPr txBox="1"/>
          <p:nvPr/>
        </p:nvSpPr>
        <p:spPr>
          <a:xfrm>
            <a:off x="1199059" y="1542370"/>
            <a:ext cx="6747054" cy="6682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00099"/>
              </a:lnSpc>
            </a:pPr>
            <a:r>
              <a:rPr lang="es-ES" sz="32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Precio válido</a:t>
            </a:r>
            <a:endParaRPr sz="32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0" name="Google Shape;259;p25">
            <a:extLst>
              <a:ext uri="{FF2B5EF4-FFF2-40B4-BE49-F238E27FC236}">
                <a16:creationId xmlns:a16="http://schemas.microsoft.com/office/drawing/2014/main" id="{96642953-4C1E-4425-A730-191BB1FFE57A}"/>
              </a:ext>
            </a:extLst>
          </p:cNvPr>
          <p:cNvSpPr txBox="1"/>
          <p:nvPr/>
        </p:nvSpPr>
        <p:spPr>
          <a:xfrm>
            <a:off x="1159011" y="2438057"/>
            <a:ext cx="7085397" cy="171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indent="-342900" algn="just">
              <a:spcBef>
                <a:spcPts val="600"/>
              </a:spcBef>
              <a:buClr>
                <a:schemeClr val="accent5">
                  <a:lumMod val="50000"/>
                </a:schemeClr>
              </a:buClr>
              <a:buSzPts val="2450"/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Calibri"/>
                <a:sym typeface="Corbel"/>
              </a:rPr>
              <a:t>Escribe un diseño para verificar si un precio es válido o no lo es. </a:t>
            </a:r>
          </a:p>
          <a:p>
            <a:pPr marL="355600" indent="-342900" algn="just">
              <a:spcBef>
                <a:spcPts val="600"/>
              </a:spcBef>
              <a:buClr>
                <a:schemeClr val="accent5">
                  <a:lumMod val="50000"/>
                </a:schemeClr>
              </a:buClr>
              <a:buSzPts val="2450"/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Calibri"/>
                <a:sym typeface="Corbel"/>
              </a:rPr>
              <a:t>Es válido si es un valor positivo y no lo es si es negativo o cero.</a:t>
            </a:r>
            <a:endParaRPr sz="2400" dirty="0">
              <a:solidFill>
                <a:schemeClr val="bg2">
                  <a:lumMod val="25000"/>
                </a:schemeClr>
              </a:solidFill>
              <a:cs typeface="Calibri"/>
              <a:sym typeface="Corbel"/>
            </a:endParaRPr>
          </a:p>
        </p:txBody>
      </p:sp>
      <p:pic>
        <p:nvPicPr>
          <p:cNvPr id="19" name="Imagen 18" descr="Imagen que contiene tabla, lego, silla, blanco&#10;&#10;Descripción generada automáticamente">
            <a:extLst>
              <a:ext uri="{FF2B5EF4-FFF2-40B4-BE49-F238E27FC236}">
                <a16:creationId xmlns:a16="http://schemas.microsoft.com/office/drawing/2014/main" id="{37C50ACD-31DC-458A-AEA1-CB52361D5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409" y="4102906"/>
            <a:ext cx="1987889" cy="242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89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312610" y="293315"/>
            <a:ext cx="4863083" cy="952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ES" sz="4000" b="1" dirty="0">
                <a:solidFill>
                  <a:srgbClr val="002060"/>
                </a:solidFill>
                <a:latin typeface="Calibri"/>
                <a:cs typeface="Calibri"/>
              </a:rPr>
              <a:t>Precio válido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19</a:t>
            </a:fld>
            <a:endParaRPr sz="1200">
              <a:latin typeface="Calibri"/>
              <a:cs typeface="Calibri"/>
            </a:endParaRPr>
          </a:p>
        </p:txBody>
      </p:sp>
      <p:pic>
        <p:nvPicPr>
          <p:cNvPr id="19" name="Imagen 18" descr="Imagen que contiene tabla, lego, silla, blanco&#10;&#10;Descripción generada automáticamente">
            <a:extLst>
              <a:ext uri="{FF2B5EF4-FFF2-40B4-BE49-F238E27FC236}">
                <a16:creationId xmlns:a16="http://schemas.microsoft.com/office/drawing/2014/main" id="{37C50ACD-31DC-458A-AEA1-CB52361D5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509120"/>
            <a:ext cx="1679366" cy="2049015"/>
          </a:xfrm>
          <a:prstGeom prst="rect">
            <a:avLst/>
          </a:prstGeom>
        </p:spPr>
      </p:pic>
      <p:graphicFrame>
        <p:nvGraphicFramePr>
          <p:cNvPr id="21" name="object 38">
            <a:extLst>
              <a:ext uri="{FF2B5EF4-FFF2-40B4-BE49-F238E27FC236}">
                <a16:creationId xmlns:a16="http://schemas.microsoft.com/office/drawing/2014/main" id="{6F56D1C1-7BC0-4D90-8EC2-60A176EE7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78815"/>
              </p:ext>
            </p:extLst>
          </p:nvPr>
        </p:nvGraphicFramePr>
        <p:xfrm>
          <a:off x="312610" y="1272246"/>
          <a:ext cx="8723886" cy="2952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2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9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499"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ENT</a:t>
                      </a:r>
                      <a:r>
                        <a:rPr sz="2400" b="1" spc="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ADA</a:t>
                      </a:r>
                      <a:endParaRPr sz="2400" b="1" dirty="0">
                        <a:solidFill>
                          <a:srgbClr val="00206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lnT w="19050">
                      <a:solidFill>
                        <a:srgbClr val="18BA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9880" algn="l">
                        <a:lnSpc>
                          <a:spcPct val="100000"/>
                        </a:lnSpc>
                      </a:pPr>
                      <a:r>
                        <a:rPr lang="es-MX" sz="2400" b="1" spc="-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                          </a:t>
                      </a:r>
                      <a:r>
                        <a:rPr sz="2400" b="1" spc="-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2400" b="1" spc="-1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2400" b="1" spc="-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ESO</a:t>
                      </a:r>
                      <a:endParaRPr sz="2400" b="1" dirty="0">
                        <a:solidFill>
                          <a:srgbClr val="00206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lnT w="19050">
                      <a:solidFill>
                        <a:srgbClr val="18BA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</a:pPr>
                      <a:r>
                        <a:rPr lang="es-ES" sz="2400" b="1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2400" b="1" spc="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2400" b="1" spc="-1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2400" b="1" spc="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DA</a:t>
                      </a:r>
                      <a:endParaRPr sz="2400" b="1" dirty="0">
                        <a:solidFill>
                          <a:srgbClr val="00206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lnT w="19050">
                      <a:solidFill>
                        <a:srgbClr val="18BAD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3829"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</a:pPr>
                      <a:r>
                        <a:rPr lang="es-MX" sz="2400" spc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Precio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solidFill>
                      <a:srgbClr val="174669"/>
                    </a:solidFill>
                  </a:tcPr>
                </a:tc>
                <a:tc>
                  <a:txBody>
                    <a:bodyPr/>
                    <a:lstStyle/>
                    <a:p>
                      <a:pPr marL="63881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s-MX" sz="2400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Pedir el precio</a:t>
                      </a:r>
                      <a:endParaRPr lang="es-MX" sz="2400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  <a:p>
                      <a:pPr marL="63881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s-MX" sz="2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 el precio es menor o igual a cero</a:t>
                      </a:r>
                    </a:p>
                    <a:p>
                      <a:pPr marL="181610">
                        <a:lnSpc>
                          <a:spcPct val="100000"/>
                        </a:lnSpc>
                      </a:pPr>
                      <a:r>
                        <a:rPr lang="es-MX" sz="2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             Escribir “No es válido”</a:t>
                      </a:r>
                    </a:p>
                    <a:p>
                      <a:pPr marL="18161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s-MX" sz="2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     Sino</a:t>
                      </a:r>
                    </a:p>
                    <a:p>
                      <a:pPr marL="181610">
                        <a:lnSpc>
                          <a:spcPct val="100000"/>
                        </a:lnSpc>
                      </a:pPr>
                      <a:r>
                        <a:rPr lang="es-MX" sz="2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             Escribir “Es válido”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solidFill>
                      <a:srgbClr val="174669"/>
                    </a:solidFill>
                  </a:tcPr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</a:pPr>
                      <a:r>
                        <a:rPr lang="es-MX" sz="2400" spc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 válido o No es válido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9050">
                      <a:solidFill>
                        <a:srgbClr val="18BAD4"/>
                      </a:solidFill>
                      <a:prstDash val="solid"/>
                    </a:lnL>
                    <a:lnR w="19050">
                      <a:solidFill>
                        <a:srgbClr val="18BAD4"/>
                      </a:solidFill>
                      <a:prstDash val="solid"/>
                    </a:lnR>
                    <a:solidFill>
                      <a:srgbClr val="174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59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948466" y="393051"/>
            <a:ext cx="4863083" cy="952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ES" sz="4000" b="1" dirty="0">
                <a:solidFill>
                  <a:srgbClr val="002060"/>
                </a:solidFill>
                <a:latin typeface="Calibri"/>
                <a:cs typeface="Calibri"/>
              </a:rPr>
              <a:t>Precio válido</a:t>
            </a:r>
          </a:p>
          <a:p>
            <a:pPr marL="12700" algn="ctr"/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Casos de prueba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20</a:t>
            </a:fld>
            <a:endParaRPr sz="1200">
              <a:latin typeface="Calibri"/>
              <a:cs typeface="Calibri"/>
            </a:endParaRPr>
          </a:p>
        </p:txBody>
      </p:sp>
      <p:pic>
        <p:nvPicPr>
          <p:cNvPr id="19" name="Imagen 18" descr="Imagen que contiene tabla, lego, silla, blanco&#10;&#10;Descripción generada automáticamente">
            <a:extLst>
              <a:ext uri="{FF2B5EF4-FFF2-40B4-BE49-F238E27FC236}">
                <a16:creationId xmlns:a16="http://schemas.microsoft.com/office/drawing/2014/main" id="{37C50ACD-31DC-458A-AEA1-CB52361D5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4" y="4340627"/>
            <a:ext cx="1987889" cy="2425447"/>
          </a:xfrm>
          <a:prstGeom prst="rect">
            <a:avLst/>
          </a:prstGeom>
        </p:spPr>
      </p:pic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171AACA0-CFDF-4E12-A55E-B239149D3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220776"/>
              </p:ext>
            </p:extLst>
          </p:nvPr>
        </p:nvGraphicFramePr>
        <p:xfrm>
          <a:off x="1691680" y="1772816"/>
          <a:ext cx="5976664" cy="21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570">
                  <a:extLst>
                    <a:ext uri="{9D8B030D-6E8A-4147-A177-3AD203B41FA5}">
                      <a16:colId xmlns:a16="http://schemas.microsoft.com/office/drawing/2014/main" val="759293770"/>
                    </a:ext>
                  </a:extLst>
                </a:gridCol>
                <a:gridCol w="3505094">
                  <a:extLst>
                    <a:ext uri="{9D8B030D-6E8A-4147-A177-3AD203B41FA5}">
                      <a16:colId xmlns:a16="http://schemas.microsoft.com/office/drawing/2014/main" val="2658956394"/>
                    </a:ext>
                  </a:extLst>
                </a:gridCol>
              </a:tblGrid>
              <a:tr h="603918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precio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Resultado esperado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959547"/>
                  </a:ext>
                </a:extLst>
              </a:tr>
              <a:tr h="518774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spc="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sz="2400" spc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  <a:r>
                        <a:rPr sz="2400" b="1" spc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b="1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  <a:r>
                        <a:rPr sz="2400" b="1" spc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b="1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á</a:t>
                      </a:r>
                      <a:r>
                        <a:rPr sz="2400" b="1" spc="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  <a:r>
                        <a:rPr sz="2400" b="1" spc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</a:t>
                      </a:r>
                      <a:endParaRPr sz="2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202940"/>
                  </a:ext>
                </a:extLst>
              </a:tr>
              <a:tr h="518774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  <a:endParaRPr sz="2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b="1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á</a:t>
                      </a:r>
                      <a:r>
                        <a:rPr sz="2400" b="1" spc="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</a:t>
                      </a: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r>
                        <a:rPr sz="2400" b="1" spc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  <a:endParaRPr sz="2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235849"/>
                  </a:ext>
                </a:extLst>
              </a:tr>
              <a:tr h="518774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2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  <a:r>
                        <a:rPr sz="2400" b="1" spc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b="1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  <a:r>
                        <a:rPr sz="2400" b="1" spc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b="1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á</a:t>
                      </a:r>
                      <a:r>
                        <a:rPr sz="2400" b="1" spc="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  <a:r>
                        <a:rPr sz="2400" b="1" spc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sz="2400" b="1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</a:t>
                      </a:r>
                      <a:endParaRPr sz="2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3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463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21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28913" y="188640"/>
            <a:ext cx="6353852" cy="1257249"/>
          </a:xfrm>
          <a:prstGeom prst="rect">
            <a:avLst/>
          </a:prstGeom>
        </p:spPr>
        <p:txBody>
          <a:bodyPr vert="horz" wrap="square" lIns="0" tIns="335534" rIns="0" bIns="0" rtlCol="0" anchor="ctr">
            <a:noAutofit/>
          </a:bodyPr>
          <a:lstStyle/>
          <a:p>
            <a:pPr marL="1368425" algn="l"/>
            <a:r>
              <a:rPr lang="es-MX" sz="4000" b="1" spc="-15" dirty="0">
                <a:solidFill>
                  <a:srgbClr val="002060"/>
                </a:solidFill>
                <a:latin typeface="Calibri"/>
                <a:cs typeface="Calibri"/>
              </a:rPr>
              <a:t>Ejercicios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1ED6CFD-F85A-4D52-B63D-0FA1EBCDEDCE}"/>
              </a:ext>
            </a:extLst>
          </p:cNvPr>
          <p:cNvSpPr/>
          <p:nvPr/>
        </p:nvSpPr>
        <p:spPr>
          <a:xfrm>
            <a:off x="1259632" y="1772816"/>
            <a:ext cx="7128792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600"/>
              </a:spcBef>
            </a:pPr>
            <a:r>
              <a:rPr lang="es-MX" sz="2400" spc="-10" dirty="0">
                <a:solidFill>
                  <a:schemeClr val="bg2">
                    <a:lumMod val="25000"/>
                  </a:schemeClr>
                </a:solidFill>
                <a:cs typeface="Calibri"/>
              </a:rPr>
              <a:t>Escribe el </a:t>
            </a:r>
            <a:r>
              <a:rPr lang="es-MX" sz="2400" b="1" spc="-1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Diagrama Entrada – Proceso – Salida </a:t>
            </a:r>
            <a:r>
              <a:rPr lang="es-MX" sz="2400" spc="-10" dirty="0">
                <a:solidFill>
                  <a:schemeClr val="bg2">
                    <a:lumMod val="25000"/>
                  </a:schemeClr>
                </a:solidFill>
                <a:cs typeface="Calibri"/>
              </a:rPr>
              <a:t>de los siguientes ejercicios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cs typeface="Calibri"/>
              </a:rPr>
              <a:t>.</a:t>
            </a: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CAEBE9A8-403A-45E9-9811-ECAB090D2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338" y="2132856"/>
            <a:ext cx="6926468" cy="397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115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22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982</TotalTime>
  <Words>578</Words>
  <Application>Microsoft Office PowerPoint</Application>
  <PresentationFormat>Presentación en pantalla (4:3)</PresentationFormat>
  <Paragraphs>154</Paragraphs>
  <Slides>22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Arial</vt:lpstr>
      <vt:lpstr>Calibri</vt:lpstr>
      <vt:lpstr>Dom Casual</vt:lpstr>
      <vt:lpstr>Gill Sans MT</vt:lpstr>
      <vt:lpstr>Verdana</vt:lpstr>
      <vt:lpstr>Wingdings</vt:lpstr>
      <vt:lpstr>Tema de Office</vt:lpstr>
      <vt:lpstr>TC 1037  Pensamiento algorítmico</vt:lpstr>
      <vt:lpstr>Solución de problemas</vt:lpstr>
      <vt:lpstr>Solución de problemas</vt:lpstr>
      <vt:lpstr>Casos de prueba</vt:lpstr>
      <vt:lpstr>Algoritmos</vt:lpstr>
      <vt:lpstr>Algoritmos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61</cp:revision>
  <dcterms:created xsi:type="dcterms:W3CDTF">2013-06-11T22:32:36Z</dcterms:created>
  <dcterms:modified xsi:type="dcterms:W3CDTF">2026-08-07T00:43:39Z</dcterms:modified>
</cp:coreProperties>
</file>