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84" r:id="rId3"/>
    <p:sldId id="259" r:id="rId4"/>
    <p:sldId id="283" r:id="rId5"/>
    <p:sldId id="285" r:id="rId6"/>
    <p:sldId id="258" r:id="rId7"/>
    <p:sldId id="298" r:id="rId8"/>
    <p:sldId id="300" r:id="rId9"/>
    <p:sldId id="301" r:id="rId10"/>
    <p:sldId id="358" r:id="rId11"/>
    <p:sldId id="288" r:id="rId12"/>
    <p:sldId id="289" r:id="rId13"/>
    <p:sldId id="290" r:id="rId14"/>
    <p:sldId id="302" r:id="rId15"/>
    <p:sldId id="303" r:id="rId16"/>
    <p:sldId id="305" r:id="rId17"/>
    <p:sldId id="291" r:id="rId18"/>
    <p:sldId id="292" r:id="rId19"/>
    <p:sldId id="293" r:id="rId20"/>
    <p:sldId id="344" r:id="rId21"/>
    <p:sldId id="345" r:id="rId22"/>
    <p:sldId id="359" r:id="rId23"/>
    <p:sldId id="360" r:id="rId24"/>
    <p:sldId id="282" r:id="rId2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93817" autoAdjust="0"/>
  </p:normalViewPr>
  <p:slideViewPr>
    <p:cSldViewPr>
      <p:cViewPr>
        <p:scale>
          <a:sx n="73" d="100"/>
          <a:sy n="73" d="100"/>
        </p:scale>
        <p:origin x="-316" y="-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9-29T14:51:53.995" v="18" actId="1076"/>
      <pc:docMkLst>
        <pc:docMk/>
      </pc:docMkLst>
      <pc:sldChg chg="modSp mod">
        <pc:chgData name="Lizethe Pérez Fuertes" userId="4ae9ef87-2a7d-42f8-8dfa-0a501a9e2ff4" providerId="ADAL" clId="{FDDD45CB-1330-4033-A842-3D2746AFF7C7}" dt="2026-09-29T14:51:53.995" v="18" actId="1076"/>
        <pc:sldMkLst>
          <pc:docMk/>
          <pc:sldMk cId="1694882742" sldId="360"/>
        </pc:sldMkLst>
        <pc:spChg chg="mod">
          <ac:chgData name="Lizethe Pérez Fuertes" userId="4ae9ef87-2a7d-42f8-8dfa-0a501a9e2ff4" providerId="ADAL" clId="{FDDD45CB-1330-4033-A842-3D2746AFF7C7}" dt="2026-09-29T14:51:53.995" v="18" actId="1076"/>
          <ac:spMkLst>
            <pc:docMk/>
            <pc:sldMk cId="1694882742" sldId="360"/>
            <ac:spMk id="24" creationId="{38AB52DC-E9F4-41A5-82E5-103F8EF73AF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06841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06199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264096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25041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7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211868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8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906349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692055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9453852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944019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14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014973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15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69102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16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126091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19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718431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20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39803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21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93156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22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819886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662DF-BC41-459C-91F2-8BDB7DA00AEC}" type="slidenum">
              <a:rPr lang="es-MX" smtClean="0"/>
              <a:t>23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9761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44696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80414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29/09/2026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45840" y="332656"/>
            <a:ext cx="7342584" cy="1470025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1037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Pensamiento algorítmico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9672" y="1916832"/>
            <a:ext cx="5976664" cy="1613913"/>
          </a:xfrm>
        </p:spPr>
        <p:txBody>
          <a:bodyPr rtlCol="0">
            <a:normAutofit/>
          </a:bodyPr>
          <a:lstStyle/>
          <a:p>
            <a:pPr eaLnBrk="1" fontAlgn="auto" hangingPunct="1">
              <a:lnSpc>
                <a:spcPts val="4000"/>
              </a:lnSpc>
              <a:spcAft>
                <a:spcPts val="0"/>
              </a:spcAft>
              <a:defRPr/>
            </a:pPr>
            <a:r>
              <a:rPr lang="es-MX" b="1">
                <a:solidFill>
                  <a:schemeClr val="accent4">
                    <a:lumMod val="50000"/>
                  </a:schemeClr>
                </a:solidFill>
              </a:rPr>
              <a:t>Estructuras condicionales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  <a:endParaRPr lang="es-MX" sz="2000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99990CD-4FEE-46A2-B825-7A6DDB6D7A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544" y="3068960"/>
            <a:ext cx="2723176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3059490" y="332656"/>
            <a:ext cx="3289618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if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3859" y="1412776"/>
            <a:ext cx="7920880" cy="451685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Es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Georgia"/>
              </a:rPr>
              <a:t>la estructura de código en la cual una </a:t>
            </a: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  <a:sym typeface="Georgia"/>
              </a:rPr>
              <a:t>condición </a:t>
            </a:r>
            <a:r>
              <a:rPr lang="es-MX" sz="2400" b="1" i="1" dirty="0">
                <a:solidFill>
                  <a:schemeClr val="accent3">
                    <a:lumMod val="75000"/>
                  </a:schemeClr>
                </a:solidFill>
                <a:cs typeface="Calibri"/>
                <a:sym typeface="Georgia"/>
              </a:rPr>
              <a:t>(expresión lógica)</a:t>
            </a:r>
            <a:r>
              <a:rPr lang="es-MX" sz="2400" b="1" dirty="0">
                <a:solidFill>
                  <a:schemeClr val="accent3">
                    <a:lumMod val="75000"/>
                  </a:schemeClr>
                </a:solidFill>
                <a:cs typeface="Calibri"/>
                <a:sym typeface="Georgia"/>
              </a:rPr>
              <a:t>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Georgia"/>
              </a:rPr>
              <a:t>determina la ejecución de un bloque de código por única vez.</a:t>
            </a:r>
          </a:p>
          <a:p>
            <a:pPr marL="12700" marR="12700" algn="just">
              <a:lnSpc>
                <a:spcPct val="150000"/>
              </a:lnSpc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  <a:sym typeface="Georgia"/>
              </a:rPr>
              <a:t>Esta estructura puede ser de tres tipos: 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Georgia"/>
              </a:rPr>
              <a:t>Condicional simple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Georgia"/>
              </a:rPr>
              <a:t>Condicional compuesta</a:t>
            </a:r>
          </a:p>
          <a:p>
            <a:pPr marL="469900" marR="12700" indent="-457200" algn="just">
              <a:lnSpc>
                <a:spcPct val="150000"/>
              </a:lnSpc>
              <a:spcAft>
                <a:spcPts val="1200"/>
              </a:spcAft>
              <a:buFont typeface="+mj-lt"/>
              <a:buAutoNum type="arabicPeriod"/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  <a:sym typeface="Georgia"/>
              </a:rPr>
              <a:t>Condicional anidada</a:t>
            </a:r>
            <a:endParaRPr sz="2400" b="1" dirty="0">
              <a:solidFill>
                <a:schemeClr val="accent6">
                  <a:lumMod val="75000"/>
                </a:schemeClr>
              </a:solidFill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2</a:t>
            </a:r>
            <a:endParaRPr sz="1200" dirty="0">
              <a:latin typeface="Calibri"/>
              <a:cs typeface="Calibri"/>
            </a:endParaRPr>
          </a:p>
        </p:txBody>
      </p:sp>
      <p:pic>
        <p:nvPicPr>
          <p:cNvPr id="17" name="Imagen 16" descr="Imagen que contiene dibujo&#10;&#10;Descripción generada automáticamente">
            <a:extLst>
              <a:ext uri="{FF2B5EF4-FFF2-40B4-BE49-F238E27FC236}">
                <a16:creationId xmlns:a16="http://schemas.microsoft.com/office/drawing/2014/main" id="{3C117393-D11E-42F1-8CB7-1478BB67B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3839090"/>
            <a:ext cx="2300908" cy="209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05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70379" y="3112522"/>
            <a:ext cx="5829174" cy="68325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 err="1">
                <a:solidFill>
                  <a:srgbClr val="002060"/>
                </a:solidFill>
                <a:latin typeface="Calibri"/>
                <a:cs typeface="Calibri"/>
              </a:rPr>
              <a:t>Condicional</a:t>
            </a:r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 simple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827584" y="1283781"/>
            <a:ext cx="7704856" cy="264927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Toma una decisión referente a la acción de ejecutar un bloque de código, basándose en el resultado (verdadero o falso) de una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  <a:p>
            <a:pPr marL="12700" marR="12700" algn="just">
              <a:lnSpc>
                <a:spcPct val="150000"/>
              </a:lnSpc>
              <a:spcBef>
                <a:spcPts val="1200"/>
              </a:spcBef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Cuando se ejecuta la condicional simple, primero se evalúa la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b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(</a:t>
            </a:r>
            <a:r>
              <a:rPr lang="es-MX" sz="2000" i="1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Expresión lógica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), si el resultado es verdadero (true) entonces se ejecutan las instrucciones del Código del if.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4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2051720" y="332656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simple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3B862AD-C940-46C1-A0C5-13F297C83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7881" y="4221025"/>
            <a:ext cx="4724399" cy="219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329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092371" y="1466890"/>
            <a:ext cx="7151355" cy="9406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estructura básica de la condicional simple en Python tiene la siguiente forma: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5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2267744" y="361660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simple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9" name="Google Shape;65;p9">
            <a:extLst>
              <a:ext uri="{FF2B5EF4-FFF2-40B4-BE49-F238E27FC236}">
                <a16:creationId xmlns:a16="http://schemas.microsoft.com/office/drawing/2014/main" id="{DD55D289-0BCE-4A13-8697-AACC8060C7AC}"/>
              </a:ext>
            </a:extLst>
          </p:cNvPr>
          <p:cNvSpPr txBox="1"/>
          <p:nvPr/>
        </p:nvSpPr>
        <p:spPr>
          <a:xfrm>
            <a:off x="1122976" y="2996952"/>
            <a:ext cx="4673636" cy="1635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"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8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condición:</a:t>
            </a:r>
            <a:endParaRPr sz="2800" dirty="0">
              <a:solidFill>
                <a:schemeClr val="accent6">
                  <a:lumMod val="75000"/>
                </a:schemeClr>
              </a:solidFill>
            </a:endParaRPr>
          </a:p>
          <a:p>
            <a:pPr marL="745490">
              <a:lnSpc>
                <a:spcPct val="150000"/>
              </a:lnSpc>
            </a:pP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endParaRPr lang="en-US" sz="28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5490"/>
            <a:endParaRPr lang="en-US" sz="36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DCA369E-85A1-4EA3-A25B-5F1ED5112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68" y="3453796"/>
            <a:ext cx="4283214" cy="199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779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176724" y="443983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simple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22391" y="1598030"/>
            <a:ext cx="8928992" cy="43090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094230">
              <a:spcAft>
                <a:spcPts val="1200"/>
              </a:spcAft>
            </a:pP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 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Ejemplo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de sentencia if en su forma 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más</a:t>
            </a:r>
            <a:r>
              <a:rPr lang="es-ES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simple: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75657" y="2558907"/>
            <a:ext cx="1612703" cy="65608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200" b="1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if</a:t>
            </a:r>
            <a:r>
              <a:rPr sz="3200" b="1" spc="-10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x&gt;0:</a:t>
            </a:r>
            <a:endParaRPr sz="3200" dirty="0">
              <a:solidFill>
                <a:schemeClr val="accent6">
                  <a:lumMod val="75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828544" y="3304901"/>
            <a:ext cx="6019590" cy="56549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pri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n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t</a:t>
            </a:r>
            <a:r>
              <a:rPr sz="3200" b="1" spc="-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(</a:t>
            </a:r>
            <a:r>
              <a:rPr lang="es-MX"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"</a:t>
            </a:r>
            <a:r>
              <a:rPr sz="3200" b="1" spc="-10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x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es</a:t>
            </a:r>
            <a:r>
              <a:rPr sz="3200" b="1" spc="-10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u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n 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núme</a:t>
            </a:r>
            <a:r>
              <a:rPr sz="3200" b="1" spc="-10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r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o</a:t>
            </a:r>
            <a:r>
              <a:rPr sz="3200" b="1" spc="5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 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p</a:t>
            </a:r>
            <a:r>
              <a:rPr sz="3200" b="1" spc="5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o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siti</a:t>
            </a:r>
            <a:r>
              <a:rPr sz="3200" b="1" spc="-40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v</a:t>
            </a:r>
            <a:r>
              <a:rPr sz="3200" b="1" dirty="0" err="1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o</a:t>
            </a:r>
            <a:r>
              <a:rPr lang="es-MX"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"</a:t>
            </a:r>
            <a:r>
              <a:rPr sz="3200" b="1" dirty="0">
                <a:solidFill>
                  <a:schemeClr val="bg2">
                    <a:lumMod val="10000"/>
                  </a:schemeClr>
                </a:solidFill>
                <a:cs typeface="Arial" panose="020B0604020202020204" pitchFamily="34" charset="0"/>
              </a:rPr>
              <a:t>)</a:t>
            </a:r>
          </a:p>
          <a:p>
            <a:pPr>
              <a:lnSpc>
                <a:spcPts val="1000"/>
              </a:lnSpc>
            </a:pPr>
            <a:endParaRPr sz="1000" dirty="0"/>
          </a:p>
        </p:txBody>
      </p:sp>
      <p:sp>
        <p:nvSpPr>
          <p:cNvPr id="20" name="object 20"/>
          <p:cNvSpPr/>
          <p:nvPr/>
        </p:nvSpPr>
        <p:spPr>
          <a:xfrm>
            <a:off x="2817719" y="2715801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3697077" y="2631892"/>
            <a:ext cx="3863340" cy="3389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200" b="1" dirty="0">
                <a:solidFill>
                  <a:srgbClr val="00B0F0"/>
                </a:solidFill>
                <a:cs typeface="Arial"/>
              </a:rPr>
              <a:t>Exp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r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es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  <a:r>
              <a:rPr sz="2200" b="1" spc="-4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b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oleana:</a:t>
            </a:r>
            <a:r>
              <a:rPr sz="2200" b="1" spc="-45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co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n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dic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</a:p>
        </p:txBody>
      </p:sp>
      <p:sp>
        <p:nvSpPr>
          <p:cNvPr id="23" name="object 23"/>
          <p:cNvSpPr/>
          <p:nvPr/>
        </p:nvSpPr>
        <p:spPr>
          <a:xfrm>
            <a:off x="4548413" y="3960303"/>
            <a:ext cx="171152" cy="436880"/>
          </a:xfrm>
          <a:custGeom>
            <a:avLst/>
            <a:gdLst/>
            <a:ahLst/>
            <a:cxnLst/>
            <a:rect l="l" t="t" r="r" b="b"/>
            <a:pathLst>
              <a:path w="171152" h="436879">
                <a:moveTo>
                  <a:pt x="17930" y="266740"/>
                </a:moveTo>
                <a:lnTo>
                  <a:pt x="4846" y="271900"/>
                </a:lnTo>
                <a:lnTo>
                  <a:pt x="0" y="282609"/>
                </a:lnTo>
                <a:lnTo>
                  <a:pt x="2411" y="294360"/>
                </a:lnTo>
                <a:lnTo>
                  <a:pt x="85596" y="436880"/>
                </a:lnTo>
                <a:lnTo>
                  <a:pt x="107664" y="399072"/>
                </a:lnTo>
                <a:lnTo>
                  <a:pt x="66546" y="399072"/>
                </a:lnTo>
                <a:lnTo>
                  <a:pt x="66546" y="328510"/>
                </a:lnTo>
                <a:lnTo>
                  <a:pt x="35431" y="275170"/>
                </a:lnTo>
                <a:lnTo>
                  <a:pt x="28619" y="268547"/>
                </a:lnTo>
                <a:lnTo>
                  <a:pt x="17930" y="266740"/>
                </a:lnTo>
                <a:close/>
              </a:path>
              <a:path w="171152" h="436879">
                <a:moveTo>
                  <a:pt x="66546" y="328510"/>
                </a:moveTo>
                <a:lnTo>
                  <a:pt x="66546" y="399072"/>
                </a:lnTo>
                <a:lnTo>
                  <a:pt x="104646" y="399072"/>
                </a:lnTo>
                <a:lnTo>
                  <a:pt x="104646" y="389470"/>
                </a:lnTo>
                <a:lnTo>
                  <a:pt x="69086" y="389470"/>
                </a:lnTo>
                <a:lnTo>
                  <a:pt x="85596" y="361168"/>
                </a:lnTo>
                <a:lnTo>
                  <a:pt x="66546" y="328510"/>
                </a:lnTo>
                <a:close/>
              </a:path>
              <a:path w="171152" h="436879">
                <a:moveTo>
                  <a:pt x="156419" y="266161"/>
                </a:moveTo>
                <a:lnTo>
                  <a:pt x="144740" y="267257"/>
                </a:lnTo>
                <a:lnTo>
                  <a:pt x="135761" y="275170"/>
                </a:lnTo>
                <a:lnTo>
                  <a:pt x="104646" y="328510"/>
                </a:lnTo>
                <a:lnTo>
                  <a:pt x="104646" y="399072"/>
                </a:lnTo>
                <a:lnTo>
                  <a:pt x="107664" y="399072"/>
                </a:lnTo>
                <a:lnTo>
                  <a:pt x="168781" y="294360"/>
                </a:lnTo>
                <a:lnTo>
                  <a:pt x="171152" y="285693"/>
                </a:lnTo>
                <a:lnTo>
                  <a:pt x="167595" y="275251"/>
                </a:lnTo>
                <a:lnTo>
                  <a:pt x="156419" y="266161"/>
                </a:lnTo>
                <a:close/>
              </a:path>
              <a:path w="171152" h="436879">
                <a:moveTo>
                  <a:pt x="85596" y="361168"/>
                </a:moveTo>
                <a:lnTo>
                  <a:pt x="69086" y="389470"/>
                </a:lnTo>
                <a:lnTo>
                  <a:pt x="102106" y="389470"/>
                </a:lnTo>
                <a:lnTo>
                  <a:pt x="85596" y="361168"/>
                </a:lnTo>
                <a:close/>
              </a:path>
              <a:path w="171152" h="436879">
                <a:moveTo>
                  <a:pt x="104646" y="328510"/>
                </a:moveTo>
                <a:lnTo>
                  <a:pt x="85596" y="361168"/>
                </a:lnTo>
                <a:lnTo>
                  <a:pt x="102106" y="389470"/>
                </a:lnTo>
                <a:lnTo>
                  <a:pt x="104646" y="389470"/>
                </a:lnTo>
                <a:lnTo>
                  <a:pt x="104646" y="328510"/>
                </a:lnTo>
                <a:close/>
              </a:path>
              <a:path w="171152" h="436879">
                <a:moveTo>
                  <a:pt x="104646" y="0"/>
                </a:moveTo>
                <a:lnTo>
                  <a:pt x="66546" y="0"/>
                </a:lnTo>
                <a:lnTo>
                  <a:pt x="66546" y="328510"/>
                </a:lnTo>
                <a:lnTo>
                  <a:pt x="85596" y="361168"/>
                </a:lnTo>
                <a:lnTo>
                  <a:pt x="104646" y="328510"/>
                </a:lnTo>
                <a:lnTo>
                  <a:pt x="104646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282008" y="4437112"/>
            <a:ext cx="4877005" cy="119326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>
              <a:lnSpc>
                <a:spcPct val="150000"/>
              </a:lnSpc>
            </a:pPr>
            <a:r>
              <a:rPr lang="es-MX" sz="2200" b="1" dirty="0">
                <a:solidFill>
                  <a:srgbClr val="00B0F0"/>
                </a:solidFill>
                <a:cs typeface="Arial"/>
              </a:rPr>
              <a:t>Si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la 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ondi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ión</a:t>
            </a:r>
            <a:r>
              <a:rPr lang="es-MX" sz="2200" b="1" spc="-20" dirty="0">
                <a:solidFill>
                  <a:srgbClr val="00B0F0"/>
                </a:solidFill>
                <a:cs typeface="Arial"/>
              </a:rPr>
              <a:t> 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s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e</a:t>
            </a:r>
            <a:r>
              <a:rPr lang="es-MX" sz="2200" b="1" spc="-5" dirty="0">
                <a:solidFill>
                  <a:srgbClr val="00B0F0"/>
                </a:solidFill>
                <a:cs typeface="Arial"/>
              </a:rPr>
              <a:t> 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cu</a:t>
            </a:r>
            <a:r>
              <a:rPr lang="es-MX" sz="2200" b="1" spc="-10" dirty="0">
                <a:solidFill>
                  <a:srgbClr val="00B0F0"/>
                </a:solidFill>
                <a:cs typeface="Arial"/>
              </a:rPr>
              <a:t>m</a:t>
            </a:r>
            <a:r>
              <a:rPr lang="es-MX" sz="2200" b="1" dirty="0">
                <a:solidFill>
                  <a:srgbClr val="00B0F0"/>
                </a:solidFill>
                <a:cs typeface="Arial"/>
              </a:rPr>
              <a:t>ple s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eje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utan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las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nstruc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c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nes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d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el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b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l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q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ue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A1340C6-0639-4B0F-99CD-2D79C628EB22}"/>
              </a:ext>
            </a:extLst>
          </p:cNvPr>
          <p:cNvSpPr/>
          <p:nvPr/>
        </p:nvSpPr>
        <p:spPr>
          <a:xfrm>
            <a:off x="1295867" y="2500349"/>
            <a:ext cx="6372477" cy="30888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67000" y="1466341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9795" y="2965450"/>
            <a:ext cx="6005492" cy="135737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P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di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r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usuario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su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dad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  <a:p>
            <a:pPr marL="355600" indent="-34290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Si edad</a:t>
            </a:r>
            <a:r>
              <a:rPr sz="20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mayor o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g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u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</a:t>
            </a:r>
            <a:r>
              <a:rPr sz="2000" spc="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18 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nd</a:t>
            </a:r>
            <a:r>
              <a:rPr sz="2000" spc="-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i</a:t>
            </a:r>
            <a:r>
              <a:rPr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c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ar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le</a:t>
            </a:r>
            <a:r>
              <a:rPr sz="2000" spc="2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qu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spc="1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es</a:t>
            </a:r>
            <a:r>
              <a:rPr sz="2000" spc="5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mayor de </a:t>
            </a:r>
            <a:r>
              <a:rPr sz="2000" spc="-5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e</a:t>
            </a:r>
            <a:r>
              <a:rPr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dad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70858" y="2407217"/>
            <a:ext cx="6108601" cy="5028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600"/>
              </a:spcAft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Definir el algoritmo</a:t>
            </a:r>
            <a:r>
              <a:rPr lang="es-MX"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y el programa en </a:t>
            </a:r>
            <a:r>
              <a:rPr lang="es-MX" sz="20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Python</a:t>
            </a:r>
            <a:r>
              <a:rPr lang="es-MX" sz="2000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:</a:t>
            </a:r>
            <a:endParaRPr sz="2000" dirty="0">
              <a:solidFill>
                <a:schemeClr val="accent6">
                  <a:lumMod val="75000"/>
                </a:schemeClr>
              </a:solidFill>
              <a:latin typeface="Calibri"/>
              <a:cs typeface="Calibri"/>
            </a:endParaRP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8BBC9BD6-B05D-4DB3-BED2-301CAA8052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0320" y="4071488"/>
            <a:ext cx="2800689" cy="1880369"/>
          </a:xfrm>
          <a:prstGeom prst="rect">
            <a:avLst/>
          </a:prstGeom>
        </p:spPr>
      </p:pic>
      <p:sp>
        <p:nvSpPr>
          <p:cNvPr id="32" name="object 26">
            <a:extLst>
              <a:ext uri="{FF2B5EF4-FFF2-40B4-BE49-F238E27FC236}">
                <a16:creationId xmlns:a16="http://schemas.microsoft.com/office/drawing/2014/main" id="{96D9A129-C789-411B-AA78-1367C71B2FBE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3454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43808" y="1511553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Algoritmo</a:t>
            </a:r>
          </a:p>
          <a:p>
            <a:pPr marL="12700"/>
            <a:r>
              <a:rPr lang="es-MX" sz="2800" b="1" dirty="0">
                <a:solidFill>
                  <a:schemeClr val="bg1"/>
                </a:solidFill>
                <a:latin typeface="Calibri"/>
                <a:cs typeface="Calibri"/>
              </a:rPr>
              <a:t>Algoritmo</a:t>
            </a:r>
            <a:endParaRPr sz="28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sp>
        <p:nvSpPr>
          <p:cNvPr id="37" name="object 3">
            <a:extLst>
              <a:ext uri="{FF2B5EF4-FFF2-40B4-BE49-F238E27FC236}">
                <a16:creationId xmlns:a16="http://schemas.microsoft.com/office/drawing/2014/main" id="{0A3F522B-39E5-49DC-BBF2-4B9B39163ED1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8" name="object 26">
            <a:extLst>
              <a:ext uri="{FF2B5EF4-FFF2-40B4-BE49-F238E27FC236}">
                <a16:creationId xmlns:a16="http://schemas.microsoft.com/office/drawing/2014/main" id="{E19F8F01-05D7-4A66-BEDB-7CAE9A25BD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B4E5043-8BD4-4BD1-A2E4-E4D8C11F4763}"/>
              </a:ext>
            </a:extLst>
          </p:cNvPr>
          <p:cNvSpPr txBox="1"/>
          <p:nvPr/>
        </p:nvSpPr>
        <p:spPr>
          <a:xfrm>
            <a:off x="2747770" y="2139615"/>
            <a:ext cx="4972686" cy="24929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endParaRPr lang="es-MX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sz="2400" dirty="0"/>
              <a:t>Pedir la edad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s-MX" sz="2400" dirty="0"/>
              <a:t>Si edad &gt;= 18</a:t>
            </a:r>
          </a:p>
          <a:p>
            <a:pPr>
              <a:lnSpc>
                <a:spcPct val="150000"/>
              </a:lnSpc>
            </a:pPr>
            <a:r>
              <a:rPr lang="es-MX" sz="2400" dirty="0"/>
              <a:t>           Escribir(“Eres mayor de edad”)</a:t>
            </a:r>
          </a:p>
          <a:p>
            <a:endParaRPr lang="es-MX" sz="2400" dirty="0"/>
          </a:p>
        </p:txBody>
      </p:sp>
    </p:spTree>
    <p:extLst>
      <p:ext uri="{BB962C8B-B14F-4D97-AF65-F5344CB8AC3E}">
        <p14:creationId xmlns:p14="http://schemas.microsoft.com/office/powerpoint/2010/main" val="2185813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39976" y="1639422"/>
            <a:ext cx="5096616" cy="65125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Programa en Python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9" name="object 3">
            <a:extLst>
              <a:ext uri="{FF2B5EF4-FFF2-40B4-BE49-F238E27FC236}">
                <a16:creationId xmlns:a16="http://schemas.microsoft.com/office/drawing/2014/main" id="{A525328C-784D-4E43-B52C-66C9899CC64E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BBC8D6D7-BAE4-4157-808B-3F212D5AF5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9976" y="2575707"/>
            <a:ext cx="6224916" cy="1665438"/>
          </a:xfrm>
          <a:prstGeom prst="rect">
            <a:avLst/>
          </a:prstGeom>
        </p:spPr>
      </p:pic>
      <p:pic>
        <p:nvPicPr>
          <p:cNvPr id="36" name="Imagen 35">
            <a:extLst>
              <a:ext uri="{FF2B5EF4-FFF2-40B4-BE49-F238E27FC236}">
                <a16:creationId xmlns:a16="http://schemas.microsoft.com/office/drawing/2014/main" id="{92CAD75B-0586-4CEB-A051-AE58F6A7B66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3987546"/>
            <a:ext cx="855044" cy="855044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  <a:softEdge rad="25400"/>
          </a:effectLst>
        </p:spPr>
      </p:pic>
      <p:sp>
        <p:nvSpPr>
          <p:cNvPr id="41" name="object 26">
            <a:extLst>
              <a:ext uri="{FF2B5EF4-FFF2-40B4-BE49-F238E27FC236}">
                <a16:creationId xmlns:a16="http://schemas.microsoft.com/office/drawing/2014/main" id="{D13731EE-52D3-4A63-BB6D-961F6EE871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9307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13110" y="3132708"/>
            <a:ext cx="4965322" cy="59106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 err="1">
                <a:solidFill>
                  <a:srgbClr val="002060"/>
                </a:solidFill>
                <a:latin typeface="Calibri"/>
                <a:cs typeface="Calibri"/>
              </a:rPr>
              <a:t>Condiciona</a:t>
            </a:r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l compuesta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755576" y="1124744"/>
            <a:ext cx="7632848" cy="245814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Otra versión del condicional if incluye una alternativa de ejecución si la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dirty="0">
                <a:solidFill>
                  <a:srgbClr val="C5DAEB"/>
                </a:solidFill>
                <a:cs typeface="Calibri"/>
              </a:rPr>
              <a:t>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no se cumple. En la que además de especificar el bloque de código que se desea ejecutar cuando la solución de la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condición</a:t>
            </a:r>
            <a:r>
              <a:rPr lang="es-MX" sz="2000" dirty="0">
                <a:solidFill>
                  <a:srgbClr val="C5DAEB"/>
                </a:solidFill>
                <a:cs typeface="Calibri"/>
              </a:rPr>
              <a:t>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(Expresión Lógica) es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verdadera (True)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, se especifica también un bloque de código a ejecutar cuando la solución es </a:t>
            </a:r>
            <a:r>
              <a:rPr lang="es-MX" sz="20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falsa (False)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.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92456" y="5726429"/>
            <a:ext cx="102870" cy="203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1200" spc="-10" dirty="0">
                <a:solidFill>
                  <a:srgbClr val="18BAD4"/>
                </a:solidFill>
                <a:latin typeface="Calibri"/>
                <a:cs typeface="Calibri"/>
              </a:rPr>
              <a:t>9</a:t>
            </a:r>
            <a:endParaRPr sz="1200" dirty="0">
              <a:latin typeface="Calibri"/>
              <a:cs typeface="Calibri"/>
            </a:endParaRP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666869" y="260648"/>
            <a:ext cx="5857459" cy="72008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compuesta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B8511DF-6B6D-48DB-8EB7-966781881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3582885"/>
            <a:ext cx="5895975" cy="245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154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1139092" y="1412776"/>
            <a:ext cx="7167697" cy="102283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ts val="3500"/>
              </a:lnSpc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estructura de la condicional compuesta en Python tiene la siguiente forma:</a:t>
            </a: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691681" y="367482"/>
            <a:ext cx="597666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compuesta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9" name="Google Shape;65;p9">
            <a:extLst>
              <a:ext uri="{FF2B5EF4-FFF2-40B4-BE49-F238E27FC236}">
                <a16:creationId xmlns:a16="http://schemas.microsoft.com/office/drawing/2014/main" id="{DD55D289-0BCE-4A13-8697-AACC8060C7AC}"/>
              </a:ext>
            </a:extLst>
          </p:cNvPr>
          <p:cNvSpPr txBox="1"/>
          <p:nvPr/>
        </p:nvSpPr>
        <p:spPr>
          <a:xfrm>
            <a:off x="1139092" y="2634872"/>
            <a:ext cx="3108187" cy="281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">
              <a:lnSpc>
                <a:spcPts val="5000"/>
              </a:lnSpc>
            </a:pPr>
            <a:r>
              <a:rPr lang="en-US" sz="32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3200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condición:</a:t>
            </a:r>
            <a:endParaRPr sz="320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745490">
              <a:lnSpc>
                <a:spcPts val="5000"/>
              </a:lnSpc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código 1</a:t>
            </a:r>
          </a:p>
          <a:p>
            <a:pPr marL="21590">
              <a:lnSpc>
                <a:spcPts val="5000"/>
              </a:lnSpc>
            </a:pPr>
            <a:r>
              <a:rPr lang="en-US" sz="32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lang="en-US" sz="3200" b="1" dirty="0">
              <a:solidFill>
                <a:srgbClr val="00B050"/>
              </a:solidFill>
            </a:endParaRPr>
          </a:p>
          <a:p>
            <a:pPr marL="745490">
              <a:lnSpc>
                <a:spcPts val="5000"/>
              </a:lnSpc>
            </a:pP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código</a:t>
            </a: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lang="en-US" sz="3600" b="1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1DD4DD73-824F-4D79-8002-0251F9532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7279" y="3068960"/>
            <a:ext cx="4358082" cy="181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326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1835696" y="476672"/>
            <a:ext cx="5941071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compuesta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06267" y="1656956"/>
            <a:ext cx="7130654" cy="5265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094230">
              <a:spcAft>
                <a:spcPts val="1200"/>
              </a:spcAft>
            </a:pPr>
            <a:r>
              <a:rPr sz="2400" dirty="0" err="1">
                <a:solidFill>
                  <a:schemeClr val="tx1">
                    <a:lumMod val="85000"/>
                    <a:lumOff val="15000"/>
                  </a:schemeClr>
                </a:solidFill>
                <a:cs typeface="Calibri"/>
              </a:rPr>
              <a:t>Ejemplo</a:t>
            </a:r>
            <a:r>
              <a:rPr sz="2400" dirty="0">
                <a:solidFill>
                  <a:schemeClr val="tx1">
                    <a:lumMod val="85000"/>
                    <a:lumOff val="15000"/>
                  </a:schemeClr>
                </a:solidFill>
                <a:cs typeface="Calibri"/>
              </a:rPr>
              <a:t> de </a:t>
            </a:r>
            <a:r>
              <a:rPr lang="es-MX" sz="2400" dirty="0">
                <a:solidFill>
                  <a:schemeClr val="tx1">
                    <a:lumMod val="85000"/>
                    <a:lumOff val="15000"/>
                  </a:schemeClr>
                </a:solidFill>
                <a:cs typeface="Calibri"/>
              </a:rPr>
              <a:t>condicional compuesta:</a:t>
            </a:r>
            <a:endParaRPr sz="2400" dirty="0">
              <a:solidFill>
                <a:schemeClr val="tx1">
                  <a:lumMod val="85000"/>
                  <a:lumOff val="15000"/>
                </a:schemeClr>
              </a:solidFill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11840" y="2564904"/>
            <a:ext cx="7048592" cy="300441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if x % 2 == 0:</a:t>
            </a:r>
          </a:p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rgbClr val="002060"/>
                </a:solidFill>
                <a:cs typeface="Arial"/>
              </a:rPr>
              <a:t>	print ("x es un número par")</a:t>
            </a:r>
          </a:p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chemeClr val="accent6">
                    <a:lumMod val="75000"/>
                  </a:schemeClr>
                </a:solidFill>
                <a:cs typeface="Arial"/>
              </a:rPr>
              <a:t>else:</a:t>
            </a:r>
          </a:p>
          <a:p>
            <a:pPr marL="12700">
              <a:lnSpc>
                <a:spcPct val="150000"/>
              </a:lnSpc>
            </a:pPr>
            <a:r>
              <a:rPr lang="es-MX" sz="3200" b="1" dirty="0">
                <a:solidFill>
                  <a:srgbClr val="002060"/>
                </a:solidFill>
                <a:cs typeface="Arial"/>
              </a:rPr>
              <a:t>	print ("x es un número impar")</a:t>
            </a:r>
          </a:p>
        </p:txBody>
      </p:sp>
      <p:sp>
        <p:nvSpPr>
          <p:cNvPr id="20" name="object 20"/>
          <p:cNvSpPr/>
          <p:nvPr/>
        </p:nvSpPr>
        <p:spPr>
          <a:xfrm>
            <a:off x="3757347" y="2949895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 txBox="1"/>
          <p:nvPr/>
        </p:nvSpPr>
        <p:spPr>
          <a:xfrm>
            <a:off x="4572000" y="2833014"/>
            <a:ext cx="3983896" cy="47608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200" b="1" dirty="0">
                <a:solidFill>
                  <a:srgbClr val="00B0F0"/>
                </a:solidFill>
                <a:cs typeface="Arial"/>
              </a:rPr>
              <a:t>Exp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r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es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  <a:r>
              <a:rPr sz="2200" b="1" spc="-40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b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o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oleana:</a:t>
            </a:r>
            <a:r>
              <a:rPr sz="2200" b="1" spc="-45" dirty="0">
                <a:solidFill>
                  <a:srgbClr val="00B0F0"/>
                </a:solidFill>
                <a:cs typeface="Arial"/>
              </a:rPr>
              <a:t> 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co</a:t>
            </a:r>
            <a:r>
              <a:rPr sz="2200" b="1" spc="-10" dirty="0">
                <a:solidFill>
                  <a:srgbClr val="00B0F0"/>
                </a:solidFill>
                <a:cs typeface="Arial"/>
              </a:rPr>
              <a:t>n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dic</a:t>
            </a:r>
            <a:r>
              <a:rPr sz="2200" b="1" spc="5" dirty="0">
                <a:solidFill>
                  <a:srgbClr val="00B0F0"/>
                </a:solidFill>
                <a:cs typeface="Arial"/>
              </a:rPr>
              <a:t>i</a:t>
            </a:r>
            <a:r>
              <a:rPr sz="2200" b="1" dirty="0">
                <a:solidFill>
                  <a:srgbClr val="00B0F0"/>
                </a:solidFill>
                <a:cs typeface="Arial"/>
              </a:rPr>
              <a:t>ón</a:t>
            </a:r>
            <a:endParaRPr sz="2200" dirty="0">
              <a:solidFill>
                <a:srgbClr val="00B0F0"/>
              </a:solidFill>
              <a:cs typeface="Arial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F4A3C5C5-9FFF-4D79-8026-6E2C5B40B53D}"/>
              </a:ext>
            </a:extLst>
          </p:cNvPr>
          <p:cNvSpPr/>
          <p:nvPr/>
        </p:nvSpPr>
        <p:spPr>
          <a:xfrm>
            <a:off x="1295867" y="2500349"/>
            <a:ext cx="7048592" cy="308889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39173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124744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9796" y="2571359"/>
            <a:ext cx="5758405" cy="25189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Despliega un mensaje donde diga si un alumno aprobó o reprobó un curso. </a:t>
            </a:r>
          </a:p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El usuario introduce las calificaciones de sus dos parciales. Las calificaciones van en el rango de 0 a 100. </a:t>
            </a:r>
          </a:p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calificación final mínima aprobatoria es 70 y es el resultado del promedio de los dos parciales. 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70858" y="2013127"/>
            <a:ext cx="6108601" cy="5028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600"/>
              </a:spcAft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Definir el algoritmo</a:t>
            </a:r>
            <a:r>
              <a:rPr lang="es-MX"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y el programa en </a:t>
            </a:r>
            <a:r>
              <a:rPr lang="es-MX" sz="20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Python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2280" y="5463771"/>
            <a:ext cx="1835102" cy="11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474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43808" y="1491749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Algoritmo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7FE3A13B-DBB4-449A-B454-81AAB09D6EA8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D7317DB9-0440-474B-A9B5-A5549D54AC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3173249-7DF8-43BA-AE83-E97EF105511C}"/>
              </a:ext>
            </a:extLst>
          </p:cNvPr>
          <p:cNvSpPr txBox="1"/>
          <p:nvPr/>
        </p:nvSpPr>
        <p:spPr>
          <a:xfrm>
            <a:off x="2736389" y="2340102"/>
            <a:ext cx="4972686" cy="267765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sz="2400" dirty="0"/>
              <a:t>Pedir el parcial 1 (p1)</a:t>
            </a:r>
          </a:p>
          <a:p>
            <a:pPr marL="342900" indent="-342900">
              <a:buAutoNum type="arabicPeriod"/>
            </a:pPr>
            <a:r>
              <a:rPr lang="es-MX" sz="2400" dirty="0"/>
              <a:t>Pedir el parcial 2 (p2)</a:t>
            </a:r>
          </a:p>
          <a:p>
            <a:pPr marL="342900" indent="-342900">
              <a:buAutoNum type="arabicPeriod"/>
            </a:pPr>
            <a:r>
              <a:rPr lang="es-MX" sz="2400" dirty="0"/>
              <a:t>promedio = (p1+p2)/2</a:t>
            </a:r>
          </a:p>
          <a:p>
            <a:pPr marL="342900" indent="-342900">
              <a:buAutoNum type="arabicPeriod"/>
            </a:pPr>
            <a:r>
              <a:rPr lang="es-MX" sz="2400" dirty="0"/>
              <a:t>Si (promedio &gt;= 70)</a:t>
            </a:r>
          </a:p>
          <a:p>
            <a:r>
              <a:rPr lang="es-MX" sz="2400" dirty="0"/>
              <a:t>    	Escribir(“Aprobado”)</a:t>
            </a:r>
          </a:p>
          <a:p>
            <a:r>
              <a:rPr lang="es-MX" sz="2400" dirty="0"/>
              <a:t>    SiNo</a:t>
            </a:r>
          </a:p>
          <a:p>
            <a:r>
              <a:rPr lang="es-MX" sz="2400" dirty="0"/>
              <a:t>    	Escribir(“Reprobado”)</a:t>
            </a:r>
          </a:p>
        </p:txBody>
      </p:sp>
    </p:spTree>
    <p:extLst>
      <p:ext uri="{BB962C8B-B14F-4D97-AF65-F5344CB8AC3E}">
        <p14:creationId xmlns:p14="http://schemas.microsoft.com/office/powerpoint/2010/main" val="2100447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>
            <a:extLst>
              <a:ext uri="{FF2B5EF4-FFF2-40B4-BE49-F238E27FC236}">
                <a16:creationId xmlns:a16="http://schemas.microsoft.com/office/drawing/2014/main" id="{D35E8957-E4C9-4A65-B3C9-52D2EE4A4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4834" y="2316428"/>
            <a:ext cx="6152006" cy="2607473"/>
          </a:xfrm>
          <a:prstGeom prst="rect">
            <a:avLst/>
          </a:prstGeom>
        </p:spPr>
      </p:pic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63846" y="1531374"/>
            <a:ext cx="459256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Programa en Python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7FE3A13B-DBB4-449A-B454-81AAB09D6EA8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D7317DB9-0440-474B-A9B5-A5549D54AC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4E5724D4-90AE-4787-A1E3-FF116C9F13E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644" y="4322826"/>
            <a:ext cx="855044" cy="855044"/>
          </a:xfrm>
          <a:prstGeom prst="rect">
            <a:avLst/>
          </a:prstGeom>
          <a:effectLst>
            <a:outerShdw blurRad="50800" dist="50800" dir="5400000" algn="ctr" rotWithShape="0">
              <a:schemeClr val="bg1">
                <a:lumMod val="85000"/>
              </a:schemeClr>
            </a:outerShdw>
            <a:softEdge rad="25400"/>
          </a:effectLst>
        </p:spPr>
      </p:pic>
    </p:spTree>
    <p:extLst>
      <p:ext uri="{BB962C8B-B14F-4D97-AF65-F5344CB8AC3E}">
        <p14:creationId xmlns:p14="http://schemas.microsoft.com/office/powerpoint/2010/main" val="3475704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747770" y="3122676"/>
            <a:ext cx="4457574" cy="5715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3600" b="1" dirty="0" err="1">
                <a:solidFill>
                  <a:srgbClr val="002060"/>
                </a:solidFill>
                <a:latin typeface="Calibri"/>
                <a:cs typeface="Calibri"/>
              </a:rPr>
              <a:t>Condicional</a:t>
            </a:r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 anidada</a:t>
            </a:r>
            <a:endParaRPr sz="36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768121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647564" y="1388579"/>
            <a:ext cx="7848872" cy="20204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b="1" dirty="0">
                <a:solidFill>
                  <a:schemeClr val="accent6">
                    <a:lumMod val="75000"/>
                  </a:schemeClr>
                </a:solidFill>
                <a:cs typeface="Calibri"/>
              </a:rPr>
              <a:t>Anidamiento: </a:t>
            </a: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Es la acción de que una estructura de decisión forme parte del código controlado de otra estructura.</a:t>
            </a:r>
          </a:p>
          <a:p>
            <a:pPr marL="12700" marR="127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s-MX" sz="20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Puede ser que dentro de una estructura condicional exista otra y dentro de ésta otra más, etc. No hay límites en el anidamiento.</a:t>
            </a: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691680" y="331715"/>
            <a:ext cx="5782619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anidada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A4BA28A-85E1-4ACA-BB6B-2AFDB2B20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497" y="3645024"/>
            <a:ext cx="6603863" cy="266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4315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15"/>
          <p:cNvSpPr txBox="1"/>
          <p:nvPr/>
        </p:nvSpPr>
        <p:spPr>
          <a:xfrm>
            <a:off x="971600" y="1322989"/>
            <a:ext cx="6846555" cy="59435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12700" algn="just">
              <a:lnSpc>
                <a:spcPct val="150000"/>
              </a:lnSpc>
              <a:spcAft>
                <a:spcPts val="6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La estructura de una condicional anidada en Python puede tener la siguiente forma:</a:t>
            </a:r>
          </a:p>
        </p:txBody>
      </p:sp>
      <p:sp>
        <p:nvSpPr>
          <p:cNvPr id="27" name="object 14">
            <a:extLst>
              <a:ext uri="{FF2B5EF4-FFF2-40B4-BE49-F238E27FC236}">
                <a16:creationId xmlns:a16="http://schemas.microsoft.com/office/drawing/2014/main" id="{3377A7EF-D2C8-413B-A257-11F71BB5E82C}"/>
              </a:ext>
            </a:extLst>
          </p:cNvPr>
          <p:cNvSpPr txBox="1"/>
          <p:nvPr/>
        </p:nvSpPr>
        <p:spPr>
          <a:xfrm>
            <a:off x="1475656" y="332656"/>
            <a:ext cx="6070655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anidada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19" name="Google Shape;65;p9">
            <a:extLst>
              <a:ext uri="{FF2B5EF4-FFF2-40B4-BE49-F238E27FC236}">
                <a16:creationId xmlns:a16="http://schemas.microsoft.com/office/drawing/2014/main" id="{DD55D289-0BCE-4A13-8697-AACC8060C7AC}"/>
              </a:ext>
            </a:extLst>
          </p:cNvPr>
          <p:cNvSpPr txBox="1"/>
          <p:nvPr/>
        </p:nvSpPr>
        <p:spPr>
          <a:xfrm>
            <a:off x="971600" y="2852937"/>
            <a:ext cx="2674864" cy="288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1590">
              <a:lnSpc>
                <a:spcPts val="3500"/>
              </a:lnSpc>
            </a:pPr>
            <a:r>
              <a:rPr lang="en-US" sz="24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lang="en-US" sz="2400" dirty="0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 1:</a:t>
            </a:r>
            <a:endParaRPr sz="2400" b="1" dirty="0">
              <a:solidFill>
                <a:srgbClr val="002060"/>
              </a:solidFill>
            </a:endParaRPr>
          </a:p>
          <a:p>
            <a:pPr marL="745490">
              <a:lnSpc>
                <a:spcPts val="35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código 1</a:t>
            </a:r>
          </a:p>
          <a:p>
            <a:pPr marL="21590">
              <a:lnSpc>
                <a:spcPts val="3500"/>
              </a:lnSpc>
            </a:pPr>
            <a:r>
              <a:rPr lang="en-US" sz="24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elif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condición 2: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>
              <a:lnSpc>
                <a:spcPts val="35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código 2 </a:t>
            </a:r>
          </a:p>
          <a:p>
            <a:pPr marL="21590">
              <a:lnSpc>
                <a:spcPts val="3500"/>
              </a:lnSpc>
            </a:pPr>
            <a:r>
              <a:rPr lang="en-US" sz="2400" b="1" dirty="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else: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>
              <a:lnSpc>
                <a:spcPts val="35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código 3 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>
              <a:lnSpc>
                <a:spcPct val="150000"/>
              </a:lnSpc>
            </a:pPr>
            <a:r>
              <a:rPr lang="en-US" sz="2400" b="1" dirty="0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2400" b="1" dirty="0">
              <a:solidFill>
                <a:srgbClr val="002060"/>
              </a:solidFill>
            </a:endParaRPr>
          </a:p>
          <a:p>
            <a:pPr marL="745490"/>
            <a:endParaRPr lang="en-US" sz="2400" dirty="0">
              <a:solidFill>
                <a:srgbClr val="3333C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47CEBC3-07FD-4932-936F-C637B38C6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5181" y="3068960"/>
            <a:ext cx="5532291" cy="223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8075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677610" y="1854817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Actividad grupal</a:t>
            </a:r>
            <a:endParaRPr sz="36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99796" y="3505818"/>
            <a:ext cx="4691605" cy="114731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355600" indent="-342900" algn="just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Despliega un mensaje que diga si un número dado por el usuario es positivo, negativo o cero.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6" name="object 25">
            <a:extLst>
              <a:ext uri="{FF2B5EF4-FFF2-40B4-BE49-F238E27FC236}">
                <a16:creationId xmlns:a16="http://schemas.microsoft.com/office/drawing/2014/main" id="{0663B11B-215D-46AB-A19C-E39A65374766}"/>
              </a:ext>
            </a:extLst>
          </p:cNvPr>
          <p:cNvSpPr txBox="1"/>
          <p:nvPr/>
        </p:nvSpPr>
        <p:spPr>
          <a:xfrm>
            <a:off x="2670858" y="2947586"/>
            <a:ext cx="5197427" cy="50286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spcAft>
                <a:spcPts val="600"/>
              </a:spcAft>
            </a:pP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Definir el algoritmo</a:t>
            </a:r>
            <a:r>
              <a:rPr lang="es-MX" sz="2000" b="1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 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y el programa en </a:t>
            </a:r>
            <a:r>
              <a:rPr lang="es-MX" sz="2000" b="1" spc="-20" dirty="0">
                <a:solidFill>
                  <a:schemeClr val="accent6">
                    <a:lumMod val="75000"/>
                  </a:schemeClr>
                </a:solidFill>
                <a:latin typeface="Calibri"/>
                <a:cs typeface="Calibri"/>
              </a:rPr>
              <a:t>Python</a:t>
            </a:r>
            <a:r>
              <a:rPr lang="es-MX" sz="2000" spc="-2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:</a:t>
            </a:r>
            <a:endParaRPr sz="200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2A77E13A-98FD-4F73-9CAC-B813657E1B4A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07B306D-BE4C-4135-91C0-7EC25E1CC2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0152" y="4450007"/>
            <a:ext cx="2592288" cy="161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884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60525"/>
            <a:ext cx="940308" cy="896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-4572" y="3987546"/>
            <a:ext cx="1778508" cy="2048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762000" y="1735074"/>
            <a:ext cx="819912" cy="710184"/>
          </a:xfrm>
          <a:custGeom>
            <a:avLst/>
            <a:gdLst/>
            <a:ahLst/>
            <a:cxnLst/>
            <a:rect l="l" t="t" r="r" b="b"/>
            <a:pathLst>
              <a:path w="819912" h="710184">
                <a:moveTo>
                  <a:pt x="0" y="355091"/>
                </a:moveTo>
                <a:lnTo>
                  <a:pt x="203657" y="710184"/>
                </a:lnTo>
                <a:lnTo>
                  <a:pt x="616204" y="710184"/>
                </a:lnTo>
                <a:lnTo>
                  <a:pt x="819912" y="355091"/>
                </a:lnTo>
                <a:lnTo>
                  <a:pt x="616204" y="0"/>
                </a:lnTo>
                <a:lnTo>
                  <a:pt x="203657" y="0"/>
                </a:lnTo>
                <a:lnTo>
                  <a:pt x="0" y="355091"/>
                </a:lnTo>
                <a:close/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996721" y="2050541"/>
            <a:ext cx="82270" cy="184404"/>
          </a:xfrm>
          <a:custGeom>
            <a:avLst/>
            <a:gdLst/>
            <a:ahLst/>
            <a:cxnLst/>
            <a:rect l="l" t="t" r="r" b="b"/>
            <a:pathLst>
              <a:path w="82270" h="184404">
                <a:moveTo>
                  <a:pt x="82270" y="0"/>
                </a:moveTo>
                <a:lnTo>
                  <a:pt x="0" y="0"/>
                </a:lnTo>
                <a:lnTo>
                  <a:pt x="0" y="184404"/>
                </a:lnTo>
                <a:lnTo>
                  <a:pt x="82270" y="184404"/>
                </a:lnTo>
                <a:lnTo>
                  <a:pt x="82270" y="50546"/>
                </a:lnTo>
                <a:lnTo>
                  <a:pt x="50571" y="50546"/>
                </a:lnTo>
                <a:lnTo>
                  <a:pt x="47510" y="50037"/>
                </a:lnTo>
                <a:lnTo>
                  <a:pt x="35750" y="35813"/>
                </a:lnTo>
                <a:lnTo>
                  <a:pt x="36283" y="32766"/>
                </a:lnTo>
                <a:lnTo>
                  <a:pt x="50571" y="20955"/>
                </a:lnTo>
                <a:lnTo>
                  <a:pt x="82270" y="20955"/>
                </a:lnTo>
                <a:lnTo>
                  <a:pt x="82270" y="0"/>
                </a:lnTo>
                <a:close/>
              </a:path>
              <a:path w="82270" h="184404">
                <a:moveTo>
                  <a:pt x="82270" y="20955"/>
                </a:moveTo>
                <a:lnTo>
                  <a:pt x="50571" y="20955"/>
                </a:lnTo>
                <a:lnTo>
                  <a:pt x="53644" y="21462"/>
                </a:lnTo>
                <a:lnTo>
                  <a:pt x="58750" y="23495"/>
                </a:lnTo>
                <a:lnTo>
                  <a:pt x="62852" y="27559"/>
                </a:lnTo>
                <a:lnTo>
                  <a:pt x="64376" y="30099"/>
                </a:lnTo>
                <a:lnTo>
                  <a:pt x="64884" y="32766"/>
                </a:lnTo>
                <a:lnTo>
                  <a:pt x="65405" y="35813"/>
                </a:lnTo>
                <a:lnTo>
                  <a:pt x="64884" y="38862"/>
                </a:lnTo>
                <a:lnTo>
                  <a:pt x="50571" y="50546"/>
                </a:lnTo>
                <a:lnTo>
                  <a:pt x="82270" y="50546"/>
                </a:lnTo>
                <a:lnTo>
                  <a:pt x="82270" y="20955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091209" y="1928622"/>
            <a:ext cx="256006" cy="324612"/>
          </a:xfrm>
          <a:custGeom>
            <a:avLst/>
            <a:gdLst/>
            <a:ahLst/>
            <a:cxnLst/>
            <a:rect l="l" t="t" r="r" b="b"/>
            <a:pathLst>
              <a:path w="256006" h="324612">
                <a:moveTo>
                  <a:pt x="131800" y="0"/>
                </a:moveTo>
                <a:lnTo>
                  <a:pt x="103822" y="30606"/>
                </a:lnTo>
                <a:lnTo>
                  <a:pt x="99758" y="42417"/>
                </a:lnTo>
                <a:lnTo>
                  <a:pt x="80911" y="82168"/>
                </a:lnTo>
                <a:lnTo>
                  <a:pt x="76327" y="86740"/>
                </a:lnTo>
                <a:lnTo>
                  <a:pt x="69202" y="93979"/>
                </a:lnTo>
                <a:lnTo>
                  <a:pt x="52400" y="109727"/>
                </a:lnTo>
                <a:lnTo>
                  <a:pt x="30022" y="130175"/>
                </a:lnTo>
                <a:lnTo>
                  <a:pt x="0" y="130175"/>
                </a:lnTo>
                <a:lnTo>
                  <a:pt x="0" y="280669"/>
                </a:lnTo>
                <a:lnTo>
                  <a:pt x="31546" y="280669"/>
                </a:lnTo>
                <a:lnTo>
                  <a:pt x="41732" y="285876"/>
                </a:lnTo>
                <a:lnTo>
                  <a:pt x="55968" y="291973"/>
                </a:lnTo>
                <a:lnTo>
                  <a:pt x="94665" y="306704"/>
                </a:lnTo>
                <a:lnTo>
                  <a:pt x="138925" y="319024"/>
                </a:lnTo>
                <a:lnTo>
                  <a:pt x="149618" y="321563"/>
                </a:lnTo>
                <a:lnTo>
                  <a:pt x="160312" y="323088"/>
                </a:lnTo>
                <a:lnTo>
                  <a:pt x="169976" y="324103"/>
                </a:lnTo>
                <a:lnTo>
                  <a:pt x="179679" y="324612"/>
                </a:lnTo>
                <a:lnTo>
                  <a:pt x="195935" y="324612"/>
                </a:lnTo>
                <a:lnTo>
                  <a:pt x="232638" y="310768"/>
                </a:lnTo>
                <a:lnTo>
                  <a:pt x="234162" y="296037"/>
                </a:lnTo>
                <a:lnTo>
                  <a:pt x="233654" y="292480"/>
                </a:lnTo>
                <a:lnTo>
                  <a:pt x="232638" y="289432"/>
                </a:lnTo>
                <a:lnTo>
                  <a:pt x="230479" y="286385"/>
                </a:lnTo>
                <a:lnTo>
                  <a:pt x="227558" y="283717"/>
                </a:lnTo>
                <a:lnTo>
                  <a:pt x="230098" y="283337"/>
                </a:lnTo>
                <a:lnTo>
                  <a:pt x="232638" y="282193"/>
                </a:lnTo>
                <a:lnTo>
                  <a:pt x="235178" y="281177"/>
                </a:lnTo>
                <a:lnTo>
                  <a:pt x="237210" y="279145"/>
                </a:lnTo>
                <a:lnTo>
                  <a:pt x="243306" y="250570"/>
                </a:lnTo>
                <a:lnTo>
                  <a:pt x="243306" y="245999"/>
                </a:lnTo>
                <a:lnTo>
                  <a:pt x="242798" y="243458"/>
                </a:lnTo>
                <a:lnTo>
                  <a:pt x="241782" y="241426"/>
                </a:lnTo>
                <a:lnTo>
                  <a:pt x="239242" y="237870"/>
                </a:lnTo>
                <a:lnTo>
                  <a:pt x="236194" y="234823"/>
                </a:lnTo>
                <a:lnTo>
                  <a:pt x="238734" y="234314"/>
                </a:lnTo>
                <a:lnTo>
                  <a:pt x="250418" y="202056"/>
                </a:lnTo>
                <a:lnTo>
                  <a:pt x="250418" y="196976"/>
                </a:lnTo>
                <a:lnTo>
                  <a:pt x="249910" y="194437"/>
                </a:lnTo>
                <a:lnTo>
                  <a:pt x="247878" y="190373"/>
                </a:lnTo>
                <a:lnTo>
                  <a:pt x="244830" y="187325"/>
                </a:lnTo>
                <a:lnTo>
                  <a:pt x="242798" y="185800"/>
                </a:lnTo>
                <a:lnTo>
                  <a:pt x="244830" y="185292"/>
                </a:lnTo>
                <a:lnTo>
                  <a:pt x="256006" y="153162"/>
                </a:lnTo>
                <a:lnTo>
                  <a:pt x="254990" y="147954"/>
                </a:lnTo>
                <a:lnTo>
                  <a:pt x="220319" y="130175"/>
                </a:lnTo>
                <a:lnTo>
                  <a:pt x="131800" y="123062"/>
                </a:lnTo>
                <a:lnTo>
                  <a:pt x="135369" y="116839"/>
                </a:lnTo>
                <a:lnTo>
                  <a:pt x="147574" y="77088"/>
                </a:lnTo>
                <a:lnTo>
                  <a:pt x="152158" y="32130"/>
                </a:lnTo>
                <a:lnTo>
                  <a:pt x="152158" y="16890"/>
                </a:lnTo>
                <a:lnTo>
                  <a:pt x="135890" y="507"/>
                </a:lnTo>
                <a:lnTo>
                  <a:pt x="13180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373380" y="1752612"/>
            <a:ext cx="111251" cy="0"/>
          </a:xfrm>
          <a:custGeom>
            <a:avLst/>
            <a:gdLst/>
            <a:ahLst/>
            <a:cxnLst/>
            <a:rect l="l" t="t" r="r" b="b"/>
            <a:pathLst>
              <a:path w="111251">
                <a:moveTo>
                  <a:pt x="0" y="0"/>
                </a:moveTo>
                <a:lnTo>
                  <a:pt x="111251" y="0"/>
                </a:lnTo>
              </a:path>
            </a:pathLst>
          </a:custGeom>
          <a:ln w="57633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379475" y="1774698"/>
            <a:ext cx="99060" cy="28955"/>
          </a:xfrm>
          <a:custGeom>
            <a:avLst/>
            <a:gdLst/>
            <a:ahLst/>
            <a:cxnLst/>
            <a:rect l="l" t="t" r="r" b="b"/>
            <a:pathLst>
              <a:path w="99059" h="28955">
                <a:moveTo>
                  <a:pt x="0" y="0"/>
                </a:moveTo>
                <a:lnTo>
                  <a:pt x="0" y="4190"/>
                </a:lnTo>
                <a:lnTo>
                  <a:pt x="584" y="7747"/>
                </a:lnTo>
                <a:lnTo>
                  <a:pt x="2374" y="11302"/>
                </a:lnTo>
                <a:lnTo>
                  <a:pt x="4724" y="14224"/>
                </a:lnTo>
                <a:lnTo>
                  <a:pt x="8255" y="16001"/>
                </a:lnTo>
                <a:lnTo>
                  <a:pt x="45389" y="28321"/>
                </a:lnTo>
                <a:lnTo>
                  <a:pt x="49530" y="28955"/>
                </a:lnTo>
                <a:lnTo>
                  <a:pt x="53644" y="28321"/>
                </a:lnTo>
                <a:lnTo>
                  <a:pt x="90805" y="16001"/>
                </a:lnTo>
                <a:lnTo>
                  <a:pt x="94335" y="14224"/>
                </a:lnTo>
                <a:lnTo>
                  <a:pt x="96685" y="11302"/>
                </a:lnTo>
                <a:lnTo>
                  <a:pt x="98450" y="7747"/>
                </a:lnTo>
                <a:lnTo>
                  <a:pt x="99060" y="4190"/>
                </a:lnTo>
                <a:lnTo>
                  <a:pt x="99060" y="0"/>
                </a:lnTo>
                <a:lnTo>
                  <a:pt x="0" y="0"/>
                </a:lnTo>
                <a:close/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368834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161543"/>
                </a:moveTo>
                <a:lnTo>
                  <a:pt x="14477" y="68961"/>
                </a:lnTo>
                <a:lnTo>
                  <a:pt x="0" y="0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304800" y="1410463"/>
            <a:ext cx="248412" cy="297179"/>
          </a:xfrm>
          <a:custGeom>
            <a:avLst/>
            <a:gdLst/>
            <a:ahLst/>
            <a:cxnLst/>
            <a:rect l="l" t="t" r="r" b="b"/>
            <a:pathLst>
              <a:path w="248412" h="297179">
                <a:moveTo>
                  <a:pt x="173659" y="297179"/>
                </a:moveTo>
                <a:lnTo>
                  <a:pt x="176606" y="284225"/>
                </a:lnTo>
                <a:lnTo>
                  <a:pt x="180708" y="271907"/>
                </a:lnTo>
                <a:lnTo>
                  <a:pt x="185432" y="260096"/>
                </a:lnTo>
                <a:lnTo>
                  <a:pt x="190715" y="249427"/>
                </a:lnTo>
                <a:lnTo>
                  <a:pt x="196621" y="239522"/>
                </a:lnTo>
                <a:lnTo>
                  <a:pt x="202488" y="229488"/>
                </a:lnTo>
                <a:lnTo>
                  <a:pt x="215442" y="210692"/>
                </a:lnTo>
                <a:lnTo>
                  <a:pt x="221919" y="201295"/>
                </a:lnTo>
                <a:lnTo>
                  <a:pt x="227799" y="191897"/>
                </a:lnTo>
                <a:lnTo>
                  <a:pt x="245465" y="149478"/>
                </a:lnTo>
                <a:lnTo>
                  <a:pt x="247802" y="130683"/>
                </a:lnTo>
                <a:lnTo>
                  <a:pt x="248412" y="124205"/>
                </a:lnTo>
                <a:lnTo>
                  <a:pt x="247230" y="111251"/>
                </a:lnTo>
                <a:lnTo>
                  <a:pt x="245465" y="98933"/>
                </a:lnTo>
                <a:lnTo>
                  <a:pt x="227215" y="54737"/>
                </a:lnTo>
                <a:lnTo>
                  <a:pt x="193662" y="21209"/>
                </a:lnTo>
                <a:lnTo>
                  <a:pt x="148932" y="2412"/>
                </a:lnTo>
                <a:lnTo>
                  <a:pt x="124206" y="0"/>
                </a:lnTo>
                <a:lnTo>
                  <a:pt x="75946" y="10033"/>
                </a:lnTo>
                <a:lnTo>
                  <a:pt x="36499" y="36449"/>
                </a:lnTo>
                <a:lnTo>
                  <a:pt x="10007" y="75946"/>
                </a:lnTo>
                <a:lnTo>
                  <a:pt x="0" y="124205"/>
                </a:lnTo>
                <a:lnTo>
                  <a:pt x="10007" y="171830"/>
                </a:lnTo>
                <a:lnTo>
                  <a:pt x="32969" y="210692"/>
                </a:lnTo>
                <a:lnTo>
                  <a:pt x="45923" y="229488"/>
                </a:lnTo>
                <a:lnTo>
                  <a:pt x="51790" y="239522"/>
                </a:lnTo>
                <a:lnTo>
                  <a:pt x="57696" y="249427"/>
                </a:lnTo>
                <a:lnTo>
                  <a:pt x="62979" y="260096"/>
                </a:lnTo>
                <a:lnTo>
                  <a:pt x="67703" y="271907"/>
                </a:lnTo>
                <a:lnTo>
                  <a:pt x="71805" y="284225"/>
                </a:lnTo>
                <a:lnTo>
                  <a:pt x="74752" y="297179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454178" y="1546099"/>
            <a:ext cx="35001" cy="161543"/>
          </a:xfrm>
          <a:custGeom>
            <a:avLst/>
            <a:gdLst/>
            <a:ahLst/>
            <a:cxnLst/>
            <a:rect l="l" t="t" r="r" b="b"/>
            <a:pathLst>
              <a:path w="35001" h="161543">
                <a:moveTo>
                  <a:pt x="35001" y="0"/>
                </a:moveTo>
                <a:lnTo>
                  <a:pt x="20523" y="68961"/>
                </a:lnTo>
                <a:lnTo>
                  <a:pt x="0" y="161543"/>
                </a:lnTo>
              </a:path>
            </a:pathLst>
          </a:custGeom>
          <a:ln w="12191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385598" y="1540001"/>
            <a:ext cx="86817" cy="19812"/>
          </a:xfrm>
          <a:custGeom>
            <a:avLst/>
            <a:gdLst/>
            <a:ahLst/>
            <a:cxnLst/>
            <a:rect l="l" t="t" r="r" b="b"/>
            <a:pathLst>
              <a:path w="86817" h="19812">
                <a:moveTo>
                  <a:pt x="0" y="1905"/>
                </a:moveTo>
                <a:lnTo>
                  <a:pt x="19939" y="19812"/>
                </a:lnTo>
                <a:lnTo>
                  <a:pt x="39890" y="1905"/>
                </a:lnTo>
                <a:lnTo>
                  <a:pt x="41656" y="635"/>
                </a:lnTo>
                <a:lnTo>
                  <a:pt x="43408" y="0"/>
                </a:lnTo>
                <a:lnTo>
                  <a:pt x="45161" y="635"/>
                </a:lnTo>
                <a:lnTo>
                  <a:pt x="46926" y="1905"/>
                </a:lnTo>
                <a:lnTo>
                  <a:pt x="66878" y="19812"/>
                </a:lnTo>
                <a:lnTo>
                  <a:pt x="86817" y="1905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379475" y="1710689"/>
            <a:ext cx="99060" cy="0"/>
          </a:xfrm>
          <a:custGeom>
            <a:avLst/>
            <a:gdLst/>
            <a:ahLst/>
            <a:cxnLst/>
            <a:rect l="l" t="t" r="r" b="b"/>
            <a:pathLst>
              <a:path w="99059">
                <a:moveTo>
                  <a:pt x="0" y="0"/>
                </a:moveTo>
                <a:lnTo>
                  <a:pt x="99060" y="0"/>
                </a:lnTo>
              </a:path>
            </a:pathLst>
          </a:custGeom>
          <a:ln w="12192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/>
          <p:nvPr/>
        </p:nvSpPr>
        <p:spPr>
          <a:xfrm>
            <a:off x="739140" y="957835"/>
            <a:ext cx="428244" cy="371855"/>
          </a:xfrm>
          <a:custGeom>
            <a:avLst/>
            <a:gdLst/>
            <a:ahLst/>
            <a:cxnLst/>
            <a:rect l="l" t="t" r="r" b="b"/>
            <a:pathLst>
              <a:path w="428244" h="371855">
                <a:moveTo>
                  <a:pt x="321602" y="0"/>
                </a:moveTo>
                <a:lnTo>
                  <a:pt x="106641" y="0"/>
                </a:lnTo>
                <a:lnTo>
                  <a:pt x="0" y="185927"/>
                </a:lnTo>
                <a:lnTo>
                  <a:pt x="106641" y="371855"/>
                </a:lnTo>
                <a:lnTo>
                  <a:pt x="321602" y="371855"/>
                </a:lnTo>
                <a:lnTo>
                  <a:pt x="428244" y="185927"/>
                </a:lnTo>
                <a:lnTo>
                  <a:pt x="321602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6" name="object 16"/>
          <p:cNvSpPr/>
          <p:nvPr/>
        </p:nvSpPr>
        <p:spPr>
          <a:xfrm>
            <a:off x="421386" y="857251"/>
            <a:ext cx="358140" cy="246125"/>
          </a:xfrm>
          <a:custGeom>
            <a:avLst/>
            <a:gdLst/>
            <a:ahLst/>
            <a:cxnLst/>
            <a:rect l="l" t="t" r="r" b="b"/>
            <a:pathLst>
              <a:path w="358140" h="246125">
                <a:moveTo>
                  <a:pt x="0" y="90677"/>
                </a:moveTo>
                <a:lnTo>
                  <a:pt x="89154" y="246125"/>
                </a:lnTo>
                <a:lnTo>
                  <a:pt x="268986" y="246125"/>
                </a:lnTo>
                <a:lnTo>
                  <a:pt x="358140" y="90677"/>
                </a:lnTo>
                <a:lnTo>
                  <a:pt x="306133" y="0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/>
          <p:nvPr/>
        </p:nvSpPr>
        <p:spPr>
          <a:xfrm>
            <a:off x="421386" y="857251"/>
            <a:ext cx="52006" cy="90677"/>
          </a:xfrm>
          <a:custGeom>
            <a:avLst/>
            <a:gdLst/>
            <a:ahLst/>
            <a:cxnLst/>
            <a:rect l="l" t="t" r="r" b="b"/>
            <a:pathLst>
              <a:path w="52006" h="90677">
                <a:moveTo>
                  <a:pt x="52006" y="0"/>
                </a:moveTo>
                <a:lnTo>
                  <a:pt x="0" y="90677"/>
                </a:lnTo>
              </a:path>
            </a:pathLst>
          </a:custGeom>
          <a:ln w="19812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8" name="object 18"/>
          <p:cNvSpPr/>
          <p:nvPr/>
        </p:nvSpPr>
        <p:spPr>
          <a:xfrm>
            <a:off x="336804" y="2309623"/>
            <a:ext cx="185902" cy="207263"/>
          </a:xfrm>
          <a:custGeom>
            <a:avLst/>
            <a:gdLst/>
            <a:ahLst/>
            <a:cxnLst/>
            <a:rect l="l" t="t" r="r" b="b"/>
            <a:pathLst>
              <a:path w="185902" h="207263">
                <a:moveTo>
                  <a:pt x="133807" y="0"/>
                </a:moveTo>
                <a:lnTo>
                  <a:pt x="128866" y="762"/>
                </a:lnTo>
                <a:lnTo>
                  <a:pt x="123939" y="1397"/>
                </a:lnTo>
                <a:lnTo>
                  <a:pt x="119011" y="2793"/>
                </a:lnTo>
                <a:lnTo>
                  <a:pt x="88734" y="27686"/>
                </a:lnTo>
                <a:lnTo>
                  <a:pt x="82397" y="52577"/>
                </a:lnTo>
                <a:lnTo>
                  <a:pt x="83083" y="60325"/>
                </a:lnTo>
                <a:lnTo>
                  <a:pt x="85216" y="68199"/>
                </a:lnTo>
                <a:lnTo>
                  <a:pt x="88023" y="75183"/>
                </a:lnTo>
                <a:lnTo>
                  <a:pt x="91541" y="81661"/>
                </a:lnTo>
                <a:lnTo>
                  <a:pt x="0" y="190245"/>
                </a:lnTo>
                <a:lnTo>
                  <a:pt x="10579" y="197992"/>
                </a:lnTo>
                <a:lnTo>
                  <a:pt x="20446" y="207263"/>
                </a:lnTo>
                <a:lnTo>
                  <a:pt x="111975" y="99313"/>
                </a:lnTo>
                <a:lnTo>
                  <a:pt x="155713" y="99313"/>
                </a:lnTo>
                <a:lnTo>
                  <a:pt x="158457" y="97916"/>
                </a:lnTo>
                <a:lnTo>
                  <a:pt x="184480" y="62483"/>
                </a:lnTo>
                <a:lnTo>
                  <a:pt x="185902" y="52577"/>
                </a:lnTo>
                <a:lnTo>
                  <a:pt x="185204" y="46862"/>
                </a:lnTo>
                <a:lnTo>
                  <a:pt x="184480" y="41910"/>
                </a:lnTo>
                <a:lnTo>
                  <a:pt x="183070" y="36956"/>
                </a:lnTo>
                <a:lnTo>
                  <a:pt x="181686" y="31876"/>
                </a:lnTo>
                <a:lnTo>
                  <a:pt x="162661" y="9270"/>
                </a:lnTo>
                <a:lnTo>
                  <a:pt x="158457" y="6350"/>
                </a:lnTo>
                <a:lnTo>
                  <a:pt x="154216" y="4317"/>
                </a:lnTo>
                <a:lnTo>
                  <a:pt x="149288" y="2793"/>
                </a:lnTo>
                <a:lnTo>
                  <a:pt x="144348" y="1397"/>
                </a:lnTo>
                <a:lnTo>
                  <a:pt x="133807" y="0"/>
                </a:lnTo>
                <a:close/>
              </a:path>
              <a:path w="185902" h="207263">
                <a:moveTo>
                  <a:pt x="155713" y="99313"/>
                </a:moveTo>
                <a:lnTo>
                  <a:pt x="111975" y="99313"/>
                </a:lnTo>
                <a:lnTo>
                  <a:pt x="116903" y="101473"/>
                </a:lnTo>
                <a:lnTo>
                  <a:pt x="122529" y="102997"/>
                </a:lnTo>
                <a:lnTo>
                  <a:pt x="133807" y="104266"/>
                </a:lnTo>
                <a:lnTo>
                  <a:pt x="139420" y="103631"/>
                </a:lnTo>
                <a:lnTo>
                  <a:pt x="144348" y="102997"/>
                </a:lnTo>
                <a:lnTo>
                  <a:pt x="149288" y="102235"/>
                </a:lnTo>
                <a:lnTo>
                  <a:pt x="154216" y="100075"/>
                </a:lnTo>
                <a:lnTo>
                  <a:pt x="155713" y="99313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9" name="object 19"/>
          <p:cNvSpPr/>
          <p:nvPr/>
        </p:nvSpPr>
        <p:spPr>
          <a:xfrm>
            <a:off x="53339" y="2340102"/>
            <a:ext cx="149326" cy="172212"/>
          </a:xfrm>
          <a:custGeom>
            <a:avLst/>
            <a:gdLst/>
            <a:ahLst/>
            <a:cxnLst/>
            <a:rect l="l" t="t" r="r" b="b"/>
            <a:pathLst>
              <a:path w="149326" h="172212">
                <a:moveTo>
                  <a:pt x="106254" y="99949"/>
                </a:moveTo>
                <a:lnTo>
                  <a:pt x="71822" y="99949"/>
                </a:lnTo>
                <a:lnTo>
                  <a:pt x="127977" y="172212"/>
                </a:lnTo>
                <a:lnTo>
                  <a:pt x="137934" y="163702"/>
                </a:lnTo>
                <a:lnTo>
                  <a:pt x="149326" y="155956"/>
                </a:lnTo>
                <a:lnTo>
                  <a:pt x="106254" y="99949"/>
                </a:lnTo>
                <a:close/>
              </a:path>
              <a:path w="149326" h="172212">
                <a:moveTo>
                  <a:pt x="56188" y="0"/>
                </a:moveTo>
                <a:lnTo>
                  <a:pt x="45504" y="0"/>
                </a:lnTo>
                <a:lnTo>
                  <a:pt x="40525" y="762"/>
                </a:lnTo>
                <a:lnTo>
                  <a:pt x="35547" y="2159"/>
                </a:lnTo>
                <a:lnTo>
                  <a:pt x="31296" y="4318"/>
                </a:lnTo>
                <a:lnTo>
                  <a:pt x="26318" y="6350"/>
                </a:lnTo>
                <a:lnTo>
                  <a:pt x="2153" y="36830"/>
                </a:lnTo>
                <a:lnTo>
                  <a:pt x="0" y="47498"/>
                </a:lnTo>
                <a:lnTo>
                  <a:pt x="0" y="58165"/>
                </a:lnTo>
                <a:lnTo>
                  <a:pt x="727" y="63119"/>
                </a:lnTo>
                <a:lnTo>
                  <a:pt x="2153" y="68072"/>
                </a:lnTo>
                <a:lnTo>
                  <a:pt x="4279" y="72262"/>
                </a:lnTo>
                <a:lnTo>
                  <a:pt x="6404" y="77215"/>
                </a:lnTo>
                <a:lnTo>
                  <a:pt x="9258" y="80772"/>
                </a:lnTo>
                <a:lnTo>
                  <a:pt x="12081" y="85089"/>
                </a:lnTo>
                <a:lnTo>
                  <a:pt x="15662" y="88519"/>
                </a:lnTo>
                <a:lnTo>
                  <a:pt x="49783" y="103505"/>
                </a:lnTo>
                <a:lnTo>
                  <a:pt x="57616" y="103505"/>
                </a:lnTo>
                <a:lnTo>
                  <a:pt x="64719" y="101981"/>
                </a:lnTo>
                <a:lnTo>
                  <a:pt x="71822" y="99949"/>
                </a:lnTo>
                <a:lnTo>
                  <a:pt x="106254" y="99949"/>
                </a:lnTo>
                <a:lnTo>
                  <a:pt x="93167" y="82931"/>
                </a:lnTo>
                <a:lnTo>
                  <a:pt x="96710" y="77977"/>
                </a:lnTo>
                <a:lnTo>
                  <a:pt x="99542" y="73025"/>
                </a:lnTo>
                <a:lnTo>
                  <a:pt x="101688" y="67310"/>
                </a:lnTo>
                <a:lnTo>
                  <a:pt x="103124" y="60960"/>
                </a:lnTo>
                <a:lnTo>
                  <a:pt x="103822" y="56007"/>
                </a:lnTo>
                <a:lnTo>
                  <a:pt x="103822" y="45338"/>
                </a:lnTo>
                <a:lnTo>
                  <a:pt x="84632" y="11302"/>
                </a:lnTo>
                <a:lnTo>
                  <a:pt x="61167" y="762"/>
                </a:lnTo>
                <a:lnTo>
                  <a:pt x="5618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0" name="object 20"/>
          <p:cNvSpPr/>
          <p:nvPr/>
        </p:nvSpPr>
        <p:spPr>
          <a:xfrm>
            <a:off x="0" y="2637283"/>
            <a:ext cx="158496" cy="126491"/>
          </a:xfrm>
          <a:custGeom>
            <a:avLst/>
            <a:gdLst/>
            <a:ahLst/>
            <a:cxnLst/>
            <a:rect l="l" t="t" r="r" b="b"/>
            <a:pathLst>
              <a:path w="158496" h="126491">
                <a:moveTo>
                  <a:pt x="3491" y="22605"/>
                </a:moveTo>
                <a:lnTo>
                  <a:pt x="0" y="23142"/>
                </a:lnTo>
                <a:lnTo>
                  <a:pt x="0" y="126491"/>
                </a:lnTo>
                <a:lnTo>
                  <a:pt x="4911" y="126491"/>
                </a:lnTo>
                <a:lnTo>
                  <a:pt x="9866" y="125729"/>
                </a:lnTo>
                <a:lnTo>
                  <a:pt x="19777" y="122935"/>
                </a:lnTo>
                <a:lnTo>
                  <a:pt x="24037" y="121538"/>
                </a:lnTo>
                <a:lnTo>
                  <a:pt x="28267" y="118744"/>
                </a:lnTo>
                <a:lnTo>
                  <a:pt x="32527" y="115823"/>
                </a:lnTo>
                <a:lnTo>
                  <a:pt x="36758" y="113029"/>
                </a:lnTo>
                <a:lnTo>
                  <a:pt x="53740" y="76326"/>
                </a:lnTo>
                <a:lnTo>
                  <a:pt x="53044" y="67817"/>
                </a:lnTo>
                <a:lnTo>
                  <a:pt x="113391" y="43179"/>
                </a:lnTo>
                <a:lnTo>
                  <a:pt x="43134" y="43179"/>
                </a:lnTo>
                <a:lnTo>
                  <a:pt x="32527" y="32512"/>
                </a:lnTo>
                <a:lnTo>
                  <a:pt x="27572" y="29717"/>
                </a:lnTo>
                <a:lnTo>
                  <a:pt x="23312" y="27558"/>
                </a:lnTo>
                <a:lnTo>
                  <a:pt x="18357" y="25400"/>
                </a:lnTo>
                <a:lnTo>
                  <a:pt x="13402" y="24002"/>
                </a:lnTo>
                <a:lnTo>
                  <a:pt x="8446" y="23367"/>
                </a:lnTo>
                <a:lnTo>
                  <a:pt x="3491" y="22605"/>
                </a:lnTo>
                <a:close/>
              </a:path>
              <a:path w="158496" h="126491">
                <a:moveTo>
                  <a:pt x="147891" y="0"/>
                </a:moveTo>
                <a:lnTo>
                  <a:pt x="43134" y="43179"/>
                </a:lnTo>
                <a:lnTo>
                  <a:pt x="113391" y="43179"/>
                </a:lnTo>
                <a:lnTo>
                  <a:pt x="158496" y="24764"/>
                </a:lnTo>
                <a:lnTo>
                  <a:pt x="152120" y="12700"/>
                </a:lnTo>
                <a:lnTo>
                  <a:pt x="147891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1" name="object 21"/>
          <p:cNvSpPr/>
          <p:nvPr/>
        </p:nvSpPr>
        <p:spPr>
          <a:xfrm>
            <a:off x="204241" y="2724151"/>
            <a:ext cx="103606" cy="185927"/>
          </a:xfrm>
          <a:custGeom>
            <a:avLst/>
            <a:gdLst/>
            <a:ahLst/>
            <a:cxnLst/>
            <a:rect l="l" t="t" r="r" b="b"/>
            <a:pathLst>
              <a:path w="103606" h="185927">
                <a:moveTo>
                  <a:pt x="43294" y="0"/>
                </a:moveTo>
                <a:lnTo>
                  <a:pt x="40449" y="83057"/>
                </a:lnTo>
                <a:lnTo>
                  <a:pt x="34785" y="84455"/>
                </a:lnTo>
                <a:lnTo>
                  <a:pt x="29082" y="87249"/>
                </a:lnTo>
                <a:lnTo>
                  <a:pt x="23418" y="90169"/>
                </a:lnTo>
                <a:lnTo>
                  <a:pt x="18453" y="93725"/>
                </a:lnTo>
                <a:lnTo>
                  <a:pt x="14185" y="97281"/>
                </a:lnTo>
                <a:lnTo>
                  <a:pt x="11366" y="101473"/>
                </a:lnTo>
                <a:lnTo>
                  <a:pt x="7785" y="105791"/>
                </a:lnTo>
                <a:lnTo>
                  <a:pt x="0" y="139064"/>
                </a:lnTo>
                <a:lnTo>
                  <a:pt x="698" y="144018"/>
                </a:lnTo>
                <a:lnTo>
                  <a:pt x="12064" y="166750"/>
                </a:lnTo>
                <a:lnTo>
                  <a:pt x="15608" y="171069"/>
                </a:lnTo>
                <a:lnTo>
                  <a:pt x="19151" y="174625"/>
                </a:lnTo>
                <a:lnTo>
                  <a:pt x="23418" y="177419"/>
                </a:lnTo>
                <a:lnTo>
                  <a:pt x="27660" y="179577"/>
                </a:lnTo>
                <a:lnTo>
                  <a:pt x="32626" y="181610"/>
                </a:lnTo>
                <a:lnTo>
                  <a:pt x="36906" y="183769"/>
                </a:lnTo>
                <a:lnTo>
                  <a:pt x="46837" y="185293"/>
                </a:lnTo>
                <a:lnTo>
                  <a:pt x="51803" y="185927"/>
                </a:lnTo>
                <a:lnTo>
                  <a:pt x="56768" y="185293"/>
                </a:lnTo>
                <a:lnTo>
                  <a:pt x="92252" y="166116"/>
                </a:lnTo>
                <a:lnTo>
                  <a:pt x="95059" y="161798"/>
                </a:lnTo>
                <a:lnTo>
                  <a:pt x="97917" y="157480"/>
                </a:lnTo>
                <a:lnTo>
                  <a:pt x="100037" y="153288"/>
                </a:lnTo>
                <a:lnTo>
                  <a:pt x="102882" y="143382"/>
                </a:lnTo>
                <a:lnTo>
                  <a:pt x="103513" y="139064"/>
                </a:lnTo>
                <a:lnTo>
                  <a:pt x="103606" y="128397"/>
                </a:lnTo>
                <a:lnTo>
                  <a:pt x="102882" y="123443"/>
                </a:lnTo>
                <a:lnTo>
                  <a:pt x="80187" y="90169"/>
                </a:lnTo>
                <a:lnTo>
                  <a:pt x="67411" y="84455"/>
                </a:lnTo>
                <a:lnTo>
                  <a:pt x="70234" y="1397"/>
                </a:lnTo>
                <a:lnTo>
                  <a:pt x="61747" y="1397"/>
                </a:lnTo>
                <a:lnTo>
                  <a:pt x="52501" y="762"/>
                </a:lnTo>
                <a:lnTo>
                  <a:pt x="43294" y="0"/>
                </a:lnTo>
                <a:close/>
              </a:path>
              <a:path w="103606" h="185927">
                <a:moveTo>
                  <a:pt x="70256" y="762"/>
                </a:moveTo>
                <a:lnTo>
                  <a:pt x="61747" y="1397"/>
                </a:lnTo>
                <a:lnTo>
                  <a:pt x="70234" y="1397"/>
                </a:lnTo>
                <a:lnTo>
                  <a:pt x="70256" y="762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2" name="object 22"/>
          <p:cNvSpPr/>
          <p:nvPr/>
        </p:nvSpPr>
        <p:spPr>
          <a:xfrm>
            <a:off x="387122" y="2582417"/>
            <a:ext cx="187401" cy="103632"/>
          </a:xfrm>
          <a:custGeom>
            <a:avLst/>
            <a:gdLst/>
            <a:ahLst/>
            <a:cxnLst/>
            <a:rect l="l" t="t" r="r" b="b"/>
            <a:pathLst>
              <a:path w="187401" h="103632">
                <a:moveTo>
                  <a:pt x="2844" y="21844"/>
                </a:moveTo>
                <a:lnTo>
                  <a:pt x="2120" y="35179"/>
                </a:lnTo>
                <a:lnTo>
                  <a:pt x="0" y="47879"/>
                </a:lnTo>
                <a:lnTo>
                  <a:pt x="84150" y="58547"/>
                </a:lnTo>
                <a:lnTo>
                  <a:pt x="84874" y="64135"/>
                </a:lnTo>
                <a:lnTo>
                  <a:pt x="86982" y="69723"/>
                </a:lnTo>
                <a:lnTo>
                  <a:pt x="89090" y="74041"/>
                </a:lnTo>
                <a:lnTo>
                  <a:pt x="91236" y="78994"/>
                </a:lnTo>
                <a:lnTo>
                  <a:pt x="94043" y="83185"/>
                </a:lnTo>
                <a:lnTo>
                  <a:pt x="97586" y="86741"/>
                </a:lnTo>
                <a:lnTo>
                  <a:pt x="101117" y="90170"/>
                </a:lnTo>
                <a:lnTo>
                  <a:pt x="104673" y="93726"/>
                </a:lnTo>
                <a:lnTo>
                  <a:pt x="128015" y="102870"/>
                </a:lnTo>
                <a:lnTo>
                  <a:pt x="132930" y="103632"/>
                </a:lnTo>
                <a:lnTo>
                  <a:pt x="137883" y="103632"/>
                </a:lnTo>
                <a:lnTo>
                  <a:pt x="142836" y="102870"/>
                </a:lnTo>
                <a:lnTo>
                  <a:pt x="147789" y="102235"/>
                </a:lnTo>
                <a:lnTo>
                  <a:pt x="152742" y="100076"/>
                </a:lnTo>
                <a:lnTo>
                  <a:pt x="157695" y="98679"/>
                </a:lnTo>
                <a:lnTo>
                  <a:pt x="162636" y="95885"/>
                </a:lnTo>
                <a:lnTo>
                  <a:pt x="166903" y="93091"/>
                </a:lnTo>
                <a:lnTo>
                  <a:pt x="177495" y="82423"/>
                </a:lnTo>
                <a:lnTo>
                  <a:pt x="179603" y="78232"/>
                </a:lnTo>
                <a:lnTo>
                  <a:pt x="182448" y="74041"/>
                </a:lnTo>
                <a:lnTo>
                  <a:pt x="185280" y="64135"/>
                </a:lnTo>
                <a:lnTo>
                  <a:pt x="186702" y="59944"/>
                </a:lnTo>
                <a:lnTo>
                  <a:pt x="187401" y="54229"/>
                </a:lnTo>
                <a:lnTo>
                  <a:pt x="187401" y="49403"/>
                </a:lnTo>
                <a:lnTo>
                  <a:pt x="185978" y="39497"/>
                </a:lnTo>
                <a:lnTo>
                  <a:pt x="182942" y="32385"/>
                </a:lnTo>
                <a:lnTo>
                  <a:pt x="87680" y="32385"/>
                </a:lnTo>
                <a:lnTo>
                  <a:pt x="2844" y="21844"/>
                </a:lnTo>
                <a:close/>
              </a:path>
              <a:path w="187401" h="103632">
                <a:moveTo>
                  <a:pt x="132930" y="0"/>
                </a:moveTo>
                <a:lnTo>
                  <a:pt x="95465" y="19050"/>
                </a:lnTo>
                <a:lnTo>
                  <a:pt x="87680" y="32385"/>
                </a:lnTo>
                <a:lnTo>
                  <a:pt x="182942" y="32385"/>
                </a:lnTo>
                <a:lnTo>
                  <a:pt x="161950" y="7747"/>
                </a:lnTo>
                <a:lnTo>
                  <a:pt x="157695" y="4953"/>
                </a:lnTo>
                <a:lnTo>
                  <a:pt x="142836" y="762"/>
                </a:lnTo>
                <a:lnTo>
                  <a:pt x="137883" y="762"/>
                </a:lnTo>
                <a:lnTo>
                  <a:pt x="132930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3" name="object 23"/>
          <p:cNvSpPr/>
          <p:nvPr/>
        </p:nvSpPr>
        <p:spPr>
          <a:xfrm>
            <a:off x="156971" y="2490977"/>
            <a:ext cx="219430" cy="220980"/>
          </a:xfrm>
          <a:custGeom>
            <a:avLst/>
            <a:gdLst/>
            <a:ahLst/>
            <a:cxnLst/>
            <a:rect l="l" t="t" r="r" b="b"/>
            <a:pathLst>
              <a:path w="219430" h="220980">
                <a:moveTo>
                  <a:pt x="109728" y="0"/>
                </a:moveTo>
                <a:lnTo>
                  <a:pt x="67233" y="8509"/>
                </a:lnTo>
                <a:lnTo>
                  <a:pt x="32550" y="32638"/>
                </a:lnTo>
                <a:lnTo>
                  <a:pt x="8496" y="67563"/>
                </a:lnTo>
                <a:lnTo>
                  <a:pt x="0" y="110109"/>
                </a:lnTo>
                <a:lnTo>
                  <a:pt x="698" y="121538"/>
                </a:lnTo>
                <a:lnTo>
                  <a:pt x="13449" y="162687"/>
                </a:lnTo>
                <a:lnTo>
                  <a:pt x="40347" y="195325"/>
                </a:lnTo>
                <a:lnTo>
                  <a:pt x="67233" y="211709"/>
                </a:lnTo>
                <a:lnTo>
                  <a:pt x="77152" y="216026"/>
                </a:lnTo>
                <a:lnTo>
                  <a:pt x="87757" y="218186"/>
                </a:lnTo>
                <a:lnTo>
                  <a:pt x="98399" y="220218"/>
                </a:lnTo>
                <a:lnTo>
                  <a:pt x="109728" y="220980"/>
                </a:lnTo>
                <a:lnTo>
                  <a:pt x="121031" y="220218"/>
                </a:lnTo>
                <a:lnTo>
                  <a:pt x="162102" y="207518"/>
                </a:lnTo>
                <a:lnTo>
                  <a:pt x="194652" y="180467"/>
                </a:lnTo>
                <a:lnTo>
                  <a:pt x="215201" y="143510"/>
                </a:lnTo>
                <a:lnTo>
                  <a:pt x="219430" y="121538"/>
                </a:lnTo>
                <a:lnTo>
                  <a:pt x="219430" y="99441"/>
                </a:lnTo>
                <a:lnTo>
                  <a:pt x="217309" y="88137"/>
                </a:lnTo>
                <a:lnTo>
                  <a:pt x="215201" y="77470"/>
                </a:lnTo>
                <a:lnTo>
                  <a:pt x="210934" y="67563"/>
                </a:lnTo>
                <a:lnTo>
                  <a:pt x="206705" y="57531"/>
                </a:lnTo>
                <a:lnTo>
                  <a:pt x="179781" y="25654"/>
                </a:lnTo>
                <a:lnTo>
                  <a:pt x="142278" y="4952"/>
                </a:lnTo>
                <a:lnTo>
                  <a:pt x="121031" y="762"/>
                </a:lnTo>
                <a:lnTo>
                  <a:pt x="109728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/>
          <p:cNvSpPr txBox="1"/>
          <p:nvPr/>
        </p:nvSpPr>
        <p:spPr>
          <a:xfrm>
            <a:off x="2843808" y="1452294"/>
            <a:ext cx="3649700" cy="5842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  <a:cs typeface="Calibri"/>
              </a:rPr>
              <a:t>Algoritmo</a:t>
            </a:r>
            <a:endParaRPr sz="2800" b="1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  <a:cs typeface="Calibri"/>
            </a:endParaRPr>
          </a:p>
        </p:txBody>
      </p:sp>
      <p:sp>
        <p:nvSpPr>
          <p:cNvPr id="30" name="object 3">
            <a:extLst>
              <a:ext uri="{FF2B5EF4-FFF2-40B4-BE49-F238E27FC236}">
                <a16:creationId xmlns:a16="http://schemas.microsoft.com/office/drawing/2014/main" id="{7FE3A13B-DBB4-449A-B454-81AAB09D6EA8}"/>
              </a:ext>
            </a:extLst>
          </p:cNvPr>
          <p:cNvSpPr/>
          <p:nvPr/>
        </p:nvSpPr>
        <p:spPr>
          <a:xfrm>
            <a:off x="420623" y="2533650"/>
            <a:ext cx="2065020" cy="17891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6">
            <a:extLst>
              <a:ext uri="{FF2B5EF4-FFF2-40B4-BE49-F238E27FC236}">
                <a16:creationId xmlns:a16="http://schemas.microsoft.com/office/drawing/2014/main" id="{D7317DB9-0440-474B-A9B5-A5549D54AC4D}"/>
              </a:ext>
            </a:extLst>
          </p:cNvPr>
          <p:cNvSpPr txBox="1"/>
          <p:nvPr/>
        </p:nvSpPr>
        <p:spPr>
          <a:xfrm>
            <a:off x="1275715" y="3021076"/>
            <a:ext cx="334645" cy="7747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48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4800" dirty="0">
              <a:latin typeface="Calibri"/>
              <a:cs typeface="Calibri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3173249-7DF8-43BA-AE83-E97EF105511C}"/>
              </a:ext>
            </a:extLst>
          </p:cNvPr>
          <p:cNvSpPr txBox="1"/>
          <p:nvPr/>
        </p:nvSpPr>
        <p:spPr>
          <a:xfrm>
            <a:off x="2736389" y="2340102"/>
            <a:ext cx="5986988" cy="304698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s-MX" sz="2400" dirty="0"/>
              <a:t>Pedir un número (x)</a:t>
            </a:r>
          </a:p>
          <a:p>
            <a:pPr marL="342900" indent="-342900">
              <a:buAutoNum type="arabicPeriod"/>
            </a:pPr>
            <a:r>
              <a:rPr lang="es-MX" sz="2400" dirty="0"/>
              <a:t>Si x &gt; 0</a:t>
            </a:r>
          </a:p>
          <a:p>
            <a:r>
              <a:rPr lang="es-MX" sz="2400" dirty="0"/>
              <a:t>    	Escribir(“x es un número positivo”)</a:t>
            </a:r>
          </a:p>
          <a:p>
            <a:r>
              <a:rPr lang="es-MX" sz="2400" dirty="0"/>
              <a:t>    SiNo</a:t>
            </a:r>
          </a:p>
          <a:p>
            <a:r>
              <a:rPr lang="es-MX" sz="2400" dirty="0"/>
              <a:t>        Si x &lt; 0</a:t>
            </a:r>
          </a:p>
          <a:p>
            <a:r>
              <a:rPr lang="es-MX" sz="2400" dirty="0"/>
              <a:t>             Escribir(“x es un número negativo”)</a:t>
            </a:r>
          </a:p>
          <a:p>
            <a:r>
              <a:rPr lang="es-MX" sz="2400" dirty="0"/>
              <a:t>        SiNo</a:t>
            </a:r>
          </a:p>
          <a:p>
            <a:r>
              <a:rPr lang="es-MX" sz="2400" dirty="0"/>
              <a:t>    	Escribir(“x es cero”)</a:t>
            </a:r>
          </a:p>
        </p:txBody>
      </p:sp>
    </p:spTree>
    <p:extLst>
      <p:ext uri="{BB962C8B-B14F-4D97-AF65-F5344CB8AC3E}">
        <p14:creationId xmlns:p14="http://schemas.microsoft.com/office/powerpoint/2010/main" val="3462819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7" name="object 49">
            <a:extLst>
              <a:ext uri="{FF2B5EF4-FFF2-40B4-BE49-F238E27FC236}">
                <a16:creationId xmlns:a16="http://schemas.microsoft.com/office/drawing/2014/main" id="{1DA0AFE1-4300-4AAB-BE71-0CE3275A38E6}"/>
              </a:ext>
            </a:extLst>
          </p:cNvPr>
          <p:cNvSpPr txBox="1"/>
          <p:nvPr/>
        </p:nvSpPr>
        <p:spPr>
          <a:xfrm>
            <a:off x="1899443" y="2289810"/>
            <a:ext cx="6137275" cy="34117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>
              <a:lnSpc>
                <a:spcPct val="150000"/>
              </a:lnSpc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if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x &gt;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0: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12700" marR="95885" indent="914400">
              <a:lnSpc>
                <a:spcPct val="150000"/>
              </a:lnSpc>
              <a:tabLst>
                <a:tab pos="622300" algn="l"/>
              </a:tabLst>
            </a:pP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print</a:t>
            </a:r>
            <a:r>
              <a:rPr sz="2400" b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002060"/>
                </a:solidFill>
                <a:latin typeface="Arial"/>
                <a:cs typeface="Arial"/>
              </a:rPr>
              <a:t>(</a:t>
            </a:r>
            <a:r>
              <a:rPr lang="es-MX" sz="2400" b="1" spc="5" dirty="0">
                <a:solidFill>
                  <a:srgbClr val="002060"/>
                </a:solidFill>
                <a:latin typeface="Arial"/>
                <a:cs typeface="Arial"/>
              </a:rPr>
              <a:t>"x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s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u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n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número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positiv</a:t>
            </a:r>
            <a:r>
              <a:rPr sz="2400" b="1" spc="-5" dirty="0" err="1">
                <a:solidFill>
                  <a:srgbClr val="002060"/>
                </a:solidFill>
                <a:latin typeface="Arial"/>
                <a:cs typeface="Arial"/>
              </a:rPr>
              <a:t>o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"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)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elif	x&lt;0: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927100">
              <a:lnSpc>
                <a:spcPct val="150000"/>
              </a:lnSpc>
            </a:pP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print</a:t>
            </a:r>
            <a:r>
              <a:rPr sz="2400" b="1" spc="-2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(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"x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s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u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n</a:t>
            </a:r>
            <a:r>
              <a:rPr sz="2400" b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número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n</a:t>
            </a:r>
            <a:r>
              <a:rPr sz="2400" b="1" spc="-10" dirty="0" err="1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g</a:t>
            </a:r>
            <a:r>
              <a:rPr sz="2400" b="1" spc="-10" dirty="0" err="1">
                <a:solidFill>
                  <a:srgbClr val="002060"/>
                </a:solidFill>
                <a:latin typeface="Arial"/>
                <a:cs typeface="Arial"/>
              </a:rPr>
              <a:t>a</a:t>
            </a:r>
            <a:r>
              <a:rPr sz="2400" b="1" dirty="0" err="1">
                <a:solidFill>
                  <a:srgbClr val="002060"/>
                </a:solidFill>
                <a:latin typeface="Arial"/>
                <a:cs typeface="Arial"/>
              </a:rPr>
              <a:t>tiv</a:t>
            </a:r>
            <a:r>
              <a:rPr sz="2400" b="1" spc="-5" dirty="0" err="1">
                <a:solidFill>
                  <a:srgbClr val="002060"/>
                </a:solidFill>
                <a:latin typeface="Arial"/>
                <a:cs typeface="Arial"/>
              </a:rPr>
              <a:t>o</a:t>
            </a:r>
            <a:r>
              <a:rPr lang="es-MX" sz="2400" b="1" spc="-5" dirty="0">
                <a:solidFill>
                  <a:srgbClr val="002060"/>
                </a:solidFill>
                <a:latin typeface="Arial"/>
                <a:cs typeface="Arial"/>
              </a:rPr>
              <a:t>"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)</a:t>
            </a:r>
            <a:endParaRPr sz="2400" dirty="0">
              <a:solidFill>
                <a:srgbClr val="002060"/>
              </a:solidFill>
              <a:latin typeface="Arial"/>
              <a:cs typeface="Arial"/>
            </a:endParaRPr>
          </a:p>
          <a:p>
            <a:pPr marL="12700">
              <a:lnSpc>
                <a:spcPct val="150000"/>
              </a:lnSpc>
            </a:pP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/>
                <a:cs typeface="Arial"/>
              </a:rPr>
              <a:t>else:</a:t>
            </a:r>
            <a:endParaRPr sz="2400" dirty="0">
              <a:solidFill>
                <a:schemeClr val="accent6">
                  <a:lumMod val="75000"/>
                </a:schemeClr>
              </a:solidFill>
              <a:latin typeface="Arial"/>
              <a:cs typeface="Arial"/>
            </a:endParaRPr>
          </a:p>
          <a:p>
            <a:pPr marL="927100">
              <a:lnSpc>
                <a:spcPct val="150000"/>
              </a:lnSpc>
              <a:tabLst>
                <a:tab pos="3044190" algn="l"/>
              </a:tabLst>
            </a:pP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print</a:t>
            </a:r>
            <a:r>
              <a:rPr sz="2400" b="1" spc="-15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5" dirty="0">
                <a:solidFill>
                  <a:srgbClr val="002060"/>
                </a:solidFill>
                <a:latin typeface="Arial"/>
                <a:cs typeface="Arial"/>
              </a:rPr>
              <a:t>(</a:t>
            </a:r>
            <a:r>
              <a:rPr lang="es-MX" sz="2400" b="1" spc="5" dirty="0">
                <a:solidFill>
                  <a:srgbClr val="002060"/>
                </a:solidFill>
                <a:latin typeface="Arial"/>
                <a:cs typeface="Arial"/>
              </a:rPr>
              <a:t>"x</a:t>
            </a:r>
            <a:r>
              <a:rPr sz="2400" b="1" spc="-10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rgbClr val="002060"/>
                </a:solidFill>
                <a:latin typeface="Arial"/>
                <a:cs typeface="Arial"/>
              </a:rPr>
              <a:t>e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s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cero</a:t>
            </a:r>
            <a:r>
              <a:rPr lang="es-MX" sz="2400" b="1" dirty="0">
                <a:solidFill>
                  <a:srgbClr val="002060"/>
                </a:solidFill>
                <a:latin typeface="Arial"/>
                <a:cs typeface="Arial"/>
              </a:rPr>
              <a:t>"</a:t>
            </a:r>
            <a:r>
              <a:rPr sz="2400" b="1" dirty="0">
                <a:solidFill>
                  <a:srgbClr val="002060"/>
                </a:solidFill>
                <a:latin typeface="Arial"/>
                <a:cs typeface="Arial"/>
              </a:rPr>
              <a:t>)</a:t>
            </a:r>
            <a:endParaRPr sz="2400" dirty="0">
              <a:solidFill>
                <a:srgbClr val="002060"/>
              </a:solidFill>
              <a:latin typeface="Arial"/>
              <a:cs typeface="Arial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4630863-6A00-4F5A-ACE3-0B4AC532ED72}"/>
              </a:ext>
            </a:extLst>
          </p:cNvPr>
          <p:cNvSpPr/>
          <p:nvPr/>
        </p:nvSpPr>
        <p:spPr>
          <a:xfrm>
            <a:off x="3073015" y="2560598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2">
            <a:extLst>
              <a:ext uri="{FF2B5EF4-FFF2-40B4-BE49-F238E27FC236}">
                <a16:creationId xmlns:a16="http://schemas.microsoft.com/office/drawing/2014/main" id="{BDEFE7D2-5487-4381-9B5B-707F174CACB1}"/>
              </a:ext>
            </a:extLst>
          </p:cNvPr>
          <p:cNvSpPr txBox="1"/>
          <p:nvPr/>
        </p:nvSpPr>
        <p:spPr>
          <a:xfrm>
            <a:off x="4154308" y="2492896"/>
            <a:ext cx="3836210" cy="3119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b="1" spc="-10" dirty="0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b="1" dirty="0">
                <a:solidFill>
                  <a:srgbClr val="00B0F0"/>
                </a:solidFill>
                <a:latin typeface="Arial"/>
                <a:cs typeface="Arial"/>
              </a:rPr>
              <a:t> 1</a:t>
            </a:r>
            <a:endParaRPr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1C4F8A90-8501-402A-80D7-289BAAC073D8}"/>
              </a:ext>
            </a:extLst>
          </p:cNvPr>
          <p:cNvSpPr/>
          <p:nvPr/>
        </p:nvSpPr>
        <p:spPr>
          <a:xfrm>
            <a:off x="3211494" y="3677561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DF7EFDFB-916F-4B20-B558-AEFA0ABE787C}"/>
              </a:ext>
            </a:extLst>
          </p:cNvPr>
          <p:cNvSpPr txBox="1"/>
          <p:nvPr/>
        </p:nvSpPr>
        <p:spPr>
          <a:xfrm>
            <a:off x="2661976" y="1119593"/>
            <a:ext cx="5026951" cy="72138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3600" b="1" dirty="0">
                <a:solidFill>
                  <a:srgbClr val="002060"/>
                </a:solidFill>
                <a:latin typeface="Calibri"/>
                <a:cs typeface="Calibri"/>
              </a:rPr>
              <a:t>Programa en Python</a:t>
            </a:r>
            <a:endParaRPr sz="28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28" name="object 26">
            <a:extLst>
              <a:ext uri="{FF2B5EF4-FFF2-40B4-BE49-F238E27FC236}">
                <a16:creationId xmlns:a16="http://schemas.microsoft.com/office/drawing/2014/main" id="{EA8F986F-5BA0-4441-9CCA-5688A99A74E9}"/>
              </a:ext>
            </a:extLst>
          </p:cNvPr>
          <p:cNvSpPr txBox="1"/>
          <p:nvPr/>
        </p:nvSpPr>
        <p:spPr>
          <a:xfrm>
            <a:off x="772668" y="1295401"/>
            <a:ext cx="294132" cy="45262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lang="es-MX" sz="2400" b="1" spc="-25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4" name="object 22">
            <a:extLst>
              <a:ext uri="{FF2B5EF4-FFF2-40B4-BE49-F238E27FC236}">
                <a16:creationId xmlns:a16="http://schemas.microsoft.com/office/drawing/2014/main" id="{2F8D1F0D-8C54-401D-BC8D-EBADA1B9A6D4}"/>
              </a:ext>
            </a:extLst>
          </p:cNvPr>
          <p:cNvSpPr txBox="1"/>
          <p:nvPr/>
        </p:nvSpPr>
        <p:spPr>
          <a:xfrm>
            <a:off x="4192174" y="3609859"/>
            <a:ext cx="3836210" cy="31199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b="1" dirty="0" err="1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b="1" spc="-10" dirty="0" err="1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b="1" dirty="0" err="1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b="1" spc="5" dirty="0" err="1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b="1" dirty="0" err="1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b="1" dirty="0">
                <a:solidFill>
                  <a:srgbClr val="00B0F0"/>
                </a:solidFill>
                <a:latin typeface="Arial"/>
                <a:cs typeface="Arial"/>
              </a:rPr>
              <a:t> 2</a:t>
            </a:r>
            <a:endParaRPr dirty="0">
              <a:solidFill>
                <a:srgbClr val="00B0F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7394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ject 14"/>
          <p:cNvSpPr txBox="1"/>
          <p:nvPr/>
        </p:nvSpPr>
        <p:spPr>
          <a:xfrm>
            <a:off x="2089648" y="361194"/>
            <a:ext cx="5200183" cy="635000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ctr"/>
            <a:r>
              <a:rPr sz="4400" b="1" spc="-25" dirty="0" err="1">
                <a:solidFill>
                  <a:srgbClr val="002060"/>
                </a:solidFill>
                <a:latin typeface="Calibri"/>
                <a:cs typeface="Calibri"/>
              </a:rPr>
              <a:t>C</a:t>
            </a:r>
            <a:r>
              <a:rPr sz="4400" b="1" spc="-20" dirty="0" err="1">
                <a:solidFill>
                  <a:srgbClr val="002060"/>
                </a:solidFill>
                <a:latin typeface="Calibri"/>
                <a:cs typeface="Calibri"/>
              </a:rPr>
              <a:t>ondicional</a:t>
            </a:r>
            <a:r>
              <a:rPr sz="4400" b="1" spc="-10" dirty="0">
                <a:solidFill>
                  <a:srgbClr val="002060"/>
                </a:solidFill>
                <a:latin typeface="Calibri"/>
                <a:cs typeface="Calibri"/>
              </a:rPr>
              <a:t> </a:t>
            </a:r>
            <a:r>
              <a:rPr lang="es-MX" sz="4400" b="1" spc="-10" dirty="0">
                <a:solidFill>
                  <a:srgbClr val="002060"/>
                </a:solidFill>
                <a:latin typeface="Calibri"/>
                <a:cs typeface="Calibri"/>
              </a:rPr>
              <a:t>if anidada</a:t>
            </a:r>
            <a:endParaRPr sz="4400" b="1" dirty="0">
              <a:solidFill>
                <a:srgbClr val="002060"/>
              </a:solidFill>
              <a:latin typeface="Calibri"/>
              <a:cs typeface="Calibri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34630863-6A00-4F5A-ACE3-0B4AC532ED72}"/>
              </a:ext>
            </a:extLst>
          </p:cNvPr>
          <p:cNvSpPr/>
          <p:nvPr/>
        </p:nvSpPr>
        <p:spPr>
          <a:xfrm>
            <a:off x="4278853" y="2585228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1" name="object 22">
            <a:extLst>
              <a:ext uri="{FF2B5EF4-FFF2-40B4-BE49-F238E27FC236}">
                <a16:creationId xmlns:a16="http://schemas.microsoft.com/office/drawing/2014/main" id="{BDEFE7D2-5487-4381-9B5B-707F174CACB1}"/>
              </a:ext>
            </a:extLst>
          </p:cNvPr>
          <p:cNvSpPr txBox="1"/>
          <p:nvPr/>
        </p:nvSpPr>
        <p:spPr>
          <a:xfrm>
            <a:off x="5133876" y="2531693"/>
            <a:ext cx="3254548" cy="333772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sz="1600"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sz="1600"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sz="1600" b="1" dirty="0">
                <a:solidFill>
                  <a:srgbClr val="00B0F0"/>
                </a:solidFill>
                <a:latin typeface="Arial"/>
                <a:cs typeface="Arial"/>
              </a:rPr>
              <a:t> 1</a:t>
            </a:r>
            <a:endParaRPr sz="16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32" name="object 20">
            <a:extLst>
              <a:ext uri="{FF2B5EF4-FFF2-40B4-BE49-F238E27FC236}">
                <a16:creationId xmlns:a16="http://schemas.microsoft.com/office/drawing/2014/main" id="{1C4F8A90-8501-402A-80D7-289BAAC073D8}"/>
              </a:ext>
            </a:extLst>
          </p:cNvPr>
          <p:cNvSpPr/>
          <p:nvPr/>
        </p:nvSpPr>
        <p:spPr>
          <a:xfrm>
            <a:off x="4505463" y="3037236"/>
            <a:ext cx="683387" cy="171151"/>
          </a:xfrm>
          <a:custGeom>
            <a:avLst/>
            <a:gdLst/>
            <a:ahLst/>
            <a:cxnLst/>
            <a:rect l="l" t="t" r="r" b="b"/>
            <a:pathLst>
              <a:path w="683387" h="171151">
                <a:moveTo>
                  <a:pt x="608291" y="85892"/>
                </a:moveTo>
                <a:lnTo>
                  <a:pt x="515050" y="142554"/>
                </a:lnTo>
                <a:lnTo>
                  <a:pt x="513262" y="153234"/>
                </a:lnTo>
                <a:lnTo>
                  <a:pt x="518458" y="166299"/>
                </a:lnTo>
                <a:lnTo>
                  <a:pt x="529180" y="171151"/>
                </a:lnTo>
                <a:lnTo>
                  <a:pt x="540893" y="168740"/>
                </a:lnTo>
                <a:lnTo>
                  <a:pt x="650754" y="104605"/>
                </a:lnTo>
                <a:lnTo>
                  <a:pt x="645668" y="104605"/>
                </a:lnTo>
                <a:lnTo>
                  <a:pt x="645668" y="102065"/>
                </a:lnTo>
                <a:lnTo>
                  <a:pt x="636016" y="102065"/>
                </a:lnTo>
                <a:lnTo>
                  <a:pt x="608291" y="85892"/>
                </a:lnTo>
                <a:close/>
              </a:path>
              <a:path w="683387" h="171151">
                <a:moveTo>
                  <a:pt x="575056" y="66505"/>
                </a:moveTo>
                <a:lnTo>
                  <a:pt x="0" y="66505"/>
                </a:lnTo>
                <a:lnTo>
                  <a:pt x="0" y="104605"/>
                </a:lnTo>
                <a:lnTo>
                  <a:pt x="577499" y="104605"/>
                </a:lnTo>
                <a:lnTo>
                  <a:pt x="608291" y="85892"/>
                </a:lnTo>
                <a:lnTo>
                  <a:pt x="575056" y="66505"/>
                </a:lnTo>
                <a:close/>
              </a:path>
              <a:path w="683387" h="171151">
                <a:moveTo>
                  <a:pt x="650754" y="66505"/>
                </a:moveTo>
                <a:lnTo>
                  <a:pt x="645668" y="66505"/>
                </a:lnTo>
                <a:lnTo>
                  <a:pt x="645668" y="104605"/>
                </a:lnTo>
                <a:lnTo>
                  <a:pt x="650754" y="104605"/>
                </a:lnTo>
                <a:lnTo>
                  <a:pt x="683387" y="85555"/>
                </a:lnTo>
                <a:lnTo>
                  <a:pt x="650754" y="66505"/>
                </a:lnTo>
                <a:close/>
              </a:path>
              <a:path w="683387" h="171151">
                <a:moveTo>
                  <a:pt x="636016" y="69045"/>
                </a:moveTo>
                <a:lnTo>
                  <a:pt x="608291" y="85892"/>
                </a:lnTo>
                <a:lnTo>
                  <a:pt x="636016" y="102065"/>
                </a:lnTo>
                <a:lnTo>
                  <a:pt x="636016" y="69045"/>
                </a:lnTo>
                <a:close/>
              </a:path>
              <a:path w="683387" h="171151">
                <a:moveTo>
                  <a:pt x="645668" y="69045"/>
                </a:moveTo>
                <a:lnTo>
                  <a:pt x="636016" y="69045"/>
                </a:lnTo>
                <a:lnTo>
                  <a:pt x="636016" y="102065"/>
                </a:lnTo>
                <a:lnTo>
                  <a:pt x="645668" y="102065"/>
                </a:lnTo>
                <a:lnTo>
                  <a:pt x="645668" y="69045"/>
                </a:lnTo>
                <a:close/>
              </a:path>
              <a:path w="683387" h="171151">
                <a:moveTo>
                  <a:pt x="532253" y="0"/>
                </a:moveTo>
                <a:lnTo>
                  <a:pt x="521814" y="3565"/>
                </a:lnTo>
                <a:lnTo>
                  <a:pt x="512687" y="14753"/>
                </a:lnTo>
                <a:lnTo>
                  <a:pt x="513777" y="26420"/>
                </a:lnTo>
                <a:lnTo>
                  <a:pt x="521716" y="35390"/>
                </a:lnTo>
                <a:lnTo>
                  <a:pt x="608291" y="85892"/>
                </a:lnTo>
                <a:lnTo>
                  <a:pt x="636016" y="69045"/>
                </a:lnTo>
                <a:lnTo>
                  <a:pt x="645668" y="69045"/>
                </a:lnTo>
                <a:lnTo>
                  <a:pt x="645668" y="66505"/>
                </a:lnTo>
                <a:lnTo>
                  <a:pt x="650754" y="66505"/>
                </a:lnTo>
                <a:lnTo>
                  <a:pt x="540893" y="2370"/>
                </a:lnTo>
                <a:lnTo>
                  <a:pt x="532253" y="0"/>
                </a:lnTo>
                <a:close/>
              </a:path>
            </a:pathLst>
          </a:custGeom>
          <a:solidFill>
            <a:srgbClr val="357DB8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3" name="object 22">
            <a:extLst>
              <a:ext uri="{FF2B5EF4-FFF2-40B4-BE49-F238E27FC236}">
                <a16:creationId xmlns:a16="http://schemas.microsoft.com/office/drawing/2014/main" id="{576B8C73-FAC2-4EE2-80B5-572E9B3684B8}"/>
              </a:ext>
            </a:extLst>
          </p:cNvPr>
          <p:cNvSpPr txBox="1"/>
          <p:nvPr/>
        </p:nvSpPr>
        <p:spPr>
          <a:xfrm>
            <a:off x="5258097" y="3009268"/>
            <a:ext cx="3274343" cy="247363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Exp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r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es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sz="1600" b="1" spc="-40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b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o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oleana:</a:t>
            </a:r>
            <a:r>
              <a:rPr sz="1600" b="1" spc="-45" dirty="0">
                <a:solidFill>
                  <a:srgbClr val="00B0F0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co</a:t>
            </a:r>
            <a:r>
              <a:rPr sz="1600" b="1" spc="-10" dirty="0">
                <a:solidFill>
                  <a:srgbClr val="00B0F0"/>
                </a:solidFill>
                <a:latin typeface="Arial"/>
                <a:cs typeface="Arial"/>
              </a:rPr>
              <a:t>n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dic</a:t>
            </a:r>
            <a:r>
              <a:rPr sz="1600" b="1" spc="5" dirty="0">
                <a:solidFill>
                  <a:srgbClr val="00B0F0"/>
                </a:solidFill>
                <a:latin typeface="Arial"/>
                <a:cs typeface="Arial"/>
              </a:rPr>
              <a:t>i</a:t>
            </a:r>
            <a:r>
              <a:rPr sz="1600" b="1" dirty="0">
                <a:solidFill>
                  <a:srgbClr val="00B0F0"/>
                </a:solidFill>
                <a:latin typeface="Arial"/>
                <a:cs typeface="Arial"/>
              </a:rPr>
              <a:t>ón</a:t>
            </a:r>
            <a:r>
              <a:rPr lang="es-MX" sz="1600" b="1" dirty="0">
                <a:solidFill>
                  <a:srgbClr val="00B0F0"/>
                </a:solidFill>
                <a:latin typeface="Arial"/>
                <a:cs typeface="Arial"/>
              </a:rPr>
              <a:t> 2</a:t>
            </a:r>
            <a:endParaRPr sz="1600" dirty="0">
              <a:solidFill>
                <a:srgbClr val="00B0F0"/>
              </a:solidFill>
              <a:latin typeface="Arial"/>
              <a:cs typeface="Arial"/>
            </a:endParaRPr>
          </a:p>
        </p:txBody>
      </p:sp>
      <p:sp>
        <p:nvSpPr>
          <p:cNvPr id="34" name="object 15">
            <a:extLst>
              <a:ext uri="{FF2B5EF4-FFF2-40B4-BE49-F238E27FC236}">
                <a16:creationId xmlns:a16="http://schemas.microsoft.com/office/drawing/2014/main" id="{B8266518-765F-4826-BF48-BD687919E094}"/>
              </a:ext>
            </a:extLst>
          </p:cNvPr>
          <p:cNvSpPr txBox="1"/>
          <p:nvPr/>
        </p:nvSpPr>
        <p:spPr>
          <a:xfrm>
            <a:off x="1006673" y="1474732"/>
            <a:ext cx="7130654" cy="338967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marR="2094230">
              <a:spcAft>
                <a:spcPts val="1200"/>
              </a:spcAft>
            </a:pP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Otro e</a:t>
            </a:r>
            <a:r>
              <a:rPr sz="2400" dirty="0" err="1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jemplo</a:t>
            </a:r>
            <a:r>
              <a:rPr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 de </a:t>
            </a:r>
            <a:r>
              <a:rPr lang="es-MX" sz="2400" dirty="0">
                <a:solidFill>
                  <a:schemeClr val="tx1">
                    <a:lumMod val="95000"/>
                    <a:lumOff val="5000"/>
                  </a:schemeClr>
                </a:solidFill>
                <a:cs typeface="Calibri"/>
              </a:rPr>
              <a:t>condicional anidada:</a:t>
            </a:r>
            <a:endParaRPr sz="2400" dirty="0">
              <a:solidFill>
                <a:schemeClr val="tx1">
                  <a:lumMod val="95000"/>
                  <a:lumOff val="5000"/>
                </a:schemeClr>
              </a:solidFill>
              <a:cs typeface="Calibri"/>
            </a:endParaRPr>
          </a:p>
        </p:txBody>
      </p:sp>
      <p:sp>
        <p:nvSpPr>
          <p:cNvPr id="24" name="object 27">
            <a:extLst>
              <a:ext uri="{FF2B5EF4-FFF2-40B4-BE49-F238E27FC236}">
                <a16:creationId xmlns:a16="http://schemas.microsoft.com/office/drawing/2014/main" id="{38AB52DC-E9F4-41A5-82E5-103F8EF73AFA}"/>
              </a:ext>
            </a:extLst>
          </p:cNvPr>
          <p:cNvSpPr txBox="1"/>
          <p:nvPr/>
        </p:nvSpPr>
        <p:spPr>
          <a:xfrm>
            <a:off x="2595248" y="2426047"/>
            <a:ext cx="2118995" cy="295722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if x==0:</a:t>
            </a:r>
          </a:p>
          <a:p>
            <a:pPr marL="314325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if y&gt;25:</a:t>
            </a:r>
          </a:p>
          <a:p>
            <a:pPr marL="817244"/>
            <a:r>
              <a:rPr sz="2800" b="1" dirty="0">
                <a:solidFill>
                  <a:srgbClr val="002060"/>
                </a:solidFill>
                <a:latin typeface="Consolas"/>
                <a:cs typeface="Consolas"/>
              </a:rPr>
              <a:t>z=10</a:t>
            </a:r>
          </a:p>
          <a:p>
            <a:pPr marL="314325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else:</a:t>
            </a:r>
          </a:p>
          <a:p>
            <a:pPr marL="817244"/>
            <a:r>
              <a:rPr sz="2800" b="1" dirty="0">
                <a:solidFill>
                  <a:srgbClr val="002060"/>
                </a:solidFill>
                <a:latin typeface="Consolas"/>
                <a:cs typeface="Consolas"/>
              </a:rPr>
              <a:t>z=-10</a:t>
            </a:r>
          </a:p>
          <a:p>
            <a:pPr marL="21590"/>
            <a:r>
              <a:rPr sz="2800" b="1" dirty="0">
                <a:solidFill>
                  <a:schemeClr val="accent6">
                    <a:lumMod val="75000"/>
                  </a:schemeClr>
                </a:solidFill>
                <a:latin typeface="Consolas"/>
                <a:cs typeface="Consolas"/>
              </a:rPr>
              <a:t>else:</a:t>
            </a:r>
          </a:p>
          <a:p>
            <a:pPr marL="469900"/>
            <a:r>
              <a:rPr sz="2800" b="1" dirty="0">
                <a:solidFill>
                  <a:srgbClr val="002060"/>
                </a:solidFill>
                <a:latin typeface="Consolas"/>
                <a:cs typeface="Consolas"/>
              </a:rPr>
              <a:t>z=y</a:t>
            </a:r>
          </a:p>
        </p:txBody>
      </p:sp>
      <p:sp>
        <p:nvSpPr>
          <p:cNvPr id="28" name="object 29">
            <a:extLst>
              <a:ext uri="{FF2B5EF4-FFF2-40B4-BE49-F238E27FC236}">
                <a16:creationId xmlns:a16="http://schemas.microsoft.com/office/drawing/2014/main" id="{AFD7B74F-4E89-4303-941A-E393E40D3949}"/>
              </a:ext>
            </a:extLst>
          </p:cNvPr>
          <p:cNvSpPr/>
          <p:nvPr/>
        </p:nvSpPr>
        <p:spPr>
          <a:xfrm rot="10800000">
            <a:off x="2601618" y="2915804"/>
            <a:ext cx="142070" cy="1646379"/>
          </a:xfrm>
          <a:custGeom>
            <a:avLst/>
            <a:gdLst/>
            <a:ahLst/>
            <a:cxnLst/>
            <a:rect l="l" t="t" r="r" b="b"/>
            <a:pathLst>
              <a:path w="154594" h="2054050">
                <a:moveTo>
                  <a:pt x="0" y="0"/>
                </a:moveTo>
                <a:lnTo>
                  <a:pt x="38471" y="1519"/>
                </a:lnTo>
                <a:lnTo>
                  <a:pt x="78102" y="8326"/>
                </a:lnTo>
                <a:lnTo>
                  <a:pt x="86105" y="1012825"/>
                </a:lnTo>
                <a:lnTo>
                  <a:pt x="88466" y="1016157"/>
                </a:lnTo>
                <a:lnTo>
                  <a:pt x="135955" y="1025835"/>
                </a:lnTo>
                <a:lnTo>
                  <a:pt x="154594" y="1026872"/>
                </a:lnTo>
                <a:lnTo>
                  <a:pt x="137761" y="1027618"/>
                </a:lnTo>
                <a:lnTo>
                  <a:pt x="93864" y="1035453"/>
                </a:lnTo>
                <a:lnTo>
                  <a:pt x="86105" y="2040001"/>
                </a:lnTo>
                <a:lnTo>
                  <a:pt x="83745" y="2043349"/>
                </a:lnTo>
                <a:lnTo>
                  <a:pt x="77031" y="2046416"/>
                </a:lnTo>
                <a:lnTo>
                  <a:pt x="66512" y="2049111"/>
                </a:lnTo>
                <a:lnTo>
                  <a:pt x="52738" y="2051342"/>
                </a:lnTo>
                <a:lnTo>
                  <a:pt x="36256" y="2053019"/>
                </a:lnTo>
                <a:lnTo>
                  <a:pt x="17617" y="2054050"/>
                </a:lnTo>
              </a:path>
            </a:pathLst>
          </a:custGeom>
          <a:ln w="25400">
            <a:solidFill>
              <a:schemeClr val="tx1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5" name="object 30">
            <a:extLst>
              <a:ext uri="{FF2B5EF4-FFF2-40B4-BE49-F238E27FC236}">
                <a16:creationId xmlns:a16="http://schemas.microsoft.com/office/drawing/2014/main" id="{D265C6CE-66D9-4493-AFCD-CFABD1FA028E}"/>
              </a:ext>
            </a:extLst>
          </p:cNvPr>
          <p:cNvSpPr txBox="1"/>
          <p:nvPr/>
        </p:nvSpPr>
        <p:spPr>
          <a:xfrm>
            <a:off x="839842" y="3084513"/>
            <a:ext cx="1674560" cy="1477669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 algn="r">
              <a:lnSpc>
                <a:spcPts val="2500"/>
              </a:lnSpc>
            </a:pPr>
            <a:r>
              <a:rPr sz="1600" b="1" dirty="0">
                <a:solidFill>
                  <a:srgbClr val="00AFEF"/>
                </a:solidFill>
                <a:latin typeface="Arial"/>
                <a:cs typeface="Arial"/>
              </a:rPr>
              <a:t>Un if dentro de las acciones</a:t>
            </a:r>
          </a:p>
          <a:p>
            <a:pPr marL="12700" algn="r">
              <a:lnSpc>
                <a:spcPts val="2500"/>
              </a:lnSpc>
            </a:pPr>
            <a:r>
              <a:rPr sz="1600" b="1" dirty="0">
                <a:solidFill>
                  <a:srgbClr val="00AFEF"/>
                </a:solidFill>
                <a:latin typeface="Arial"/>
                <a:cs typeface="Arial"/>
              </a:rPr>
              <a:t>si la condición es verdadera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F7C7FBD-C7EA-4005-A647-DD481E7F0F74}"/>
              </a:ext>
            </a:extLst>
          </p:cNvPr>
          <p:cNvSpPr/>
          <p:nvPr/>
        </p:nvSpPr>
        <p:spPr>
          <a:xfrm>
            <a:off x="1006672" y="2204865"/>
            <a:ext cx="7525768" cy="338437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4882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3008</TotalTime>
  <Words>783</Words>
  <Application>Microsoft Office PowerPoint</Application>
  <PresentationFormat>Presentación en pantalla (4:3)</PresentationFormat>
  <Paragraphs>144</Paragraphs>
  <Slides>24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9" baseType="lpstr">
      <vt:lpstr>Arial</vt:lpstr>
      <vt:lpstr>Calibri</vt:lpstr>
      <vt:lpstr>Consolas</vt:lpstr>
      <vt:lpstr>Wingdings</vt:lpstr>
      <vt:lpstr>Tema de Office</vt:lpstr>
      <vt:lpstr>TC 1037  Pensamiento algorítmico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112</cp:revision>
  <dcterms:created xsi:type="dcterms:W3CDTF">2013-06-11T22:32:36Z</dcterms:created>
  <dcterms:modified xsi:type="dcterms:W3CDTF">2026-09-29T14:52:04Z</dcterms:modified>
</cp:coreProperties>
</file>