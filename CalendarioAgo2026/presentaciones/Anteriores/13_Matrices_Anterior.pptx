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60" r:id="rId4"/>
    <p:sldId id="261" r:id="rId5"/>
    <p:sldId id="620" r:id="rId6"/>
    <p:sldId id="736" r:id="rId7"/>
    <p:sldId id="737" r:id="rId8"/>
    <p:sldId id="738" r:id="rId9"/>
    <p:sldId id="740" r:id="rId10"/>
    <p:sldId id="622" r:id="rId11"/>
    <p:sldId id="746" r:id="rId12"/>
    <p:sldId id="262" r:id="rId13"/>
    <p:sldId id="282" r:id="rId14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EE9260-B54E-4CF7-B1AA-368FD7AC92AB}" v="2" dt="2026-08-07T01:08:41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>
      <p:cViewPr varScale="1">
        <p:scale>
          <a:sx n="73" d="100"/>
          <a:sy n="73" d="100"/>
        </p:scale>
        <p:origin x="108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delSld modSld">
      <pc:chgData name="Lizethe Pérez Fuertes" userId="4ae9ef87-2a7d-42f8-8dfa-0a501a9e2ff4" providerId="ADAL" clId="{FDDD45CB-1330-4033-A842-3D2746AFF7C7}" dt="2026-08-07T01:11:59.411" v="32" actId="207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8-07T01:09:36.961" v="14" actId="478"/>
        <pc:sldMkLst>
          <pc:docMk/>
          <pc:sldMk cId="1182132109" sldId="257"/>
        </pc:sldMkLst>
        <pc:spChg chg="add del mod">
          <ac:chgData name="Lizethe Pérez Fuertes" userId="4ae9ef87-2a7d-42f8-8dfa-0a501a9e2ff4" providerId="ADAL" clId="{FDDD45CB-1330-4033-A842-3D2746AFF7C7}" dt="2026-08-07T01:08:41.259" v="2"/>
          <ac:spMkLst>
            <pc:docMk/>
            <pc:sldMk cId="1182132109" sldId="257"/>
            <ac:spMk id="2" creationId="{331BD7D6-776D-2766-4496-607BC2EC12B4}"/>
          </ac:spMkLst>
        </pc:spChg>
        <pc:spChg chg="add del">
          <ac:chgData name="Lizethe Pérez Fuertes" userId="4ae9ef87-2a7d-42f8-8dfa-0a501a9e2ff4" providerId="ADAL" clId="{FDDD45CB-1330-4033-A842-3D2746AFF7C7}" dt="2026-08-07T01:09:36.961" v="14" actId="478"/>
          <ac:spMkLst>
            <pc:docMk/>
            <pc:sldMk cId="1182132109" sldId="257"/>
            <ac:spMk id="3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07T01:08:51.237" v="5" actId="478"/>
          <ac:spMkLst>
            <pc:docMk/>
            <pc:sldMk cId="1182132109" sldId="257"/>
            <ac:spMk id="5" creationId="{83DC0A6A-611B-4B31-9C3C-4EEBD18EF1BA}"/>
          </ac:spMkLst>
        </pc:spChg>
        <pc:spChg chg="add mod">
          <ac:chgData name="Lizethe Pérez Fuertes" userId="4ae9ef87-2a7d-42f8-8dfa-0a501a9e2ff4" providerId="ADAL" clId="{FDDD45CB-1330-4033-A842-3D2746AFF7C7}" dt="2026-08-07T01:09:25.907" v="12" actId="1037"/>
          <ac:spMkLst>
            <pc:docMk/>
            <pc:sldMk cId="1182132109" sldId="257"/>
            <ac:spMk id="6" creationId="{EC4224C7-9398-570F-61FE-4CD55A0121B5}"/>
          </ac:spMkLst>
        </pc:spChg>
        <pc:spChg chg="add del mod">
          <ac:chgData name="Lizethe Pérez Fuertes" userId="4ae9ef87-2a7d-42f8-8dfa-0a501a9e2ff4" providerId="ADAL" clId="{FDDD45CB-1330-4033-A842-3D2746AFF7C7}" dt="2026-08-07T01:09:01.154" v="7" actId="478"/>
          <ac:spMkLst>
            <pc:docMk/>
            <pc:sldMk cId="1182132109" sldId="257"/>
            <ac:spMk id="8" creationId="{FAC01AD4-3318-35C9-9E3D-17476594D092}"/>
          </ac:spMkLst>
        </pc:spChg>
        <pc:spChg chg="add del mod">
          <ac:chgData name="Lizethe Pérez Fuertes" userId="4ae9ef87-2a7d-42f8-8dfa-0a501a9e2ff4" providerId="ADAL" clId="{FDDD45CB-1330-4033-A842-3D2746AFF7C7}" dt="2026-08-07T01:09:36.961" v="14" actId="478"/>
          <ac:spMkLst>
            <pc:docMk/>
            <pc:sldMk cId="1182132109" sldId="257"/>
            <ac:spMk id="10" creationId="{890A4D4F-3E7C-94E7-DA67-7E34AE20D28E}"/>
          </ac:spMkLst>
        </pc:spChg>
      </pc:sldChg>
      <pc:sldChg chg="modSp mod">
        <pc:chgData name="Lizethe Pérez Fuertes" userId="4ae9ef87-2a7d-42f8-8dfa-0a501a9e2ff4" providerId="ADAL" clId="{FDDD45CB-1330-4033-A842-3D2746AFF7C7}" dt="2026-08-07T01:11:32.500" v="31" actId="20577"/>
        <pc:sldMkLst>
          <pc:docMk/>
          <pc:sldMk cId="3355126383" sldId="259"/>
        </pc:sldMkLst>
        <pc:spChg chg="mod">
          <ac:chgData name="Lizethe Pérez Fuertes" userId="4ae9ef87-2a7d-42f8-8dfa-0a501a9e2ff4" providerId="ADAL" clId="{FDDD45CB-1330-4033-A842-3D2746AFF7C7}" dt="2026-08-07T01:11:32.500" v="31" actId="20577"/>
          <ac:spMkLst>
            <pc:docMk/>
            <pc:sldMk cId="3355126383" sldId="259"/>
            <ac:spMk id="4099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8-07T01:11:59.411" v="32" actId="207"/>
        <pc:sldMkLst>
          <pc:docMk/>
          <pc:sldMk cId="3325994410" sldId="260"/>
        </pc:sldMkLst>
        <pc:spChg chg="mod">
          <ac:chgData name="Lizethe Pérez Fuertes" userId="4ae9ef87-2a7d-42f8-8dfa-0a501a9e2ff4" providerId="ADAL" clId="{FDDD45CB-1330-4033-A842-3D2746AFF7C7}" dt="2026-08-07T01:11:59.411" v="32" actId="207"/>
          <ac:spMkLst>
            <pc:docMk/>
            <pc:sldMk cId="3325994410" sldId="260"/>
            <ac:spMk id="5122" creationId="{00000000-0000-0000-0000-000000000000}"/>
          </ac:spMkLst>
        </pc:spChg>
      </pc:sldChg>
      <pc:sldChg chg="del">
        <pc:chgData name="Lizethe Pérez Fuertes" userId="4ae9ef87-2a7d-42f8-8dfa-0a501a9e2ff4" providerId="ADAL" clId="{FDDD45CB-1330-4033-A842-3D2746AFF7C7}" dt="2026-08-07T01:10:46.515" v="16" actId="47"/>
        <pc:sldMkLst>
          <pc:docMk/>
          <pc:sldMk cId="60573319" sldId="275"/>
        </pc:sldMkLst>
      </pc:sldChg>
      <pc:sldChg chg="del">
        <pc:chgData name="Lizethe Pérez Fuertes" userId="4ae9ef87-2a7d-42f8-8dfa-0a501a9e2ff4" providerId="ADAL" clId="{FDDD45CB-1330-4033-A842-3D2746AFF7C7}" dt="2026-08-07T01:10:40.609" v="15" actId="47"/>
        <pc:sldMkLst>
          <pc:docMk/>
          <pc:sldMk cId="3781235135" sldId="276"/>
        </pc:sldMkLst>
      </pc:sldChg>
      <pc:sldChg chg="del">
        <pc:chgData name="Lizethe Pérez Fuertes" userId="4ae9ef87-2a7d-42f8-8dfa-0a501a9e2ff4" providerId="ADAL" clId="{FDDD45CB-1330-4033-A842-3D2746AFF7C7}" dt="2026-08-07T01:10:40.609" v="15" actId="47"/>
        <pc:sldMkLst>
          <pc:docMk/>
          <pc:sldMk cId="720340203" sldId="277"/>
        </pc:sldMkLst>
      </pc:sldChg>
      <pc:sldChg chg="del">
        <pc:chgData name="Lizethe Pérez Fuertes" userId="4ae9ef87-2a7d-42f8-8dfa-0a501a9e2ff4" providerId="ADAL" clId="{FDDD45CB-1330-4033-A842-3D2746AFF7C7}" dt="2026-08-07T01:10:50.183" v="17" actId="47"/>
        <pc:sldMkLst>
          <pc:docMk/>
          <pc:sldMk cId="798083237" sldId="278"/>
        </pc:sldMkLst>
      </pc:sldChg>
      <pc:sldChg chg="del">
        <pc:chgData name="Lizethe Pérez Fuertes" userId="4ae9ef87-2a7d-42f8-8dfa-0a501a9e2ff4" providerId="ADAL" clId="{FDDD45CB-1330-4033-A842-3D2746AFF7C7}" dt="2026-08-07T01:11:12.920" v="19" actId="47"/>
        <pc:sldMkLst>
          <pc:docMk/>
          <pc:sldMk cId="812640651" sldId="311"/>
        </pc:sldMkLst>
      </pc:sldChg>
      <pc:sldChg chg="del">
        <pc:chgData name="Lizethe Pérez Fuertes" userId="4ae9ef87-2a7d-42f8-8dfa-0a501a9e2ff4" providerId="ADAL" clId="{FDDD45CB-1330-4033-A842-3D2746AFF7C7}" dt="2026-08-07T01:10:53.763" v="18" actId="47"/>
        <pc:sldMkLst>
          <pc:docMk/>
          <pc:sldMk cId="3713659776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7A054-6D4F-4ED4-B3E7-62AC408CF79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A5C2F-87B0-4382-B452-9CF1E6F724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880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4A5C2F-87B0-4382-B452-9CF1E6F7248D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22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8152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3782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8640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540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7416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292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161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892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736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541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566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7581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789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959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12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614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733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1B184-8162-40A9-BCCC-182276235E4C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805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1988840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Matrices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140968"/>
            <a:ext cx="4104456" cy="303692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4224C7-9398-570F-61FE-4CD55A0121B5}"/>
              </a:ext>
            </a:extLst>
          </p:cNvPr>
          <p:cNvSpPr txBox="1">
            <a:spLocks/>
          </p:cNvSpPr>
          <p:nvPr/>
        </p:nvSpPr>
        <p:spPr>
          <a:xfrm>
            <a:off x="755576" y="404664"/>
            <a:ext cx="7342584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334789"/>
            <a:ext cx="619268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Matrices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1307976"/>
            <a:ext cx="7501011" cy="2985120"/>
          </a:xfrm>
        </p:spPr>
        <p:txBody>
          <a:bodyPr>
            <a:normAutofit fontScale="92500"/>
          </a:bodyPr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arreglo (vector)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 definimos como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la relación entre un nombre y un conjunto de localidades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. 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Decimos que la estructura de datos que definimos en el arreglo es de una sola dimensión ya que utilizamos un solo valor para identificar a cada localidad (0,1,2,...,n-1). </a:t>
            </a:r>
          </a:p>
        </p:txBody>
      </p:sp>
      <p:grpSp>
        <p:nvGrpSpPr>
          <p:cNvPr id="217092" name="Group 4"/>
          <p:cNvGrpSpPr>
            <a:grpSpLocks/>
          </p:cNvGrpSpPr>
          <p:nvPr/>
        </p:nvGrpSpPr>
        <p:grpSpPr bwMode="auto">
          <a:xfrm>
            <a:off x="2609850" y="4653136"/>
            <a:ext cx="4267200" cy="1108075"/>
            <a:chOff x="1728" y="3120"/>
            <a:chExt cx="2688" cy="698"/>
          </a:xfrm>
        </p:grpSpPr>
        <p:grpSp>
          <p:nvGrpSpPr>
            <p:cNvPr id="4101" name="Group 5"/>
            <p:cNvGrpSpPr>
              <a:grpSpLocks/>
            </p:cNvGrpSpPr>
            <p:nvPr/>
          </p:nvGrpSpPr>
          <p:grpSpPr bwMode="auto">
            <a:xfrm>
              <a:off x="1728" y="3120"/>
              <a:ext cx="2688" cy="336"/>
              <a:chOff x="1728" y="3120"/>
              <a:chExt cx="2688" cy="336"/>
            </a:xfrm>
          </p:grpSpPr>
          <p:sp>
            <p:nvSpPr>
              <p:cNvPr id="4110" name="Rectangle 6"/>
              <p:cNvSpPr>
                <a:spLocks noChangeArrowheads="1"/>
              </p:cNvSpPr>
              <p:nvPr/>
            </p:nvSpPr>
            <p:spPr bwMode="auto">
              <a:xfrm>
                <a:off x="1728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1" name="Rectangle 7"/>
              <p:cNvSpPr>
                <a:spLocks noChangeArrowheads="1"/>
              </p:cNvSpPr>
              <p:nvPr/>
            </p:nvSpPr>
            <p:spPr bwMode="auto">
              <a:xfrm>
                <a:off x="2064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2" name="Rectangle 8"/>
              <p:cNvSpPr>
                <a:spLocks noChangeArrowheads="1"/>
              </p:cNvSpPr>
              <p:nvPr/>
            </p:nvSpPr>
            <p:spPr bwMode="auto">
              <a:xfrm>
                <a:off x="2400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3" name="Rectangle 9"/>
              <p:cNvSpPr>
                <a:spLocks noChangeArrowheads="1"/>
              </p:cNvSpPr>
              <p:nvPr/>
            </p:nvSpPr>
            <p:spPr bwMode="auto">
              <a:xfrm>
                <a:off x="2736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4" name="Rectangle 10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5" name="Rectangle 11"/>
              <p:cNvSpPr>
                <a:spLocks noChangeArrowheads="1"/>
              </p:cNvSpPr>
              <p:nvPr/>
            </p:nvSpPr>
            <p:spPr bwMode="auto">
              <a:xfrm>
                <a:off x="3408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6" name="Rectangle 12"/>
              <p:cNvSpPr>
                <a:spLocks noChangeArrowheads="1"/>
              </p:cNvSpPr>
              <p:nvPr/>
            </p:nvSpPr>
            <p:spPr bwMode="auto">
              <a:xfrm>
                <a:off x="3744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7" name="Rectangle 13"/>
              <p:cNvSpPr>
                <a:spLocks noChangeArrowheads="1"/>
              </p:cNvSpPr>
              <p:nvPr/>
            </p:nvSpPr>
            <p:spPr bwMode="auto">
              <a:xfrm>
                <a:off x="4080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sp>
          <p:nvSpPr>
            <p:cNvPr id="4102" name="Text Box 14"/>
            <p:cNvSpPr txBox="1">
              <a:spLocks noChangeArrowheads="1"/>
            </p:cNvSpPr>
            <p:nvPr/>
          </p:nvSpPr>
          <p:spPr bwMode="auto">
            <a:xfrm>
              <a:off x="1800" y="3530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103" name="Text Box 15"/>
            <p:cNvSpPr txBox="1">
              <a:spLocks noChangeArrowheads="1"/>
            </p:cNvSpPr>
            <p:nvPr/>
          </p:nvSpPr>
          <p:spPr bwMode="auto">
            <a:xfrm>
              <a:off x="2140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104" name="Text Box 16"/>
            <p:cNvSpPr txBox="1">
              <a:spLocks noChangeArrowheads="1"/>
            </p:cNvSpPr>
            <p:nvPr/>
          </p:nvSpPr>
          <p:spPr bwMode="auto">
            <a:xfrm>
              <a:off x="2448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105" name="Text Box 17"/>
            <p:cNvSpPr txBox="1">
              <a:spLocks noChangeArrowheads="1"/>
            </p:cNvSpPr>
            <p:nvPr/>
          </p:nvSpPr>
          <p:spPr bwMode="auto">
            <a:xfrm>
              <a:off x="2824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106" name="Text Box 18"/>
            <p:cNvSpPr txBox="1">
              <a:spLocks noChangeArrowheads="1"/>
            </p:cNvSpPr>
            <p:nvPr/>
          </p:nvSpPr>
          <p:spPr bwMode="auto">
            <a:xfrm>
              <a:off x="3164" y="3526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107" name="Text Box 19"/>
            <p:cNvSpPr txBox="1">
              <a:spLocks noChangeArrowheads="1"/>
            </p:cNvSpPr>
            <p:nvPr/>
          </p:nvSpPr>
          <p:spPr bwMode="auto">
            <a:xfrm>
              <a:off x="3472" y="3526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108" name="Text Box 20"/>
            <p:cNvSpPr txBox="1">
              <a:spLocks noChangeArrowheads="1"/>
            </p:cNvSpPr>
            <p:nvPr/>
          </p:nvSpPr>
          <p:spPr bwMode="auto">
            <a:xfrm>
              <a:off x="3836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109" name="Text Box 21"/>
            <p:cNvSpPr txBox="1">
              <a:spLocks noChangeArrowheads="1"/>
            </p:cNvSpPr>
            <p:nvPr/>
          </p:nvSpPr>
          <p:spPr bwMode="auto">
            <a:xfrm>
              <a:off x="4144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512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4904" y="1562224"/>
            <a:ext cx="7484368" cy="3024969"/>
          </a:xfrm>
        </p:spPr>
        <p:txBody>
          <a:bodyPr>
            <a:normAutofit fontScale="92500" lnSpcReduction="20000"/>
          </a:bodyPr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matriz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también es una colección de localidades asociadas a un nombre, sólo que los datos se organizan en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dos dimensiones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Por ello, para hacer referencia a una localidad del arreglo se necesitan de dos números:  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sz="9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* El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número de renglón</a:t>
            </a:r>
            <a:r>
              <a:rPr lang="es-ES_tradnl" sz="24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* El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número de columna </a:t>
            </a:r>
          </a:p>
          <a:p>
            <a:pPr eaLnBrk="1" hangingPunct="1">
              <a:lnSpc>
                <a:spcPct val="90000"/>
              </a:lnSpc>
            </a:pPr>
            <a:endParaRPr lang="es-ES_tradnl" sz="2800" dirty="0"/>
          </a:p>
        </p:txBody>
      </p:sp>
      <p:grpSp>
        <p:nvGrpSpPr>
          <p:cNvPr id="218115" name="Group 3"/>
          <p:cNvGrpSpPr>
            <a:grpSpLocks/>
          </p:cNvGrpSpPr>
          <p:nvPr/>
        </p:nvGrpSpPr>
        <p:grpSpPr bwMode="auto">
          <a:xfrm>
            <a:off x="4837117" y="3573016"/>
            <a:ext cx="3556000" cy="2616200"/>
            <a:chOff x="3232" y="2384"/>
            <a:chExt cx="2240" cy="1648"/>
          </a:xfrm>
        </p:grpSpPr>
        <p:grpSp>
          <p:nvGrpSpPr>
            <p:cNvPr id="5125" name="Group 4"/>
            <p:cNvGrpSpPr>
              <a:grpSpLocks/>
            </p:cNvGrpSpPr>
            <p:nvPr/>
          </p:nvGrpSpPr>
          <p:grpSpPr bwMode="auto">
            <a:xfrm>
              <a:off x="3528" y="2384"/>
              <a:ext cx="1884" cy="292"/>
              <a:chOff x="3528" y="2384"/>
              <a:chExt cx="1884" cy="292"/>
            </a:xfrm>
          </p:grpSpPr>
          <p:sp>
            <p:nvSpPr>
              <p:cNvPr id="5155" name="Text Box 5"/>
              <p:cNvSpPr txBox="1">
                <a:spLocks noChangeArrowheads="1"/>
              </p:cNvSpPr>
              <p:nvPr/>
            </p:nvSpPr>
            <p:spPr bwMode="auto">
              <a:xfrm>
                <a:off x="3528" y="238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5156" name="Text Box 6"/>
              <p:cNvSpPr txBox="1">
                <a:spLocks noChangeArrowheads="1"/>
              </p:cNvSpPr>
              <p:nvPr/>
            </p:nvSpPr>
            <p:spPr bwMode="auto">
              <a:xfrm>
                <a:off x="3868" y="23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5157" name="Text Box 7"/>
              <p:cNvSpPr txBox="1">
                <a:spLocks noChangeArrowheads="1"/>
              </p:cNvSpPr>
              <p:nvPr/>
            </p:nvSpPr>
            <p:spPr bwMode="auto">
              <a:xfrm>
                <a:off x="4176" y="23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5158" name="Text Box 8"/>
              <p:cNvSpPr txBox="1">
                <a:spLocks noChangeArrowheads="1"/>
              </p:cNvSpPr>
              <p:nvPr/>
            </p:nvSpPr>
            <p:spPr bwMode="auto">
              <a:xfrm>
                <a:off x="4552" y="23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5159" name="Text Box 9"/>
              <p:cNvSpPr txBox="1">
                <a:spLocks noChangeArrowheads="1"/>
              </p:cNvSpPr>
              <p:nvPr/>
            </p:nvSpPr>
            <p:spPr bwMode="auto">
              <a:xfrm>
                <a:off x="4892" y="238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5160" name="Text Box 10"/>
              <p:cNvSpPr txBox="1">
                <a:spLocks noChangeArrowheads="1"/>
              </p:cNvSpPr>
              <p:nvPr/>
            </p:nvSpPr>
            <p:spPr bwMode="auto">
              <a:xfrm>
                <a:off x="5200" y="238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5</a:t>
                </a:r>
              </a:p>
            </p:txBody>
          </p:sp>
        </p:grpSp>
        <p:grpSp>
          <p:nvGrpSpPr>
            <p:cNvPr id="5126" name="Group 11"/>
            <p:cNvGrpSpPr>
              <a:grpSpLocks/>
            </p:cNvGrpSpPr>
            <p:nvPr/>
          </p:nvGrpSpPr>
          <p:grpSpPr bwMode="auto">
            <a:xfrm>
              <a:off x="3456" y="2688"/>
              <a:ext cx="2016" cy="1344"/>
              <a:chOff x="2928" y="2640"/>
              <a:chExt cx="2016" cy="1344"/>
            </a:xfrm>
          </p:grpSpPr>
          <p:sp>
            <p:nvSpPr>
              <p:cNvPr id="5131" name="Rectangle 12"/>
              <p:cNvSpPr>
                <a:spLocks noChangeArrowheads="1"/>
              </p:cNvSpPr>
              <p:nvPr/>
            </p:nvSpPr>
            <p:spPr bwMode="auto">
              <a:xfrm>
                <a:off x="2928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2" name="Rectangle 13"/>
              <p:cNvSpPr>
                <a:spLocks noChangeArrowheads="1"/>
              </p:cNvSpPr>
              <p:nvPr/>
            </p:nvSpPr>
            <p:spPr bwMode="auto">
              <a:xfrm>
                <a:off x="3264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3" name="Rectangle 14"/>
              <p:cNvSpPr>
                <a:spLocks noChangeArrowheads="1"/>
              </p:cNvSpPr>
              <p:nvPr/>
            </p:nvSpPr>
            <p:spPr bwMode="auto">
              <a:xfrm>
                <a:off x="3600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4" name="Rectangle 15"/>
              <p:cNvSpPr>
                <a:spLocks noChangeArrowheads="1"/>
              </p:cNvSpPr>
              <p:nvPr/>
            </p:nvSpPr>
            <p:spPr bwMode="auto">
              <a:xfrm>
                <a:off x="3936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5" name="Rectangle 16"/>
              <p:cNvSpPr>
                <a:spLocks noChangeArrowheads="1"/>
              </p:cNvSpPr>
              <p:nvPr/>
            </p:nvSpPr>
            <p:spPr bwMode="auto">
              <a:xfrm>
                <a:off x="4272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6" name="Rectangle 17"/>
              <p:cNvSpPr>
                <a:spLocks noChangeArrowheads="1"/>
              </p:cNvSpPr>
              <p:nvPr/>
            </p:nvSpPr>
            <p:spPr bwMode="auto">
              <a:xfrm>
                <a:off x="4608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7" name="Rectangle 18"/>
              <p:cNvSpPr>
                <a:spLocks noChangeArrowheads="1"/>
              </p:cNvSpPr>
              <p:nvPr/>
            </p:nvSpPr>
            <p:spPr bwMode="auto">
              <a:xfrm>
                <a:off x="2928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8" name="Rectangle 19"/>
              <p:cNvSpPr>
                <a:spLocks noChangeArrowheads="1"/>
              </p:cNvSpPr>
              <p:nvPr/>
            </p:nvSpPr>
            <p:spPr bwMode="auto">
              <a:xfrm>
                <a:off x="3264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9" name="Rectangle 20"/>
              <p:cNvSpPr>
                <a:spLocks noChangeArrowheads="1"/>
              </p:cNvSpPr>
              <p:nvPr/>
            </p:nvSpPr>
            <p:spPr bwMode="auto">
              <a:xfrm>
                <a:off x="3600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0" name="Rectangle 21"/>
              <p:cNvSpPr>
                <a:spLocks noChangeArrowheads="1"/>
              </p:cNvSpPr>
              <p:nvPr/>
            </p:nvSpPr>
            <p:spPr bwMode="auto">
              <a:xfrm>
                <a:off x="3936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1" name="Rectangle 22"/>
              <p:cNvSpPr>
                <a:spLocks noChangeArrowheads="1"/>
              </p:cNvSpPr>
              <p:nvPr/>
            </p:nvSpPr>
            <p:spPr bwMode="auto">
              <a:xfrm>
                <a:off x="4272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2" name="Rectangle 23"/>
              <p:cNvSpPr>
                <a:spLocks noChangeArrowheads="1"/>
              </p:cNvSpPr>
              <p:nvPr/>
            </p:nvSpPr>
            <p:spPr bwMode="auto">
              <a:xfrm>
                <a:off x="4608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3" name="Rectangle 24"/>
              <p:cNvSpPr>
                <a:spLocks noChangeArrowheads="1"/>
              </p:cNvSpPr>
              <p:nvPr/>
            </p:nvSpPr>
            <p:spPr bwMode="auto">
              <a:xfrm>
                <a:off x="2928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4" name="Rectangle 25"/>
              <p:cNvSpPr>
                <a:spLocks noChangeArrowheads="1"/>
              </p:cNvSpPr>
              <p:nvPr/>
            </p:nvSpPr>
            <p:spPr bwMode="auto">
              <a:xfrm>
                <a:off x="3264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5" name="Rectangle 26"/>
              <p:cNvSpPr>
                <a:spLocks noChangeArrowheads="1"/>
              </p:cNvSpPr>
              <p:nvPr/>
            </p:nvSpPr>
            <p:spPr bwMode="auto">
              <a:xfrm>
                <a:off x="3600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6" name="Rectangle 27"/>
              <p:cNvSpPr>
                <a:spLocks noChangeArrowheads="1"/>
              </p:cNvSpPr>
              <p:nvPr/>
            </p:nvSpPr>
            <p:spPr bwMode="auto">
              <a:xfrm>
                <a:off x="3936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7" name="Rectangle 28"/>
              <p:cNvSpPr>
                <a:spLocks noChangeArrowheads="1"/>
              </p:cNvSpPr>
              <p:nvPr/>
            </p:nvSpPr>
            <p:spPr bwMode="auto">
              <a:xfrm>
                <a:off x="4272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8" name="Rectangle 29"/>
              <p:cNvSpPr>
                <a:spLocks noChangeArrowheads="1"/>
              </p:cNvSpPr>
              <p:nvPr/>
            </p:nvSpPr>
            <p:spPr bwMode="auto">
              <a:xfrm>
                <a:off x="4608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9" name="Rectangle 30"/>
              <p:cNvSpPr>
                <a:spLocks noChangeArrowheads="1"/>
              </p:cNvSpPr>
              <p:nvPr/>
            </p:nvSpPr>
            <p:spPr bwMode="auto">
              <a:xfrm>
                <a:off x="2928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0" name="Rectangle 31"/>
              <p:cNvSpPr>
                <a:spLocks noChangeArrowheads="1"/>
              </p:cNvSpPr>
              <p:nvPr/>
            </p:nvSpPr>
            <p:spPr bwMode="auto">
              <a:xfrm>
                <a:off x="3264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1" name="Rectangle 32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2" name="Rectangle 33"/>
              <p:cNvSpPr>
                <a:spLocks noChangeArrowheads="1"/>
              </p:cNvSpPr>
              <p:nvPr/>
            </p:nvSpPr>
            <p:spPr bwMode="auto">
              <a:xfrm>
                <a:off x="3936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3" name="Rectangle 34"/>
              <p:cNvSpPr>
                <a:spLocks noChangeArrowheads="1"/>
              </p:cNvSpPr>
              <p:nvPr/>
            </p:nvSpPr>
            <p:spPr bwMode="auto">
              <a:xfrm>
                <a:off x="4272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4" name="Rectangle 35"/>
              <p:cNvSpPr>
                <a:spLocks noChangeArrowheads="1"/>
              </p:cNvSpPr>
              <p:nvPr/>
            </p:nvSpPr>
            <p:spPr bwMode="auto">
              <a:xfrm>
                <a:off x="4608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sp>
          <p:nvSpPr>
            <p:cNvPr id="5127" name="Text Box 36"/>
            <p:cNvSpPr txBox="1">
              <a:spLocks noChangeArrowheads="1"/>
            </p:cNvSpPr>
            <p:nvPr/>
          </p:nvSpPr>
          <p:spPr bwMode="auto">
            <a:xfrm>
              <a:off x="3232" y="26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128" name="Text Box 37"/>
            <p:cNvSpPr txBox="1">
              <a:spLocks noChangeArrowheads="1"/>
            </p:cNvSpPr>
            <p:nvPr/>
          </p:nvSpPr>
          <p:spPr bwMode="auto">
            <a:xfrm>
              <a:off x="3232" y="30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29" name="Text Box 38"/>
            <p:cNvSpPr txBox="1">
              <a:spLocks noChangeArrowheads="1"/>
            </p:cNvSpPr>
            <p:nvPr/>
          </p:nvSpPr>
          <p:spPr bwMode="auto">
            <a:xfrm>
              <a:off x="3232" y="33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130" name="Text Box 39"/>
            <p:cNvSpPr txBox="1">
              <a:spLocks noChangeArrowheads="1"/>
            </p:cNvSpPr>
            <p:nvPr/>
          </p:nvSpPr>
          <p:spPr bwMode="auto">
            <a:xfrm>
              <a:off x="3232" y="36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sp>
        <p:nvSpPr>
          <p:cNvPr id="41" name="Rectangle 2">
            <a:extLst>
              <a:ext uri="{FF2B5EF4-FFF2-40B4-BE49-F238E27FC236}">
                <a16:creationId xmlns:a16="http://schemas.microsoft.com/office/drawing/2014/main" id="{C0BA16FA-D5BB-48FE-9E2C-831820CB4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334789"/>
            <a:ext cx="619268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Matrices</a:t>
            </a:r>
          </a:p>
        </p:txBody>
      </p:sp>
    </p:spTree>
    <p:extLst>
      <p:ext uri="{BB962C8B-B14F-4D97-AF65-F5344CB8AC3E}">
        <p14:creationId xmlns:p14="http://schemas.microsoft.com/office/powerpoint/2010/main" val="332599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27248" y="1115144"/>
            <a:ext cx="8077200" cy="54102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De la misma manera que en los arreglos, la numeración de renglones y de columnas inicia desde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.  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Si por ejemplo definimos una matriz de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renglones y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columnas, el primer elemento de la colección se encontraría en: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renglón 0</a:t>
            </a:r>
            <a:r>
              <a:rPr lang="es-ES_tradnl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columna 0</a:t>
            </a:r>
            <a:r>
              <a:rPr lang="es-ES_tradnl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Y el último elemento se encontraría en: 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renglón 5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columna 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912" y="3450049"/>
            <a:ext cx="2592288" cy="2499503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FB16933-B78A-40C4-87E1-FF8F00B9A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218728"/>
            <a:ext cx="619268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Matrices</a:t>
            </a:r>
          </a:p>
        </p:txBody>
      </p:sp>
    </p:spTree>
    <p:extLst>
      <p:ext uri="{BB962C8B-B14F-4D97-AF65-F5344CB8AC3E}">
        <p14:creationId xmlns:p14="http://schemas.microsoft.com/office/powerpoint/2010/main" val="261167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19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19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19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219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19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19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219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Crear una matriz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27584" y="980728"/>
            <a:ext cx="7776864" cy="389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= 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np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([[1, 2, 3, 4], [5, 6, 7, 8], [9, 10, 11, 12]])</a:t>
            </a:r>
          </a:p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Una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matriz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 un objeto de la clase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Un objeto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tiene los siguientes atributos: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.ndim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shape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size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26064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Herramientas para crear matrices o arreglos multidimensionales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115616" y="1844824"/>
            <a:ext cx="7344816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Existen varias instrucciones para crear arreglos multidimensionales en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Numpy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np.empty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np.zeros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np.ones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 descr="Calendario&#10;&#10;Descripción generada automáticamente">
            <a:extLst>
              <a:ext uri="{FF2B5EF4-FFF2-40B4-BE49-F238E27FC236}">
                <a16:creationId xmlns:a16="http://schemas.microsoft.com/office/drawing/2014/main" id="{15ABA04D-6760-4C24-9786-EB0DF1F8C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3681689"/>
            <a:ext cx="20097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5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Manipulación de matrices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125262"/>
            <a:ext cx="7848872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 acceder a elementos individuales, extraer una fila entera y extraer una columna entera por medio de 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índices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así como por </a:t>
            </a:r>
            <a:r>
              <a:rPr lang="es-ES" sz="2000" b="1" dirty="0" err="1">
                <a:solidFill>
                  <a:schemeClr val="accent5">
                    <a:lumMod val="75000"/>
                  </a:schemeClr>
                </a:solidFill>
              </a:rPr>
              <a:t>slices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A1BF14-A431-4B33-8AD0-B5C09E8A4631}"/>
              </a:ext>
            </a:extLst>
          </p:cNvPr>
          <p:cNvSpPr txBox="1"/>
          <p:nvPr/>
        </p:nvSpPr>
        <p:spPr>
          <a:xfrm>
            <a:off x="683568" y="2296479"/>
            <a:ext cx="73448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= 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np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([[1, 2, 3, 4], [5, 6, 7, 8], [9, 10, 11, 12]])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acceder 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elementos individuales 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matriz[0, 3]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extraer una fila entera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matriz[1, :]</a:t>
            </a:r>
          </a:p>
          <a:p>
            <a:pPr lvl="1"/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extraer una columna entera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matriz[:, 1]</a:t>
            </a:r>
          </a:p>
          <a:p>
            <a:pPr lvl="1"/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24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238336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 Aritméticas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331640" y="1556792"/>
            <a:ext cx="6696744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Algunas operaciones aritméticas de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Numpy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Multiplicación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División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Potencia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Sumar un valor a toda la matriz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Restar un valor a toda la matriz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Elevar cada elemento de la matriz a un número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4ABBF77-B078-22FE-EFD9-378098134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348880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7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Resumen de operaciones aritméticas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200CB4C-120B-49E6-A093-AA107ABCA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435246"/>
              </p:ext>
            </p:extLst>
          </p:nvPr>
        </p:nvGraphicFramePr>
        <p:xfrm>
          <a:off x="755576" y="2058679"/>
          <a:ext cx="7056783" cy="2194560"/>
        </p:xfrm>
        <a:graphic>
          <a:graphicData uri="http://schemas.openxmlformats.org/drawingml/2006/table">
            <a:tbl>
              <a:tblPr/>
              <a:tblGrid>
                <a:gridCol w="2352261">
                  <a:extLst>
                    <a:ext uri="{9D8B030D-6E8A-4147-A177-3AD203B41FA5}">
                      <a16:colId xmlns:a16="http://schemas.microsoft.com/office/drawing/2014/main" val="1716184664"/>
                    </a:ext>
                  </a:extLst>
                </a:gridCol>
                <a:gridCol w="2352261">
                  <a:extLst>
                    <a:ext uri="{9D8B030D-6E8A-4147-A177-3AD203B41FA5}">
                      <a16:colId xmlns:a16="http://schemas.microsoft.com/office/drawing/2014/main" val="383890695"/>
                    </a:ext>
                  </a:extLst>
                </a:gridCol>
                <a:gridCol w="2352261">
                  <a:extLst>
                    <a:ext uri="{9D8B030D-6E8A-4147-A177-3AD203B41FA5}">
                      <a16:colId xmlns:a16="http://schemas.microsoft.com/office/drawing/2014/main" val="3957524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Operación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Notación Compacta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Notación Funcional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79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suma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+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np.sum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77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resta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-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np.subtract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384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multiplicación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*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np.multiply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886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división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/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np.divide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94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potencia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**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np.power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024408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E27C9DA3-683F-7F7F-DB53-0E5161A94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4694288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47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20904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Agregar elementos y concatenar matrices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398618" y="1792425"/>
            <a:ext cx="8208912" cy="2290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</a:t>
            </a:r>
            <a:r>
              <a:rPr lang="es-MX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agregar 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elementos a una matriz podemos usar la función </a:t>
            </a:r>
            <a:r>
              <a:rPr lang="es-MX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MX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()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lvl="1"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(matriz, vals, axis = </a:t>
            </a: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None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)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matriz 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La matriz base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vals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: La matriz de valores a juntar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axis </a:t>
            </a:r>
            <a:r>
              <a:rPr lang="es-ES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Dirección por la que se junta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F534B4-0C40-4CDD-A702-6E608E6E4982}"/>
              </a:ext>
            </a:extLst>
          </p:cNvPr>
          <p:cNvSpPr txBox="1"/>
          <p:nvPr/>
        </p:nvSpPr>
        <p:spPr>
          <a:xfrm>
            <a:off x="395536" y="4348845"/>
            <a:ext cx="8208912" cy="1816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</a:t>
            </a:r>
            <a:r>
              <a:rPr lang="es-MX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concatenar 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matrices podemos usar la función </a:t>
            </a:r>
            <a:r>
              <a:rPr lang="es-MX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np.concatenate</a:t>
            </a:r>
            <a:r>
              <a:rPr lang="es-MX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()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lvl="1"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np.concatenate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s-ES" b="1" dirty="0" err="1">
                <a:solidFill>
                  <a:srgbClr val="212121"/>
                </a:solidFill>
                <a:latin typeface="Roboto" panose="02000000000000000000" pitchFamily="2" charset="0"/>
              </a:rPr>
              <a:t>iter</a:t>
            </a:r>
            <a:r>
              <a:rPr lang="es-ES" b="1" dirty="0">
                <a:solidFill>
                  <a:srgbClr val="212121"/>
                </a:solidFill>
                <a:latin typeface="Roboto" panose="02000000000000000000" pitchFamily="2" charset="0"/>
              </a:rPr>
              <a:t>, a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xis = </a:t>
            </a: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None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)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iter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Lista de arreglos a concatenar.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axis </a:t>
            </a:r>
            <a:r>
              <a:rPr lang="es-ES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Dirección de concatenación.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2258203B-2AD3-458D-156C-C46636977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215490"/>
            <a:ext cx="3825230" cy="200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Números aleatorios enteros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187624" y="4170031"/>
            <a:ext cx="6840759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dirty="0">
                <a:solidFill>
                  <a:srgbClr val="000000"/>
                </a:solidFill>
              </a:rPr>
              <a:t>matriz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random.randint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(-10, 20, </a:t>
            </a:r>
            <a:r>
              <a:rPr lang="es-ES" sz="2000" b="0" i="0" dirty="0" err="1">
                <a:solidFill>
                  <a:srgbClr val="444444"/>
                </a:solidFill>
                <a:effectLst/>
              </a:rPr>
              <a:t>size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 =(4, 5), </a:t>
            </a:r>
            <a:r>
              <a:rPr lang="es-ES" sz="2000" b="0" i="0" dirty="0" err="1">
                <a:solidFill>
                  <a:srgbClr val="444444"/>
                </a:solidFill>
                <a:effectLst/>
              </a:rPr>
              <a:t>dtype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=“</a:t>
            </a:r>
            <a:r>
              <a:rPr lang="es-ES" sz="2000" b="0" i="0" dirty="0" err="1">
                <a:solidFill>
                  <a:srgbClr val="444444"/>
                </a:solidFill>
                <a:effectLst/>
              </a:rPr>
              <a:t>int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”)</a:t>
            </a:r>
          </a:p>
          <a:p>
            <a:pPr algn="l" rtl="0">
              <a:lnSpc>
                <a:spcPct val="150000"/>
              </a:lnSpc>
            </a:pPr>
            <a:r>
              <a:rPr lang="es-ES" sz="2000" dirty="0" err="1">
                <a:solidFill>
                  <a:srgbClr val="444444"/>
                </a:solidFill>
              </a:rPr>
              <a:t>print</a:t>
            </a:r>
            <a:r>
              <a:rPr lang="es-ES" sz="2000" dirty="0">
                <a:solidFill>
                  <a:srgbClr val="444444"/>
                </a:solidFill>
              </a:rPr>
              <a:t>(matriz)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827584" y="1913204"/>
            <a:ext cx="774086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(li, ls, size(#renglones, #columnas),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dtype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n-US" sz="2000" dirty="0">
                <a:solidFill>
                  <a:srgbClr val="000000"/>
                </a:solidFill>
              </a:rPr>
              <a:t> genera </a:t>
            </a:r>
            <a:r>
              <a:rPr lang="en-US" sz="2000" dirty="0" err="1">
                <a:solidFill>
                  <a:srgbClr val="000000"/>
                </a:solidFill>
              </a:rPr>
              <a:t>números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aleatorios</a:t>
            </a:r>
            <a:r>
              <a:rPr lang="en-US" sz="2000" dirty="0">
                <a:solidFill>
                  <a:srgbClr val="000000"/>
                </a:solidFill>
              </a:rPr>
              <a:t> entre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inferior y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superior, del </a:t>
            </a:r>
            <a:r>
              <a:rPr lang="en-US" sz="2000" dirty="0" err="1">
                <a:solidFill>
                  <a:srgbClr val="000000"/>
                </a:solidFill>
              </a:rPr>
              <a:t>tamaño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especificado</a:t>
            </a:r>
            <a:r>
              <a:rPr lang="en-US" sz="2000" dirty="0">
                <a:solidFill>
                  <a:srgbClr val="000000"/>
                </a:solidFill>
              </a:rPr>
              <a:t> de </a:t>
            </a:r>
            <a:r>
              <a:rPr lang="en-US" sz="2000" dirty="0" err="1">
                <a:solidFill>
                  <a:srgbClr val="000000"/>
                </a:solidFill>
              </a:rPr>
              <a:t>renglones</a:t>
            </a:r>
            <a:r>
              <a:rPr lang="en-US" sz="2000" dirty="0">
                <a:solidFill>
                  <a:srgbClr val="000000"/>
                </a:solidFill>
              </a:rPr>
              <a:t> y </a:t>
            </a:r>
            <a:r>
              <a:rPr lang="en-US" sz="2000" dirty="0" err="1">
                <a:solidFill>
                  <a:srgbClr val="000000"/>
                </a:solidFill>
              </a:rPr>
              <a:t>columnas</a:t>
            </a:r>
            <a:r>
              <a:rPr lang="en-US" sz="2000" dirty="0">
                <a:solidFill>
                  <a:srgbClr val="000000"/>
                </a:solidFill>
              </a:rPr>
              <a:t> y del </a:t>
            </a:r>
            <a:r>
              <a:rPr lang="en-US" sz="2000" dirty="0" err="1">
                <a:solidFill>
                  <a:srgbClr val="000000"/>
                </a:solidFill>
              </a:rPr>
              <a:t>tipo</a:t>
            </a:r>
            <a:r>
              <a:rPr lang="en-US" sz="2000" dirty="0">
                <a:solidFill>
                  <a:srgbClr val="000000"/>
                </a:solidFill>
              </a:rPr>
              <a:t> de </a:t>
            </a:r>
            <a:r>
              <a:rPr lang="en-US" sz="2000" dirty="0" err="1">
                <a:solidFill>
                  <a:srgbClr val="000000"/>
                </a:solidFill>
              </a:rPr>
              <a:t>dato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especificado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0024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760040" y="269776"/>
            <a:ext cx="7772400" cy="1143000"/>
          </a:xfrm>
        </p:spPr>
        <p:txBody>
          <a:bodyPr/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Definición de una matriz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040" y="1581594"/>
            <a:ext cx="7844408" cy="2664296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La definición de variables de tipo matriz es similar a los arreglos, la forma general de declarar una variable matriz es la siguiente: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MX" sz="2000" b="1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s-MX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s-MX" sz="2000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s-MX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</a:t>
            </a:r>
            <a:endParaRPr lang="es-MX" sz="2000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matriz = </a:t>
            </a:r>
            <a:r>
              <a:rPr lang="es-MX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([[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 [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 [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]])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245890"/>
            <a:ext cx="1440160" cy="137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7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3628</TotalTime>
  <Words>716</Words>
  <Application>Microsoft Office PowerPoint</Application>
  <PresentationFormat>Presentación en pantalla (4:3)</PresentationFormat>
  <Paragraphs>122</Paragraphs>
  <Slides>13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Calibri</vt:lpstr>
      <vt:lpstr>Courier New</vt:lpstr>
      <vt:lpstr>Dom Casual</vt:lpstr>
      <vt:lpstr>inherit</vt:lpstr>
      <vt:lpstr>Roboto</vt:lpstr>
      <vt:lpstr>Times New Roman</vt:lpstr>
      <vt:lpstr>Tema de Office</vt:lpstr>
      <vt:lpstr>Presentación de PowerPoint</vt:lpstr>
      <vt:lpstr>Matrices</vt:lpstr>
      <vt:lpstr>Matrices</vt:lpstr>
      <vt:lpstr>Matrices</vt:lpstr>
      <vt:lpstr>Crear una matriz</vt:lpstr>
      <vt:lpstr>Herramientas para crear matrices o arreglos multidimensionales</vt:lpstr>
      <vt:lpstr>Manipulación de matrices</vt:lpstr>
      <vt:lpstr>Operaciones Aritméticas</vt:lpstr>
      <vt:lpstr>Resumen de operaciones aritméticas</vt:lpstr>
      <vt:lpstr>Agregar elementos y concatenar matrices</vt:lpstr>
      <vt:lpstr>Números aleatorios enteros</vt:lpstr>
      <vt:lpstr>Definición de una matriz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50</cp:revision>
  <dcterms:created xsi:type="dcterms:W3CDTF">2013-07-08T21:43:56Z</dcterms:created>
  <dcterms:modified xsi:type="dcterms:W3CDTF">2026-08-07T01:12:08Z</dcterms:modified>
</cp:coreProperties>
</file>