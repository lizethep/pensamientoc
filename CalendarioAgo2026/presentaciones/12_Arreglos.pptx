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3" r:id="rId2"/>
    <p:sldId id="738" r:id="rId3"/>
    <p:sldId id="739" r:id="rId4"/>
    <p:sldId id="618" r:id="rId5"/>
    <p:sldId id="620" r:id="rId6"/>
    <p:sldId id="736" r:id="rId7"/>
    <p:sldId id="737" r:id="rId8"/>
    <p:sldId id="622" r:id="rId9"/>
    <p:sldId id="740" r:id="rId10"/>
    <p:sldId id="741" r:id="rId11"/>
    <p:sldId id="742" r:id="rId12"/>
    <p:sldId id="744" r:id="rId13"/>
    <p:sldId id="745" r:id="rId14"/>
    <p:sldId id="746" r:id="rId15"/>
    <p:sldId id="743" r:id="rId16"/>
    <p:sldId id="326" r:id="rId17"/>
    <p:sldId id="314" r:id="rId18"/>
    <p:sldId id="311" r:id="rId19"/>
    <p:sldId id="312" r:id="rId20"/>
    <p:sldId id="282" r:id="rId21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0D28D-8C03-4421-A7A1-30AD6BC157F5}" v="1" dt="2026-08-07T00:59:54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60"/>
  </p:normalViewPr>
  <p:slideViewPr>
    <p:cSldViewPr>
      <p:cViewPr varScale="1">
        <p:scale>
          <a:sx n="77" d="100"/>
          <a:sy n="77" d="100"/>
        </p:scale>
        <p:origin x="71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delSld modSld">
      <pc:chgData name="Lizethe Pérez Fuertes" userId="4ae9ef87-2a7d-42f8-8dfa-0a501a9e2ff4" providerId="ADAL" clId="{FDDD45CB-1330-4033-A842-3D2746AFF7C7}" dt="2026-08-07T01:06:17.029" v="105" actId="47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07T01:01:19.033" v="23" actId="20577"/>
        <pc:sldMkLst>
          <pc:docMk/>
          <pc:sldMk cId="542782376" sldId="293"/>
        </pc:sldMkLst>
        <pc:spChg chg="del mod">
          <ac:chgData name="Lizethe Pérez Fuertes" userId="4ae9ef87-2a7d-42f8-8dfa-0a501a9e2ff4" providerId="ADAL" clId="{FDDD45CB-1330-4033-A842-3D2746AFF7C7}" dt="2026-08-07T01:00:01.369" v="6" actId="478"/>
          <ac:spMkLst>
            <pc:docMk/>
            <pc:sldMk cId="542782376" sldId="293"/>
            <ac:spMk id="2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07T01:01:19.033" v="23" actId="20577"/>
          <ac:spMkLst>
            <pc:docMk/>
            <pc:sldMk cId="542782376" sldId="293"/>
            <ac:spMk id="3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07T01:00:23.177" v="10" actId="1076"/>
          <ac:spMkLst>
            <pc:docMk/>
            <pc:sldMk cId="542782376" sldId="293"/>
            <ac:spMk id="4" creationId="{9C98727A-3C11-3B43-1951-4F12B883802A}"/>
          </ac:spMkLst>
        </pc:spChg>
        <pc:spChg chg="add del mod">
          <ac:chgData name="Lizethe Pérez Fuertes" userId="4ae9ef87-2a7d-42f8-8dfa-0a501a9e2ff4" providerId="ADAL" clId="{FDDD45CB-1330-4033-A842-3D2746AFF7C7}" dt="2026-08-07T01:00:07.569" v="8" actId="478"/>
          <ac:spMkLst>
            <pc:docMk/>
            <pc:sldMk cId="542782376" sldId="293"/>
            <ac:spMk id="6" creationId="{33E7483E-4D28-3D45-2FA6-2B8697DA7BA1}"/>
          </ac:spMkLst>
        </pc:spChg>
      </pc:sldChg>
      <pc:sldChg chg="del">
        <pc:chgData name="Lizethe Pérez Fuertes" userId="4ae9ef87-2a7d-42f8-8dfa-0a501a9e2ff4" providerId="ADAL" clId="{FDDD45CB-1330-4033-A842-3D2746AFF7C7}" dt="2026-08-07T01:06:17.029" v="105" actId="47"/>
        <pc:sldMkLst>
          <pc:docMk/>
          <pc:sldMk cId="3423421117" sldId="309"/>
        </pc:sldMkLst>
      </pc:sldChg>
      <pc:sldChg chg="modSp mod">
        <pc:chgData name="Lizethe Pérez Fuertes" userId="4ae9ef87-2a7d-42f8-8dfa-0a501a9e2ff4" providerId="ADAL" clId="{FDDD45CB-1330-4033-A842-3D2746AFF7C7}" dt="2026-08-07T01:01:57.889" v="36" actId="20577"/>
        <pc:sldMkLst>
          <pc:docMk/>
          <pc:sldMk cId="4258578987" sldId="618"/>
        </pc:sldMkLst>
        <pc:spChg chg="mod">
          <ac:chgData name="Lizethe Pérez Fuertes" userId="4ae9ef87-2a7d-42f8-8dfa-0a501a9e2ff4" providerId="ADAL" clId="{FDDD45CB-1330-4033-A842-3D2746AFF7C7}" dt="2026-08-07T01:01:57.889" v="36" actId="20577"/>
          <ac:spMkLst>
            <pc:docMk/>
            <pc:sldMk cId="4258578987" sldId="618"/>
            <ac:spMk id="10" creationId="{28D7FAFF-9722-4D6A-9DE5-55FC738D0886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03:19.553" v="64" actId="948"/>
        <pc:sldMkLst>
          <pc:docMk/>
          <pc:sldMk cId="658639050" sldId="620"/>
        </pc:sldMkLst>
        <pc:spChg chg="mod">
          <ac:chgData name="Lizethe Pérez Fuertes" userId="4ae9ef87-2a7d-42f8-8dfa-0a501a9e2ff4" providerId="ADAL" clId="{FDDD45CB-1330-4033-A842-3D2746AFF7C7}" dt="2026-08-07T01:03:19.553" v="64" actId="948"/>
          <ac:spMkLst>
            <pc:docMk/>
            <pc:sldMk cId="658639050" sldId="620"/>
            <ac:spMk id="10" creationId="{28D7FAFF-9722-4D6A-9DE5-55FC738D0886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04:02.762" v="99" actId="20577"/>
        <pc:sldMkLst>
          <pc:docMk/>
          <pc:sldMk cId="725457009" sldId="736"/>
        </pc:sldMkLst>
        <pc:spChg chg="mod">
          <ac:chgData name="Lizethe Pérez Fuertes" userId="4ae9ef87-2a7d-42f8-8dfa-0a501a9e2ff4" providerId="ADAL" clId="{FDDD45CB-1330-4033-A842-3D2746AFF7C7}" dt="2026-08-07T01:04:02.762" v="99" actId="20577"/>
          <ac:spMkLst>
            <pc:docMk/>
            <pc:sldMk cId="725457009" sldId="736"/>
            <ac:spMk id="10" creationId="{28D7FAFF-9722-4D6A-9DE5-55FC738D0886}"/>
          </ac:spMkLst>
        </pc:spChg>
        <pc:spChg chg="mod">
          <ac:chgData name="Lizethe Pérez Fuertes" userId="4ae9ef87-2a7d-42f8-8dfa-0a501a9e2ff4" providerId="ADAL" clId="{FDDD45CB-1330-4033-A842-3D2746AFF7C7}" dt="2026-08-07T01:03:48.256" v="82" actId="6549"/>
          <ac:spMkLst>
            <pc:docMk/>
            <pc:sldMk cId="725457009" sldId="736"/>
            <ac:spMk id="184324" creationId="{00000000-0000-0000-0000-000000000000}"/>
          </ac:spMkLst>
        </pc:spChg>
      </pc:sldChg>
      <pc:sldChg chg="modSp mod">
        <pc:chgData name="Lizethe Pérez Fuertes" userId="4ae9ef87-2a7d-42f8-8dfa-0a501a9e2ff4" providerId="ADAL" clId="{FDDD45CB-1330-4033-A842-3D2746AFF7C7}" dt="2026-08-07T01:05:50.472" v="104" actId="14"/>
        <pc:sldMkLst>
          <pc:docMk/>
          <pc:sldMk cId="1876627408" sldId="743"/>
        </pc:sldMkLst>
        <pc:spChg chg="mod">
          <ac:chgData name="Lizethe Pérez Fuertes" userId="4ae9ef87-2a7d-42f8-8dfa-0a501a9e2ff4" providerId="ADAL" clId="{FDDD45CB-1330-4033-A842-3D2746AFF7C7}" dt="2026-08-07T01:05:50.472" v="104" actId="14"/>
          <ac:spMkLst>
            <pc:docMk/>
            <pc:sldMk cId="1876627408" sldId="743"/>
            <ac:spMk id="415" creationId="{17390072-3F9C-48E5-937C-91590EEC54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369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243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8152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378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477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8695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015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9846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5309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7416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0480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2605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Arreglos o vectores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065AA3B-D2DB-455A-A58C-00F9FA1E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654710"/>
            <a:ext cx="4824536" cy="218941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C98727A-3C11-3B43-1951-4F12B883802A}"/>
              </a:ext>
            </a:extLst>
          </p:cNvPr>
          <p:cNvSpPr txBox="1">
            <a:spLocks/>
          </p:cNvSpPr>
          <p:nvPr/>
        </p:nvSpPr>
        <p:spPr>
          <a:xfrm>
            <a:off x="933591" y="504260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vs arreglos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637320" y="1700809"/>
            <a:ext cx="7463072" cy="396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arreglos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estáticas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ya que hay que declarar su tamaño antes de utilizarlos. 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 diferencia de los arreglos, las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listas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son estructuras de datos que pueden ir creciendo conforme se vaya requiriendo, por eso se considera que es una estructura de datos </a:t>
            </a:r>
            <a:r>
              <a:rPr lang="es-ES" sz="20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dinámica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B81707-D02D-4D1B-94D6-165F68D7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23" y="5013176"/>
            <a:ext cx="3301256" cy="11026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F5BC31-19B3-4F8D-8C9C-BA1F232A6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65" y="4871186"/>
            <a:ext cx="3055621" cy="1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899592" y="476672"/>
            <a:ext cx="766365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Tipos de datos de arreglos en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FC9F491-57F0-47E8-9956-0CF8D34FB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37218"/>
              </p:ext>
            </p:extLst>
          </p:nvPr>
        </p:nvGraphicFramePr>
        <p:xfrm>
          <a:off x="1465541" y="2276872"/>
          <a:ext cx="7097703" cy="2463360"/>
        </p:xfrm>
        <a:graphic>
          <a:graphicData uri="http://schemas.openxmlformats.org/drawingml/2006/table">
            <a:tbl>
              <a:tblPr/>
              <a:tblGrid>
                <a:gridCol w="3024336">
                  <a:extLst>
                    <a:ext uri="{9D8B030D-6E8A-4147-A177-3AD203B41FA5}">
                      <a16:colId xmlns:a16="http://schemas.microsoft.com/office/drawing/2014/main" val="3908321532"/>
                    </a:ext>
                  </a:extLst>
                </a:gridCol>
                <a:gridCol w="4073367">
                  <a:extLst>
                    <a:ext uri="{9D8B030D-6E8A-4147-A177-3AD203B41FA5}">
                      <a16:colId xmlns:a16="http://schemas.microsoft.com/office/drawing/2014/main" val="1146347972"/>
                    </a:ext>
                  </a:extLst>
                </a:gridCol>
              </a:tblGrid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Tipo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Descripción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47737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bool</a:t>
                      </a:r>
                      <a:endParaRPr lang="es-MX" sz="1800" dirty="0">
                        <a:effectLst/>
                      </a:endParaRP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Booleano (True, False)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986763"/>
                  </a:ext>
                </a:extLst>
              </a:tr>
              <a:tr h="633635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int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1800" dirty="0">
                          <a:effectLst/>
                        </a:rPr>
                        <a:t>Entero estándar (32 </a:t>
                      </a:r>
                      <a:r>
                        <a:rPr lang="es-ES" sz="1800" dirty="0" err="1">
                          <a:effectLst/>
                        </a:rPr>
                        <a:t>ó</a:t>
                      </a:r>
                      <a:r>
                        <a:rPr lang="es-ES" sz="1800" dirty="0">
                          <a:effectLst/>
                        </a:rPr>
                        <a:t> 64 </a:t>
                      </a:r>
                      <a:r>
                        <a:rPr lang="es-ES" sz="1800" dirty="0" err="1">
                          <a:effectLst/>
                        </a:rPr>
                        <a:t>segun</a:t>
                      </a:r>
                      <a:r>
                        <a:rPr lang="es-ES" sz="1800" dirty="0">
                          <a:effectLst/>
                        </a:rPr>
                        <a:t> la implementación)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6581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float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 err="1">
                          <a:effectLst/>
                        </a:rPr>
                        <a:t>Float</a:t>
                      </a:r>
                      <a:r>
                        <a:rPr lang="es-MX" sz="1800" dirty="0">
                          <a:effectLst/>
                        </a:rPr>
                        <a:t> estándar (doble precisión)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12501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complex (complex128)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Números complejos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195559"/>
                  </a:ext>
                </a:extLst>
              </a:tr>
              <a:tr h="362077">
                <a:tc>
                  <a:txBody>
                    <a:bodyPr/>
                    <a:lstStyle/>
                    <a:p>
                      <a:pPr fontAlgn="ctr"/>
                      <a:r>
                        <a:rPr lang="es-MX" sz="1800">
                          <a:effectLst/>
                        </a:rPr>
                        <a:t>object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MX" sz="1800" dirty="0">
                          <a:effectLst/>
                        </a:rPr>
                        <a:t>Objetos</a:t>
                      </a:r>
                    </a:p>
                  </a:txBody>
                  <a:tcPr marL="90519" marR="90519" marT="45260" marB="452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00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09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Numpy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971600" y="1510885"/>
            <a:ext cx="7406480" cy="309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es un módulo de Python que proporciona estructuras de datos para manipulación eficiente de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arreglos (vectores)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y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matrices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s-ES" sz="12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usar el módulo de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Numpy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basta ejecutar la instrucción: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971600" y="3448400"/>
            <a:ext cx="79208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import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numpy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 </a:t>
            </a:r>
            <a:r>
              <a:rPr lang="es-ES" sz="2400" b="1" dirty="0" err="1">
                <a:solidFill>
                  <a:srgbClr val="FF0000"/>
                </a:solidFill>
              </a:rPr>
              <a:t>np</a:t>
            </a:r>
            <a:r>
              <a:rPr lang="es-ES" sz="2400" b="1" i="0" dirty="0">
                <a:solidFill>
                  <a:srgbClr val="FF0000"/>
                </a:solidFill>
                <a:effectLst/>
              </a:rPr>
              <a:t> 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1860F-81EF-4231-BF44-B02011A80E07}"/>
              </a:ext>
            </a:extLst>
          </p:cNvPr>
          <p:cNvSpPr txBox="1"/>
          <p:nvPr/>
        </p:nvSpPr>
        <p:spPr>
          <a:xfrm>
            <a:off x="946002" y="4392089"/>
            <a:ext cx="740648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El objeto </a:t>
            </a:r>
            <a:r>
              <a:rPr lang="es-ES" sz="2000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np</a:t>
            </a:r>
            <a:r>
              <a:rPr lang="es-ES" sz="20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20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lo utilizamos para invocar todas las funciones que proporciona el módulo.</a:t>
            </a:r>
          </a:p>
          <a:p>
            <a:pPr algn="just">
              <a:lnSpc>
                <a:spcPct val="150000"/>
              </a:lnSpc>
            </a:pPr>
            <a:endParaRPr lang="es-ES" sz="2000" dirty="0">
              <a:solidFill>
                <a:srgbClr val="212121"/>
              </a:solidFill>
              <a:latin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Objetos: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ndarray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5262"/>
            <a:ext cx="8064896" cy="527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estructura más básica es un </a:t>
            </a: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arreglo (vector)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que podemos crear a partir de pasar una lista a la función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arreglo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([1, 2, 3, 4])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arreglo (vector)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Esta clase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maneja los arreglos en general.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itemsize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dtype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Herramientas para crear arreglos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259632" y="1412776"/>
            <a:ext cx="7344816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Existen varias instrucciones para crear arreglos (vectores) en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Numpy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np.empty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np.zeros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np.ones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np.arange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np.linspace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254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Manipulación de arreglos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115616" y="1536174"/>
            <a:ext cx="73448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 acceder a elementos individuales por medio de 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índices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así como por </a:t>
            </a:r>
            <a:r>
              <a:rPr lang="es-ES" sz="2000" b="1" dirty="0" err="1">
                <a:solidFill>
                  <a:schemeClr val="accent5">
                    <a:lumMod val="75000"/>
                  </a:schemeClr>
                </a:solidFill>
              </a:rPr>
              <a:t>slices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 = [0, 1, 2, 3, 4, 5]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elementos individuales 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V[0]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un segmento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slice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un vector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V[2:4]</a:t>
            </a:r>
          </a:p>
        </p:txBody>
      </p:sp>
    </p:spTree>
    <p:extLst>
      <p:ext uri="{BB962C8B-B14F-4D97-AF65-F5344CB8AC3E}">
        <p14:creationId xmlns:p14="http://schemas.microsoft.com/office/powerpoint/2010/main" val="406924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68239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Agregar  elementos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6368" y="1628800"/>
            <a:ext cx="8208912" cy="229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agregar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elementos a un arreglo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(arreglo, vals)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arreglo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s-ES" dirty="0">
                <a:solidFill>
                  <a:srgbClr val="212121"/>
                </a:solidFill>
                <a:latin typeface="Roboto" panose="02000000000000000000" pitchFamily="2" charset="0"/>
              </a:rPr>
              <a:t>E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 arreglo base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vals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: El arreglo de valores a juntar</a:t>
            </a:r>
            <a:endParaRPr lang="es-MX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Obtener el elemento mínimo y máximo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79712" y="2132856"/>
            <a:ext cx="5688632" cy="242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min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2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s-ES" sz="2000" b="0" i="0" dirty="0">
                <a:solidFill>
                  <a:srgbClr val="222222"/>
                </a:solidFill>
                <a:effectLst/>
              </a:rPr>
              <a:t>Lo mismo se puede repetir para el máximo</a:t>
            </a: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max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15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56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Suma de elementos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sum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81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sum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suma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883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Promedio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mean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9.0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el </a:t>
            </a:r>
            <a:r>
              <a:rPr lang="en-US" sz="2000" dirty="0" err="1">
                <a:solidFill>
                  <a:srgbClr val="000000"/>
                </a:solidFill>
              </a:rPr>
              <a:t>promedio</a:t>
            </a:r>
            <a:r>
              <a:rPr lang="en-US" sz="2000" dirty="0">
                <a:solidFill>
                  <a:srgbClr val="000000"/>
                </a:solidFill>
              </a:rPr>
              <a:t> de los </a:t>
            </a:r>
            <a:r>
              <a:rPr lang="en-US" sz="2000" dirty="0" err="1">
                <a:solidFill>
                  <a:srgbClr val="000000"/>
                </a:solidFill>
              </a:rPr>
              <a:t>elementos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7126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Varianza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var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16.89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var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varianza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540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Desviación estándar de un arreglo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907704" y="2996952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0" i="0" dirty="0" err="1">
                <a:solidFill>
                  <a:srgbClr val="404247"/>
                </a:solidFill>
                <a:effectLst/>
              </a:rPr>
              <a:t>array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([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7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6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11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2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9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5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, </a:t>
            </a:r>
            <a:r>
              <a:rPr lang="es-ES" sz="2000" b="0" i="0" dirty="0">
                <a:solidFill>
                  <a:srgbClr val="D53AA9"/>
                </a:solidFill>
                <a:effectLst/>
              </a:rPr>
              <a:t>14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])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std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arr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)</a:t>
            </a:r>
            <a:r>
              <a:rPr lang="es-ES" sz="2000" b="0" i="0" dirty="0">
                <a:solidFill>
                  <a:srgbClr val="888888"/>
                </a:solidFill>
                <a:effectLst/>
              </a:rPr>
              <a:t> # Se obtiene 4.11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647564" y="1668955"/>
            <a:ext cx="77408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std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regresa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desviación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estándar</a:t>
            </a:r>
            <a:r>
              <a:rPr lang="en-US" sz="2000" dirty="0">
                <a:solidFill>
                  <a:srgbClr val="000000"/>
                </a:solidFill>
              </a:rPr>
              <a:t> de un </a:t>
            </a:r>
            <a:r>
              <a:rPr lang="en-US" sz="2000" dirty="0" err="1">
                <a:solidFill>
                  <a:srgbClr val="000000"/>
                </a:solidFill>
              </a:rPr>
              <a:t>arreglo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004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Números aleatorios enteros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727684" y="3708367"/>
            <a:ext cx="5688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000000"/>
                </a:solidFill>
              </a:rPr>
              <a:t>arr</a:t>
            </a:r>
            <a:r>
              <a:rPr lang="es-ES" sz="2000" dirty="0">
                <a:solidFill>
                  <a:srgbClr val="000000"/>
                </a:solidFill>
              </a:rPr>
              <a:t>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random.randint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(-10, 20, 15)</a:t>
            </a: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444444"/>
                </a:solidFill>
              </a:rPr>
              <a:t>print</a:t>
            </a:r>
            <a:r>
              <a:rPr lang="es-ES" sz="2000" dirty="0">
                <a:solidFill>
                  <a:srgbClr val="444444"/>
                </a:solidFill>
              </a:rPr>
              <a:t>(</a:t>
            </a:r>
            <a:r>
              <a:rPr lang="es-ES" sz="2000" dirty="0" err="1">
                <a:solidFill>
                  <a:srgbClr val="444444"/>
                </a:solidFill>
              </a:rPr>
              <a:t>arr</a:t>
            </a:r>
            <a:r>
              <a:rPr lang="es-ES" sz="2000" dirty="0">
                <a:solidFill>
                  <a:srgbClr val="444444"/>
                </a:solidFill>
              </a:rPr>
              <a:t>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827584" y="1913204"/>
            <a:ext cx="774086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(li, ls,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cantidad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sz="2000" dirty="0">
                <a:solidFill>
                  <a:srgbClr val="000000"/>
                </a:solidFill>
              </a:rPr>
              <a:t> genera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aleatorios</a:t>
            </a:r>
            <a:r>
              <a:rPr lang="en-US" sz="2000" dirty="0">
                <a:solidFill>
                  <a:srgbClr val="000000"/>
                </a:solidFill>
              </a:rPr>
              <a:t> entre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inferior y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superior, la </a:t>
            </a:r>
            <a:r>
              <a:rPr lang="en-US" sz="2000" dirty="0" err="1">
                <a:solidFill>
                  <a:srgbClr val="000000"/>
                </a:solidFill>
              </a:rPr>
              <a:t>cantidad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especificada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0024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835696" y="188640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415" name="CuadroTexto 414">
            <a:extLst>
              <a:ext uri="{FF2B5EF4-FFF2-40B4-BE49-F238E27FC236}">
                <a16:creationId xmlns:a16="http://schemas.microsoft.com/office/drawing/2014/main" id="{17390072-3F9C-48E5-937C-91590EEC54B1}"/>
              </a:ext>
            </a:extLst>
          </p:cNvPr>
          <p:cNvSpPr txBox="1"/>
          <p:nvPr/>
        </p:nvSpPr>
        <p:spPr>
          <a:xfrm>
            <a:off x="899592" y="1386632"/>
            <a:ext cx="7416824" cy="13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Crea la función </a:t>
            </a:r>
            <a:r>
              <a:rPr lang="es-ES" sz="1400" b="1" dirty="0" err="1">
                <a:solidFill>
                  <a:srgbClr val="0000FF"/>
                </a:solidFill>
                <a:effectLst/>
                <a:latin typeface="Arial,Helvetica"/>
              </a:rPr>
              <a:t>main</a:t>
            </a:r>
            <a:r>
              <a:rPr lang="es-ES" sz="1400" b="1" dirty="0">
                <a:solidFill>
                  <a:srgbClr val="0000FF"/>
                </a:solidFill>
                <a:effectLst/>
                <a:latin typeface="Arial,Helvetica"/>
              </a:rPr>
              <a:t>()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: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Genere un arreglo de </a:t>
            </a:r>
            <a:r>
              <a:rPr lang="es-ES" sz="1400" dirty="0" err="1">
                <a:solidFill>
                  <a:srgbClr val="000000"/>
                </a:solidFill>
                <a:effectLst/>
                <a:latin typeface="Arial,Helvetica"/>
              </a:rPr>
              <a:t>Numpy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con los siguientes números flotantes: [2.8, 8.3, 5.4, 6.0, 5.2, 1.5, 6.4, 12, 7.1, 3.6].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Utiliza la función </a:t>
            </a:r>
            <a:r>
              <a:rPr lang="es-ES" sz="1400" b="1" dirty="0">
                <a:solidFill>
                  <a:srgbClr val="000000"/>
                </a:solidFill>
                <a:effectLst/>
                <a:latin typeface="Arial,Helvetica"/>
              </a:rPr>
              <a:t>mean 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de </a:t>
            </a:r>
            <a:r>
              <a:rPr lang="es-ES" sz="1400" dirty="0" err="1">
                <a:solidFill>
                  <a:srgbClr val="000000"/>
                </a:solidFill>
                <a:effectLst/>
                <a:latin typeface="Arial,Helvetica"/>
              </a:rPr>
              <a:t>numpy</a:t>
            </a:r>
            <a:r>
              <a:rPr lang="es-ES" sz="1400" dirty="0">
                <a:solidFill>
                  <a:srgbClr val="000000"/>
                </a:solidFill>
                <a:effectLst/>
                <a:latin typeface="Arial,Helvetica"/>
              </a:rPr>
              <a:t> y calcula el promedio del arreglo. Imprime el resultado.</a:t>
            </a:r>
          </a:p>
        </p:txBody>
      </p:sp>
      <p:pic>
        <p:nvPicPr>
          <p:cNvPr id="5" name="Imagen 4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DD142C9F-9739-4E73-8231-1FA8BA6A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071142"/>
            <a:ext cx="2538495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27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528" y="1078338"/>
            <a:ext cx="8603219" cy="427557"/>
          </a:xfrm>
        </p:spPr>
        <p:txBody>
          <a:bodyPr>
            <a:normAutofit fontScale="92500" lnSpcReduction="10000"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Crea un arreglo con números del 0 al 9</a:t>
            </a: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0FF3B-0C10-408E-B504-32833174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38" y="1819256"/>
            <a:ext cx="62484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870" y="1534088"/>
            <a:ext cx="7505694" cy="124245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Escriba la función </a:t>
            </a:r>
            <a:r>
              <a:rPr lang="es-MX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 arreglo y despliega en pantalla el contenido del arreglo.</a:t>
            </a:r>
            <a:endParaRPr lang="es-ES_tradnl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304" y="4896006"/>
            <a:ext cx="1874969" cy="12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9964096-55AF-4A46-848A-F5D0B1AA1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507" y="3417532"/>
            <a:ext cx="4581525" cy="857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D66EA1-2063-479B-8A3E-B49068E3F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69" y="3383852"/>
            <a:ext cx="12477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3976" y="44624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859317"/>
            <a:ext cx="1728192" cy="16038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E09D56-B99C-4548-B41E-06EB4BF9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59" y="1268760"/>
            <a:ext cx="4404669" cy="46637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AA4C70-A815-4701-876F-F3FBBA649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196752"/>
            <a:ext cx="35242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20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10300</TotalTime>
  <Words>1279</Words>
  <Application>Microsoft Office PowerPoint</Application>
  <PresentationFormat>Presentación en pantalla (4:3)</PresentationFormat>
  <Paragraphs>377</Paragraphs>
  <Slides>20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Arial,Helvetica</vt:lpstr>
      <vt:lpstr>Calibri</vt:lpstr>
      <vt:lpstr>Dom Casual</vt:lpstr>
      <vt:lpstr>inherit</vt:lpstr>
      <vt:lpstr>Roboto</vt:lpstr>
      <vt:lpstr>Times New Roman</vt:lpstr>
      <vt:lpstr>Tema de Office</vt:lpstr>
      <vt:lpstr>Presentación de PowerPoint</vt:lpstr>
      <vt:lpstr>Listas vs arreglos</vt:lpstr>
      <vt:lpstr>Tipos de datos de arreglos en Numpy</vt:lpstr>
      <vt:lpstr>Módulo Numpy</vt:lpstr>
      <vt:lpstr>Objetos: ndarray</vt:lpstr>
      <vt:lpstr>Herramientas para crear arreglos</vt:lpstr>
      <vt:lpstr>Manipulación de arreglos</vt:lpstr>
      <vt:lpstr>Agregar  elementos</vt:lpstr>
      <vt:lpstr>Obtener el elemento mínimo y máximo de un arreglo</vt:lpstr>
      <vt:lpstr>Suma de elementos de un arreglo</vt:lpstr>
      <vt:lpstr>Promedio de un arreglo</vt:lpstr>
      <vt:lpstr>Varianza de un arreglo</vt:lpstr>
      <vt:lpstr>Desviación estándar de un arreglo</vt:lpstr>
      <vt:lpstr>Números aleatorios enteros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313</cp:revision>
  <dcterms:created xsi:type="dcterms:W3CDTF">2013-06-24T20:15:42Z</dcterms:created>
  <dcterms:modified xsi:type="dcterms:W3CDTF">2026-08-07T01:06:27Z</dcterms:modified>
</cp:coreProperties>
</file>