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27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9" r:id="rId2"/>
    <p:sldId id="257" r:id="rId3"/>
    <p:sldId id="258" r:id="rId4"/>
    <p:sldId id="259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267" r:id="rId13"/>
    <p:sldId id="268" r:id="rId14"/>
    <p:sldId id="335" r:id="rId15"/>
    <p:sldId id="336" r:id="rId16"/>
    <p:sldId id="337" r:id="rId17"/>
    <p:sldId id="272" r:id="rId18"/>
    <p:sldId id="273" r:id="rId19"/>
    <p:sldId id="322" r:id="rId20"/>
    <p:sldId id="327" r:id="rId21"/>
    <p:sldId id="282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3239" autoAdjust="0"/>
  </p:normalViewPr>
  <p:slideViewPr>
    <p:cSldViewPr>
      <p:cViewPr varScale="1">
        <p:scale>
          <a:sx n="115" d="100"/>
          <a:sy n="115" d="100"/>
        </p:scale>
        <p:origin x="157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addSld modSld">
      <pc:chgData name="Lizethe Pérez Fuertes" userId="4ae9ef87-2a7d-42f8-8dfa-0a501a9e2ff4" providerId="ADAL" clId="{FDDD45CB-1330-4033-A842-3D2746AFF7C7}" dt="2026-08-19T18:14:06.767" v="47" actId="20577"/>
      <pc:docMkLst>
        <pc:docMk/>
      </pc:docMkLst>
      <pc:sldChg chg="addSp modSp add">
        <pc:chgData name="Lizethe Pérez Fuertes" userId="4ae9ef87-2a7d-42f8-8dfa-0a501a9e2ff4" providerId="ADAL" clId="{FDDD45CB-1330-4033-A842-3D2746AFF7C7}" dt="2026-08-07T01:24:58.493" v="1"/>
        <pc:sldMkLst>
          <pc:docMk/>
          <pc:sldMk cId="0" sldId="257"/>
        </pc:sldMkLst>
        <pc:spChg chg="add mod">
          <ac:chgData name="Lizethe Pérez Fuertes" userId="4ae9ef87-2a7d-42f8-8dfa-0a501a9e2ff4" providerId="ADAL" clId="{FDDD45CB-1330-4033-A842-3D2746AFF7C7}" dt="2026-08-07T01:24:58.493" v="1"/>
          <ac:spMkLst>
            <pc:docMk/>
            <pc:sldMk cId="0" sldId="257"/>
            <ac:spMk id="6" creationId="{1AF9A3DB-3D1C-9A5E-10C7-6E89AE734539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28:33.154" v="4"/>
        <pc:sldMkLst>
          <pc:docMk/>
          <pc:sldMk cId="0" sldId="258"/>
        </pc:sldMkLst>
        <pc:spChg chg="mod">
          <ac:chgData name="Lizethe Pérez Fuertes" userId="4ae9ef87-2a7d-42f8-8dfa-0a501a9e2ff4" providerId="ADAL" clId="{FDDD45CB-1330-4033-A842-3D2746AFF7C7}" dt="2026-08-07T01:28:15.949" v="3"/>
          <ac:spMkLst>
            <pc:docMk/>
            <pc:sldMk cId="0" sldId="258"/>
            <ac:spMk id="4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07T01:28:33.154" v="4"/>
          <ac:spMkLst>
            <pc:docMk/>
            <pc:sldMk cId="0" sldId="258"/>
            <ac:spMk id="6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07T01:27:24.470" v="2"/>
          <ac:spMkLst>
            <pc:docMk/>
            <pc:sldMk cId="0" sldId="258"/>
            <ac:spMk id="9" creationId="{F837871E-46CA-811A-78C5-5179B922449B}"/>
          </ac:spMkLst>
        </pc:spChg>
      </pc:sldChg>
      <pc:sldChg chg="addSp delSp modSp add">
        <pc:chgData name="Lizethe Pérez Fuertes" userId="4ae9ef87-2a7d-42f8-8dfa-0a501a9e2ff4" providerId="ADAL" clId="{FDDD45CB-1330-4033-A842-3D2746AFF7C7}" dt="2026-08-07T01:37:43.810" v="30"/>
        <pc:sldMkLst>
          <pc:docMk/>
          <pc:sldMk cId="0" sldId="259"/>
        </pc:sldMkLst>
        <pc:spChg chg="mod">
          <ac:chgData name="Lizethe Pérez Fuertes" userId="4ae9ef87-2a7d-42f8-8dfa-0a501a9e2ff4" providerId="ADAL" clId="{FDDD45CB-1330-4033-A842-3D2746AFF7C7}" dt="2026-08-07T01:37:43.810" v="30"/>
          <ac:spMkLst>
            <pc:docMk/>
            <pc:sldMk cId="0" sldId="259"/>
            <ac:spMk id="4" creationId="{00000000-0000-0000-0000-000000000000}"/>
          </ac:spMkLst>
        </pc:spChg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67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68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72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73"/>
        </pc:sldMkLst>
      </pc:sldChg>
      <pc:sldChg chg="modSp mod">
        <pc:chgData name="Lizethe Pérez Fuertes" userId="4ae9ef87-2a7d-42f8-8dfa-0a501a9e2ff4" providerId="ADAL" clId="{FDDD45CB-1330-4033-A842-3D2746AFF7C7}" dt="2026-08-19T18:14:06.767" v="47" actId="20577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9T18:14:06.767" v="47" actId="20577"/>
          <ac:spMkLst>
            <pc:docMk/>
            <pc:sldMk cId="2553855534" sldId="289"/>
            <ac:spMk id="7" creationId="{41A585A2-4B80-479F-964A-0052A3859706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38:56.200" v="31"/>
        <pc:sldMkLst>
          <pc:docMk/>
          <pc:sldMk cId="0" sldId="328"/>
        </pc:sldMkLst>
        <pc:spChg chg="add mod">
          <ac:chgData name="Lizethe Pérez Fuertes" userId="4ae9ef87-2a7d-42f8-8dfa-0a501a9e2ff4" providerId="ADAL" clId="{FDDD45CB-1330-4033-A842-3D2746AFF7C7}" dt="2026-08-07T01:38:56.200" v="31"/>
          <ac:spMkLst>
            <pc:docMk/>
            <pc:sldMk cId="0" sldId="328"/>
            <ac:spMk id="6" creationId="{E62BA7F7-E7E2-3119-BC71-BDFA7885D8D5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1:47.651" v="32"/>
        <pc:sldMkLst>
          <pc:docMk/>
          <pc:sldMk cId="0" sldId="329"/>
        </pc:sldMkLst>
        <pc:spChg chg="add mod">
          <ac:chgData name="Lizethe Pérez Fuertes" userId="4ae9ef87-2a7d-42f8-8dfa-0a501a9e2ff4" providerId="ADAL" clId="{FDDD45CB-1330-4033-A842-3D2746AFF7C7}" dt="2026-08-07T01:41:47.651" v="32"/>
          <ac:spMkLst>
            <pc:docMk/>
            <pc:sldMk cId="0" sldId="329"/>
            <ac:spMk id="11" creationId="{14026991-8396-BA82-DFC6-F74E1FFC72D5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2:47.146" v="33"/>
        <pc:sldMkLst>
          <pc:docMk/>
          <pc:sldMk cId="0" sldId="330"/>
        </pc:sldMkLst>
        <pc:spChg chg="add mod">
          <ac:chgData name="Lizethe Pérez Fuertes" userId="4ae9ef87-2a7d-42f8-8dfa-0a501a9e2ff4" providerId="ADAL" clId="{FDDD45CB-1330-4033-A842-3D2746AFF7C7}" dt="2026-08-07T01:42:47.146" v="33"/>
          <ac:spMkLst>
            <pc:docMk/>
            <pc:sldMk cId="0" sldId="330"/>
            <ac:spMk id="12" creationId="{5D66C414-F53F-79FA-ACCB-8CB67E95A848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09.262" v="34"/>
        <pc:sldMkLst>
          <pc:docMk/>
          <pc:sldMk cId="0" sldId="331"/>
        </pc:sldMkLst>
        <pc:spChg chg="add mod">
          <ac:chgData name="Lizethe Pérez Fuertes" userId="4ae9ef87-2a7d-42f8-8dfa-0a501a9e2ff4" providerId="ADAL" clId="{FDDD45CB-1330-4033-A842-3D2746AFF7C7}" dt="2026-08-07T01:43:09.262" v="34"/>
          <ac:spMkLst>
            <pc:docMk/>
            <pc:sldMk cId="0" sldId="331"/>
            <ac:spMk id="8" creationId="{E1C37BA3-9F79-1FE7-0E47-513D3D0B3C61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28.372" v="35"/>
        <pc:sldMkLst>
          <pc:docMk/>
          <pc:sldMk cId="0" sldId="332"/>
        </pc:sldMkLst>
        <pc:spChg chg="add mod">
          <ac:chgData name="Lizethe Pérez Fuertes" userId="4ae9ef87-2a7d-42f8-8dfa-0a501a9e2ff4" providerId="ADAL" clId="{FDDD45CB-1330-4033-A842-3D2746AFF7C7}" dt="2026-08-07T01:43:28.372" v="35"/>
          <ac:spMkLst>
            <pc:docMk/>
            <pc:sldMk cId="0" sldId="332"/>
            <ac:spMk id="9" creationId="{2155C39B-69A9-7194-CFA6-BEE06E27E1FF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52.579" v="36"/>
        <pc:sldMkLst>
          <pc:docMk/>
          <pc:sldMk cId="0" sldId="333"/>
        </pc:sldMkLst>
        <pc:spChg chg="add mod">
          <ac:chgData name="Lizethe Pérez Fuertes" userId="4ae9ef87-2a7d-42f8-8dfa-0a501a9e2ff4" providerId="ADAL" clId="{FDDD45CB-1330-4033-A842-3D2746AFF7C7}" dt="2026-08-07T01:43:52.579" v="36"/>
          <ac:spMkLst>
            <pc:docMk/>
            <pc:sldMk cId="0" sldId="333"/>
            <ac:spMk id="11" creationId="{AB36BA7A-5145-3740-AC2E-1C7F4F0708C2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4:10.541" v="37"/>
        <pc:sldMkLst>
          <pc:docMk/>
          <pc:sldMk cId="0" sldId="334"/>
        </pc:sldMkLst>
        <pc:spChg chg="add mod">
          <ac:chgData name="Lizethe Pérez Fuertes" userId="4ae9ef87-2a7d-42f8-8dfa-0a501a9e2ff4" providerId="ADAL" clId="{FDDD45CB-1330-4033-A842-3D2746AFF7C7}" dt="2026-08-07T01:44:10.541" v="37"/>
          <ac:spMkLst>
            <pc:docMk/>
            <pc:sldMk cId="0" sldId="334"/>
            <ac:spMk id="15" creationId="{4110259F-BCB8-48E5-5347-B3DF56C8AF2B}"/>
          </ac:spMkLst>
        </pc:spChg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5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6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 Parte 2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44BBD18F-0D6E-45EA-9199-2B7DCDB2D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96952"/>
            <a:ext cx="4896544" cy="271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698" y="1331640"/>
            <a:ext cx="7396163" cy="866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>
              <a:lnSpc>
                <a:spcPct val="150000"/>
              </a:lnSpc>
              <a:tabLst>
                <a:tab pos="591979" algn="l"/>
                <a:tab pos="1399223" algn="l"/>
                <a:tab pos="1839278" algn="l"/>
                <a:tab pos="2859405" algn="l"/>
                <a:tab pos="3444240" algn="l"/>
                <a:tab pos="4044315" algn="l"/>
                <a:tab pos="5497354" algn="l"/>
                <a:tab pos="5942171" algn="l"/>
                <a:tab pos="7008971" algn="l"/>
              </a:tabLst>
            </a:pP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Las	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istas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ecuenc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38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alo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sz="2000" spc="-26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ede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cualquie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tipo: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3608" y="2474640"/>
            <a:ext cx="3338036" cy="1454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 indent="-171450"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cad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ena</a:t>
            </a:r>
            <a:r>
              <a:rPr spc="-75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núme</a:t>
            </a:r>
            <a:r>
              <a:rPr spc="-7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ente</a:t>
            </a:r>
            <a:r>
              <a:rPr spc="-7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19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tenido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mixto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 lo que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</a:t>
            </a:r>
          </a:p>
        </p:txBody>
      </p:sp>
      <p:sp>
        <p:nvSpPr>
          <p:cNvPr id="4" name="object 4"/>
          <p:cNvSpPr/>
          <p:nvPr/>
        </p:nvSpPr>
        <p:spPr>
          <a:xfrm>
            <a:off x="4484748" y="4061929"/>
            <a:ext cx="3657600" cy="2511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1599" y="1485464"/>
            <a:ext cx="7416825" cy="1302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marR="3810" indent="-214789">
              <a:lnSpc>
                <a:spcPct val="1500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encierra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uti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izar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het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mu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estr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nua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ió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54543">
              <a:spcBef>
                <a:spcPts val="784"/>
              </a:spcBef>
              <a:tabLst>
                <a:tab pos="4655820" algn="l"/>
                <a:tab pos="5067300" algn="l"/>
              </a:tabLst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[1</a:t>
            </a:r>
            <a:r>
              <a:rPr b="1" dirty="0">
                <a:latin typeface="Courier New"/>
                <a:cs typeface="Courier New"/>
              </a:rPr>
              <a:t>, </a:t>
            </a:r>
            <a:r>
              <a:rPr b="1" spc="-4" dirty="0">
                <a:latin typeface="Courier New"/>
                <a:cs typeface="Courier New"/>
              </a:rPr>
              <a:t>2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9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3</a:t>
            </a:r>
            <a:r>
              <a:rPr b="1" dirty="0">
                <a:latin typeface="Courier New"/>
                <a:cs typeface="Courier New"/>
              </a:rPr>
              <a:t>,	</a:t>
            </a:r>
            <a:r>
              <a:rPr b="1" spc="-4" dirty="0">
                <a:latin typeface="Courier New"/>
                <a:cs typeface="Courier New"/>
              </a:rPr>
              <a:t>4</a:t>
            </a:r>
            <a:r>
              <a:rPr b="1" dirty="0">
                <a:latin typeface="Courier New"/>
                <a:cs typeface="Courier New"/>
              </a:rPr>
              <a:t>,	</a:t>
            </a:r>
            <a:r>
              <a:rPr b="1" spc="-11" dirty="0">
                <a:latin typeface="Courier New"/>
                <a:cs typeface="Courier New"/>
              </a:rPr>
              <a:t>5</a:t>
            </a:r>
            <a:r>
              <a:rPr b="1" dirty="0">
                <a:latin typeface="Courier New"/>
                <a:cs typeface="Courier New"/>
              </a:rPr>
              <a:t>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600" y="3101672"/>
            <a:ext cx="7010399" cy="687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La lista podría ser cadenas de caracteres como esta:</a:t>
            </a:r>
          </a:p>
          <a:p>
            <a:pPr marL="411956">
              <a:spcBef>
                <a:spcPts val="784"/>
              </a:spcBef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['on</a:t>
            </a:r>
            <a:r>
              <a:rPr b="1" dirty="0">
                <a:latin typeface="Courier New"/>
                <a:cs typeface="Courier New"/>
              </a:rPr>
              <a:t>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'two'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9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'</a:t>
            </a:r>
            <a:r>
              <a:rPr b="1" spc="-4" dirty="0">
                <a:latin typeface="Courier New"/>
                <a:cs typeface="Courier New"/>
              </a:rPr>
              <a:t>three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'fou</a:t>
            </a:r>
            <a:r>
              <a:rPr b="1" dirty="0">
                <a:latin typeface="Courier New"/>
                <a:cs typeface="Courier New"/>
              </a:rPr>
              <a:t>r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lang="es-MX" b="1" dirty="0">
                <a:latin typeface="Courier New"/>
                <a:cs typeface="Courier New"/>
              </a:rPr>
              <a:t> </a:t>
            </a:r>
            <a:r>
              <a:rPr lang="es-MX" b="1" spc="-4" dirty="0">
                <a:latin typeface="Courier New"/>
                <a:cs typeface="Courier New"/>
              </a:rPr>
              <a:t>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11" dirty="0">
                <a:latin typeface="Courier New"/>
                <a:cs typeface="Courier New"/>
              </a:rPr>
              <a:t>']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1601" y="4181792"/>
            <a:ext cx="6766457" cy="687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Puedes mezclar los tipos de elementos como se muestra:</a:t>
            </a:r>
          </a:p>
          <a:p>
            <a:pPr marL="617696">
              <a:spcBef>
                <a:spcPts val="784"/>
              </a:spcBef>
              <a:tabLst>
                <a:tab pos="3356610" algn="l"/>
              </a:tabLst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</a:t>
            </a:r>
            <a:r>
              <a:rPr b="1" dirty="0">
                <a:latin typeface="Courier New"/>
                <a:cs typeface="Courier New"/>
              </a:rPr>
              <a:t>'</a:t>
            </a:r>
            <a:r>
              <a:rPr b="1" spc="-4" dirty="0">
                <a:latin typeface="Courier New"/>
                <a:cs typeface="Courier New"/>
              </a:rPr>
              <a:t>one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2</a:t>
            </a:r>
            <a:r>
              <a:rPr b="1" dirty="0">
                <a:latin typeface="Courier New"/>
                <a:cs typeface="Courier New"/>
              </a:rPr>
              <a:t>0	,</a:t>
            </a:r>
            <a:r>
              <a:rPr b="1" spc="-4" dirty="0">
                <a:latin typeface="Courier New"/>
                <a:cs typeface="Courier New"/>
              </a:rPr>
              <a:t> </a:t>
            </a:r>
            <a:r>
              <a:rPr b="1" spc="-11" dirty="0">
                <a:latin typeface="Courier New"/>
                <a:cs typeface="Courier New"/>
              </a:rPr>
              <a:t>5.</a:t>
            </a:r>
            <a:r>
              <a:rPr b="1" dirty="0">
                <a:latin typeface="Courier New"/>
                <a:cs typeface="Courier New"/>
              </a:rPr>
              <a:t>5</a:t>
            </a:r>
            <a:r>
              <a:rPr b="1" spc="-4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4" dirty="0">
                <a:latin typeface="Courier New"/>
                <a:cs typeface="Courier New"/>
              </a:rPr>
              <a:t> [1</a:t>
            </a:r>
            <a:r>
              <a:rPr b="1" spc="-11" dirty="0">
                <a:latin typeface="Courier New"/>
                <a:cs typeface="Courier New"/>
              </a:rPr>
              <a:t>0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15],</a:t>
            </a:r>
            <a:r>
              <a:rPr lang="es-MX" b="1" spc="-4" dirty="0">
                <a:latin typeface="Courier New"/>
                <a:cs typeface="Courier New"/>
              </a:rPr>
              <a:t> 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11" dirty="0">
                <a:latin typeface="Courier New"/>
                <a:cs typeface="Courier New"/>
              </a:rPr>
              <a:t>']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65927" y="5528169"/>
            <a:ext cx="62389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4" dirty="0">
                <a:latin typeface="Corbel"/>
                <a:cs typeface="Corbel"/>
              </a:rPr>
              <a:t>3</a:t>
            </a:r>
            <a:endParaRPr sz="750">
              <a:latin typeface="Corbel"/>
              <a:cs typeface="Corbel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837871E-46CA-811A-78C5-5179B922449B}"/>
              </a:ext>
            </a:extLst>
          </p:cNvPr>
          <p:cNvSpPr txBox="1">
            <a:spLocks noChangeArrowheads="1"/>
          </p:cNvSpPr>
          <p:nvPr/>
        </p:nvSpPr>
        <p:spPr>
          <a:xfrm>
            <a:off x="1162000" y="188640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listas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3613" y="1585143"/>
            <a:ext cx="7395210" cy="2465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spcAft>
                <a:spcPts val="600"/>
              </a:spcAft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pued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tene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vací</a:t>
            </a:r>
            <a:r>
              <a:rPr spc="-19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381" algn="ctr">
              <a:spcBef>
                <a:spcPts val="780"/>
              </a:spcBef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[]</a:t>
            </a:r>
            <a:endParaRPr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</a:pPr>
            <a:endParaRPr sz="1688" dirty="0">
              <a:latin typeface="Times New Roman"/>
              <a:cs typeface="Times New Roman"/>
            </a:endParaRPr>
          </a:p>
          <a:p>
            <a:pPr marL="224314" marR="3810" indent="-214789">
              <a:lnSpc>
                <a:spcPct val="1500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  <a:tab pos="1189196" algn="l"/>
                <a:tab pos="1449704" algn="l"/>
                <a:tab pos="2740343" algn="l"/>
                <a:tab pos="4313396" algn="l"/>
                <a:tab pos="5112544" algn="l"/>
                <a:tab pos="6824663" algn="l"/>
              </a:tabLst>
            </a:pP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tas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onsiderars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94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MX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aunq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den</a:t>
            </a:r>
            <a:r>
              <a:rPr spc="-15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onten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ele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entos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pued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impr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mir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fu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era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una var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alquiera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6279" y="4215421"/>
            <a:ext cx="6274073" cy="752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>
              <a:lnSpc>
                <a:spcPct val="140800"/>
              </a:lnSpc>
            </a:pPr>
            <a:r>
              <a:rPr b="1" spc="-4" dirty="0">
                <a:latin typeface="Courier New"/>
                <a:cs typeface="Courier New"/>
              </a:rPr>
              <a:t>lis</a:t>
            </a:r>
            <a:r>
              <a:rPr b="1" dirty="0">
                <a:latin typeface="Courier New"/>
                <a:cs typeface="Courier New"/>
              </a:rPr>
              <a:t>t =</a:t>
            </a:r>
            <a:r>
              <a:rPr b="1" spc="-11" dirty="0">
                <a:latin typeface="Courier New"/>
                <a:cs typeface="Courier New"/>
              </a:rPr>
              <a:t> [</a:t>
            </a:r>
            <a:r>
              <a:rPr b="1" spc="-4" dirty="0">
                <a:latin typeface="Courier New"/>
                <a:cs typeface="Courier New"/>
              </a:rPr>
              <a:t>'one</a:t>
            </a:r>
            <a:r>
              <a:rPr lang="es-MX" b="1" spc="-4" dirty="0">
                <a:latin typeface="Courier New"/>
                <a:cs typeface="Courier New"/>
              </a:rPr>
              <a:t>’,'</a:t>
            </a:r>
            <a:r>
              <a:rPr lang="es-MX" b="1" spc="-4" dirty="0" err="1">
                <a:latin typeface="Courier New"/>
                <a:cs typeface="Courier New"/>
              </a:rPr>
              <a:t>two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three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four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4" dirty="0">
                <a:latin typeface="Courier New"/>
                <a:cs typeface="Courier New"/>
              </a:rPr>
              <a:t>’]</a:t>
            </a:r>
          </a:p>
          <a:p>
            <a:pPr marL="9525" marR="3810">
              <a:lnSpc>
                <a:spcPct val="140800"/>
              </a:lnSpc>
            </a:pPr>
            <a:r>
              <a:rPr b="1" spc="-4" dirty="0">
                <a:latin typeface="Courier New"/>
                <a:cs typeface="Courier New"/>
              </a:rPr>
              <a:t>prin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4" dirty="0">
                <a:latin typeface="Courier New"/>
                <a:cs typeface="Courier New"/>
              </a:rPr>
              <a:t>(</a:t>
            </a:r>
            <a:r>
              <a:rPr b="1" spc="-11" dirty="0">
                <a:latin typeface="Courier New"/>
                <a:cs typeface="Courier New"/>
              </a:rPr>
              <a:t>li</a:t>
            </a:r>
            <a:r>
              <a:rPr b="1" spc="-4" dirty="0">
                <a:latin typeface="Courier New"/>
                <a:cs typeface="Courier New"/>
              </a:rPr>
              <a:t>st</a:t>
            </a:r>
            <a:r>
              <a:rPr b="1" dirty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0213" y="5528169"/>
            <a:ext cx="68104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4</a:t>
            </a:r>
            <a:endParaRPr sz="750">
              <a:latin typeface="Corbel"/>
              <a:cs typeface="Corbel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EC79993-CDEB-5D47-FBFC-484DEA3331B4}"/>
              </a:ext>
            </a:extLst>
          </p:cNvPr>
          <p:cNvSpPr txBox="1">
            <a:spLocks noChangeArrowheads="1"/>
          </p:cNvSpPr>
          <p:nvPr/>
        </p:nvSpPr>
        <p:spPr>
          <a:xfrm>
            <a:off x="1162000" y="188640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listas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31640" y="1988840"/>
            <a:ext cx="6172200" cy="1939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944" marR="3810" indent="-215265" algn="ctr">
              <a:lnSpc>
                <a:spcPct val="150000"/>
              </a:lnSpc>
            </a:pPr>
            <a:r>
              <a:rPr sz="3900" spc="319" dirty="0">
                <a:solidFill>
                  <a:srgbClr val="1286C3"/>
                </a:solidFill>
                <a:latin typeface="Arial"/>
                <a:cs typeface="Arial"/>
              </a:rPr>
              <a:t>•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spc="-45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ua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ió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spc="-71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sz="2400" spc="-75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8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24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4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dónde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7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gist</a:t>
            </a:r>
            <a:r>
              <a:rPr sz="2400" spc="-7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6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peso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una pe</a:t>
            </a:r>
            <a:r>
              <a:rPr sz="2400" spc="-6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sona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diari</a:t>
            </a:r>
            <a:r>
              <a:rPr sz="2400" spc="-15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spc="-139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2BA7F7-E7E2-3119-BC71-BDFA7885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7462" y="1591989"/>
            <a:ext cx="3961448" cy="39966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Cre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una </a:t>
            </a:r>
            <a:r>
              <a:rPr sz="1950" b="1" spc="-4" dirty="0">
                <a:latin typeface="Corbel"/>
                <a:cs typeface="Corbel"/>
              </a:rPr>
              <a:t>list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-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lo</a:t>
            </a:r>
            <a:r>
              <a:rPr sz="1950" b="1" dirty="0">
                <a:latin typeface="Corbel"/>
                <a:cs typeface="Corbel"/>
              </a:rPr>
              <a:t>s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pesos.</a:t>
            </a:r>
            <a:endParaRPr sz="1950" dirty="0">
              <a:latin typeface="Corbel"/>
              <a:cs typeface="Corbel"/>
            </a:endParaRPr>
          </a:p>
          <a:p>
            <a:pPr>
              <a:spcBef>
                <a:spcPts val="6"/>
              </a:spcBef>
              <a:buClr>
                <a:srgbClr val="1286C3"/>
              </a:buClr>
              <a:buFont typeface="Arial"/>
              <a:buChar char="•"/>
            </a:pPr>
            <a:endParaRPr sz="3450" dirty="0">
              <a:latin typeface="Times New Roman"/>
              <a:cs typeface="Times New Roman"/>
            </a:endParaRPr>
          </a:p>
          <a:p>
            <a:pPr marL="224314" marR="437198" indent="-214789">
              <a:lnSpc>
                <a:spcPts val="2108"/>
              </a:lnSpc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dirty="0">
                <a:latin typeface="Corbel"/>
                <a:cs typeface="Corbel"/>
              </a:rPr>
              <a:t>Despliega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algun</a:t>
            </a:r>
            <a:r>
              <a:rPr sz="1950" b="1" spc="-11" dirty="0">
                <a:latin typeface="Corbel"/>
                <a:cs typeface="Corbel"/>
              </a:rPr>
              <a:t>o</a:t>
            </a:r>
            <a:r>
              <a:rPr sz="1950" b="1" dirty="0">
                <a:latin typeface="Corbel"/>
                <a:cs typeface="Corbel"/>
              </a:rPr>
              <a:t>s</a:t>
            </a:r>
            <a:r>
              <a:rPr sz="1950" b="1" spc="-15" dirty="0">
                <a:latin typeface="Corbel"/>
                <a:cs typeface="Corbel"/>
              </a:rPr>
              <a:t> </a:t>
            </a:r>
            <a:r>
              <a:rPr sz="1950" b="1" spc="-4" dirty="0">
                <a:latin typeface="Corbel"/>
                <a:cs typeface="Corbel"/>
              </a:rPr>
              <a:t>v</a:t>
            </a:r>
            <a:r>
              <a:rPr sz="1950" b="1" spc="4" dirty="0">
                <a:latin typeface="Corbel"/>
                <a:cs typeface="Corbel"/>
              </a:rPr>
              <a:t>a</a:t>
            </a:r>
            <a:r>
              <a:rPr sz="1950" b="1" spc="-4" dirty="0">
                <a:latin typeface="Corbel"/>
                <a:cs typeface="Corbel"/>
              </a:rPr>
              <a:t>lore</a:t>
            </a:r>
            <a:r>
              <a:rPr sz="1950" b="1" dirty="0">
                <a:latin typeface="Corbel"/>
                <a:cs typeface="Corbel"/>
              </a:rPr>
              <a:t>s para proba</a:t>
            </a:r>
            <a:r>
              <a:rPr sz="1950" b="1" spc="-113" dirty="0">
                <a:latin typeface="Corbel"/>
                <a:cs typeface="Corbel"/>
              </a:rPr>
              <a:t>r</a:t>
            </a:r>
            <a:r>
              <a:rPr sz="1950" b="1" dirty="0">
                <a:latin typeface="Corbel"/>
                <a:cs typeface="Corbel"/>
              </a:rPr>
              <a:t>.</a:t>
            </a:r>
            <a:endParaRPr sz="1950"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sz="1950" dirty="0">
              <a:latin typeface="Times New Roman"/>
              <a:cs typeface="Times New Roman"/>
            </a:endParaRPr>
          </a:p>
          <a:p>
            <a:pPr marL="224314" marR="3810" indent="-214789">
              <a:lnSpc>
                <a:spcPts val="2108"/>
              </a:lnSpc>
              <a:spcBef>
                <a:spcPts val="1699"/>
              </a:spcBef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Obtie</a:t>
            </a:r>
            <a:r>
              <a:rPr sz="1950" b="1" dirty="0">
                <a:latin typeface="Corbel"/>
                <a:cs typeface="Corbel"/>
              </a:rPr>
              <a:t>ne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el</a:t>
            </a:r>
            <a:r>
              <a:rPr sz="1950" b="1" spc="8" dirty="0">
                <a:latin typeface="Corbel"/>
                <a:cs typeface="Corbel"/>
              </a:rPr>
              <a:t> </a:t>
            </a:r>
            <a:r>
              <a:rPr sz="1950" b="1" spc="-4" dirty="0">
                <a:latin typeface="Corbel"/>
                <a:cs typeface="Corbel"/>
              </a:rPr>
              <a:t>tamañ</a:t>
            </a:r>
            <a:r>
              <a:rPr sz="1950" b="1" dirty="0">
                <a:latin typeface="Corbel"/>
                <a:cs typeface="Corbel"/>
              </a:rPr>
              <a:t>o</a:t>
            </a:r>
            <a:r>
              <a:rPr sz="1950" b="1" spc="-11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</a:t>
            </a:r>
            <a:r>
              <a:rPr sz="1950" b="1" dirty="0">
                <a:latin typeface="Corbel"/>
                <a:cs typeface="Corbel"/>
              </a:rPr>
              <a:t>a </a:t>
            </a:r>
            <a:r>
              <a:rPr sz="1950" b="1" spc="-4" dirty="0">
                <a:latin typeface="Corbel"/>
                <a:cs typeface="Corbel"/>
              </a:rPr>
              <a:t>list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los </a:t>
            </a:r>
            <a:r>
              <a:rPr sz="1950" b="1" dirty="0">
                <a:latin typeface="Corbel"/>
                <a:cs typeface="Corbel"/>
              </a:rPr>
              <a:t>p</a:t>
            </a:r>
            <a:r>
              <a:rPr sz="1950" b="1" spc="-8" dirty="0">
                <a:latin typeface="Corbel"/>
                <a:cs typeface="Corbel"/>
              </a:rPr>
              <a:t>e</a:t>
            </a:r>
            <a:r>
              <a:rPr sz="1950" b="1" dirty="0">
                <a:latin typeface="Corbel"/>
                <a:cs typeface="Corbel"/>
              </a:rPr>
              <a:t>sos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que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creó.</a:t>
            </a:r>
            <a:endParaRPr sz="1950"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sz="1950" dirty="0">
              <a:latin typeface="Times New Roman"/>
              <a:cs typeface="Times New Roman"/>
            </a:endParaRPr>
          </a:p>
          <a:p>
            <a:pPr marL="224314" indent="-214789">
              <a:spcBef>
                <a:spcPts val="1436"/>
              </a:spcBef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143" dirty="0">
                <a:latin typeface="Corbel"/>
                <a:cs typeface="Corbel"/>
              </a:rPr>
              <a:t>T</a:t>
            </a:r>
            <a:r>
              <a:rPr sz="1950" b="1" dirty="0">
                <a:latin typeface="Corbel"/>
                <a:cs typeface="Corbel"/>
              </a:rPr>
              <a:t>ambién</a:t>
            </a:r>
            <a:r>
              <a:rPr sz="1950" b="1" spc="-15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po</a:t>
            </a:r>
            <a:r>
              <a:rPr sz="1950" b="1" spc="-8" dirty="0">
                <a:latin typeface="Corbel"/>
                <a:cs typeface="Corbel"/>
              </a:rPr>
              <a:t>d</a:t>
            </a:r>
            <a:r>
              <a:rPr sz="1950" b="1" dirty="0">
                <a:latin typeface="Corbel"/>
                <a:cs typeface="Corbel"/>
              </a:rPr>
              <a:t>emos</a:t>
            </a:r>
            <a:r>
              <a:rPr sz="1950" b="1" spc="-23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e</a:t>
            </a:r>
            <a:r>
              <a:rPr sz="1950" b="1" spc="-8" dirty="0">
                <a:latin typeface="Corbel"/>
                <a:cs typeface="Corbel"/>
              </a:rPr>
              <a:t>q</a:t>
            </a:r>
            <a:r>
              <a:rPr sz="1950" b="1" dirty="0">
                <a:latin typeface="Corbel"/>
                <a:cs typeface="Corbel"/>
              </a:rPr>
              <a:t>uivocarnos.</a:t>
            </a:r>
            <a:endParaRPr sz="1950" dirty="0"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188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Añad</a:t>
            </a:r>
            <a:r>
              <a:rPr sz="1950" b="1" dirty="0">
                <a:latin typeface="Corbel"/>
                <a:cs typeface="Corbel"/>
              </a:rPr>
              <a:t>e</a:t>
            </a:r>
            <a:r>
              <a:rPr sz="1950" b="1" spc="-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un</a:t>
            </a:r>
            <a:r>
              <a:rPr sz="1950" b="1" spc="-11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</a:t>
            </a:r>
            <a:r>
              <a:rPr sz="1950" b="1" spc="-8" dirty="0">
                <a:latin typeface="Corbel"/>
                <a:cs typeface="Corbel"/>
              </a:rPr>
              <a:t>e</a:t>
            </a:r>
            <a:r>
              <a:rPr sz="1950" b="1" dirty="0">
                <a:latin typeface="Corbel"/>
                <a:cs typeface="Corbel"/>
              </a:rPr>
              <a:t>so.</a:t>
            </a:r>
            <a:endParaRPr sz="1950"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89119" y="1580768"/>
            <a:ext cx="4078224" cy="430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710302" y="2257425"/>
            <a:ext cx="2004822" cy="616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064632" y="4241673"/>
            <a:ext cx="2004822" cy="609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217794" y="3398139"/>
            <a:ext cx="2203704" cy="3326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826889" y="5231511"/>
            <a:ext cx="2203704" cy="4389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4026991-8396-BA82-DFC6-F74E1FFC7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6533" y="1929680"/>
            <a:ext cx="4282440" cy="2954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5" dirty="0">
                <a:latin typeface="Corbel"/>
                <a:cs typeface="Corbel"/>
              </a:rPr>
              <a:t>Cre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una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lista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los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.</a:t>
            </a:r>
            <a:endParaRPr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al</a:t>
            </a:r>
            <a:r>
              <a:rPr b="1" spc="-8" dirty="0">
                <a:latin typeface="Corbel"/>
                <a:cs typeface="Corbel"/>
              </a:rPr>
              <a:t>g</a:t>
            </a:r>
            <a:r>
              <a:rPr b="1" dirty="0">
                <a:latin typeface="Corbel"/>
                <a:cs typeface="Corbel"/>
              </a:rPr>
              <a:t>unos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va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ores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para proba</a:t>
            </a:r>
            <a:r>
              <a:rPr b="1" spc="-113" dirty="0">
                <a:latin typeface="Corbel"/>
                <a:cs typeface="Corbel"/>
              </a:rPr>
              <a:t>r</a:t>
            </a:r>
            <a:r>
              <a:rPr b="1" dirty="0">
                <a:latin typeface="Corbel"/>
                <a:cs typeface="Corbel"/>
              </a:rPr>
              <a:t>.</a:t>
            </a:r>
            <a:endParaRPr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>
              <a:latin typeface="Times New Roman"/>
              <a:cs typeface="Times New Roman"/>
            </a:endParaRPr>
          </a:p>
          <a:p>
            <a:pPr marL="224314" marR="3810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5" dirty="0">
                <a:latin typeface="Corbel"/>
                <a:cs typeface="Corbel"/>
              </a:rPr>
              <a:t>Obtien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11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15" dirty="0">
                <a:latin typeface="Corbel"/>
                <a:cs typeface="Corbel"/>
              </a:rPr>
              <a:t> tamañ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spc="23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los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os que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creó.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1613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39" dirty="0">
                <a:latin typeface="Corbel"/>
                <a:cs typeface="Corbel"/>
              </a:rPr>
              <a:t>T</a:t>
            </a:r>
            <a:r>
              <a:rPr b="1" spc="-15" dirty="0">
                <a:latin typeface="Corbel"/>
                <a:cs typeface="Corbel"/>
              </a:rPr>
              <a:t>am</a:t>
            </a:r>
            <a:r>
              <a:rPr b="1" spc="-23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ién</a:t>
            </a:r>
            <a:r>
              <a:rPr b="1" spc="26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pod</a:t>
            </a:r>
            <a:r>
              <a:rPr b="1" spc="-4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mo</a:t>
            </a:r>
            <a:r>
              <a:rPr b="1" spc="-11" dirty="0">
                <a:latin typeface="Corbel"/>
                <a:cs typeface="Corbel"/>
              </a:rPr>
              <a:t>s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equ</a:t>
            </a:r>
            <a:r>
              <a:rPr b="1" spc="-4" dirty="0">
                <a:latin typeface="Corbel"/>
                <a:cs typeface="Corbel"/>
              </a:rPr>
              <a:t>i</a:t>
            </a:r>
            <a:r>
              <a:rPr b="1" spc="-15" dirty="0">
                <a:latin typeface="Corbel"/>
                <a:cs typeface="Corbel"/>
              </a:rPr>
              <a:t>vocarnos</a:t>
            </a:r>
            <a:endParaRPr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77690" y="1876806"/>
            <a:ext cx="4078224" cy="430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057775" y="2511170"/>
            <a:ext cx="2005965" cy="616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829175" y="4155948"/>
            <a:ext cx="2004822" cy="609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326380" y="3504439"/>
            <a:ext cx="2203704" cy="332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7499224" y="2528317"/>
            <a:ext cx="734948" cy="539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7787258" y="3491866"/>
            <a:ext cx="437769" cy="3108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826889" y="4799457"/>
            <a:ext cx="3178683" cy="3291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7383781" y="4454271"/>
            <a:ext cx="736091" cy="2868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D66C414-F53F-79FA-ACCB-8CB67E95A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1709" y="3001518"/>
            <a:ext cx="1706498" cy="378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521708" y="2331721"/>
            <a:ext cx="2203704" cy="4389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1613059" y="2431754"/>
            <a:ext cx="1540669" cy="105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>
                <a:latin typeface="Corbel"/>
                <a:cs typeface="Corbel"/>
              </a:rPr>
              <a:t>Añad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o.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425">
              <a:latin typeface="Times New Roman"/>
              <a:cs typeface="Times New Roman"/>
            </a:endParaRPr>
          </a:p>
          <a:p>
            <a:pPr marL="9525"/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C37BA3-9F79-1FE7-0E47-513D3D0B3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5616" y="501778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1709" y="3001518"/>
            <a:ext cx="1706498" cy="378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521709" y="3429001"/>
            <a:ext cx="4215383" cy="305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521708" y="2331721"/>
            <a:ext cx="2203704" cy="4389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1613059" y="2431754"/>
            <a:ext cx="1540669" cy="105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>
                <a:latin typeface="Corbel"/>
                <a:cs typeface="Corbel"/>
              </a:rPr>
              <a:t>Añad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o.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425">
              <a:latin typeface="Times New Roman"/>
              <a:cs typeface="Times New Roman"/>
            </a:endParaRPr>
          </a:p>
          <a:p>
            <a:pPr marL="9525"/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155C39B-69A9-7194-CFA6-BEE06E27E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76470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1368" y="2041699"/>
            <a:ext cx="3530632" cy="3479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los primeros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3.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 err="1">
                <a:latin typeface="Corbel"/>
                <a:cs typeface="Corbel"/>
              </a:rPr>
              <a:t>De</a:t>
            </a:r>
            <a:r>
              <a:rPr b="1" spc="-8" dirty="0" err="1">
                <a:latin typeface="Corbel"/>
                <a:cs typeface="Corbel"/>
              </a:rPr>
              <a:t>s</a:t>
            </a:r>
            <a:r>
              <a:rPr b="1" spc="-11" dirty="0" err="1">
                <a:latin typeface="Corbel"/>
                <a:cs typeface="Corbel"/>
              </a:rPr>
              <a:t>pliega</a:t>
            </a:r>
            <a:r>
              <a:rPr b="1" spc="-11" dirty="0">
                <a:latin typeface="Corbel"/>
                <a:cs typeface="Corbel"/>
              </a:rPr>
              <a:t> d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lang="es-ES" b="1" spc="-8" dirty="0">
                <a:latin typeface="Corbel"/>
                <a:cs typeface="Corbel"/>
              </a:rPr>
              <a:t> la posición 2 a la 3</a:t>
            </a:r>
            <a:r>
              <a:rPr b="1" dirty="0">
                <a:latin typeface="Corbel"/>
                <a:cs typeface="Corbel"/>
              </a:rPr>
              <a:t>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4" dirty="0">
                <a:latin typeface="Corbel"/>
                <a:cs typeface="Corbel"/>
              </a:rPr>
              <a:t>Borr</a:t>
            </a:r>
            <a:r>
              <a:rPr b="1" dirty="0">
                <a:latin typeface="Corbel"/>
                <a:cs typeface="Corbel"/>
              </a:rPr>
              <a:t>a el</a:t>
            </a:r>
            <a:r>
              <a:rPr b="1" spc="-4" dirty="0">
                <a:latin typeface="Corbel"/>
                <a:cs typeface="Corbel"/>
              </a:rPr>
              <a:t> 70.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nu</a:t>
            </a:r>
            <a:r>
              <a:rPr b="1" spc="-19" dirty="0">
                <a:latin typeface="Corbel"/>
                <a:cs typeface="Corbel"/>
              </a:rPr>
              <a:t>e</a:t>
            </a:r>
            <a:r>
              <a:rPr b="1" spc="-15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86350" y="2831000"/>
            <a:ext cx="2125980" cy="381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086350" y="3621957"/>
            <a:ext cx="2299716" cy="3623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086350" y="4394624"/>
            <a:ext cx="1639062" cy="3886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093208" y="5193581"/>
            <a:ext cx="1503045" cy="3051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5086350" y="2010326"/>
            <a:ext cx="1503045" cy="3051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B36BA7A-5145-3740-AC2E-1C7F4F070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1368" y="2041699"/>
            <a:ext cx="3416332" cy="3479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los primeros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3.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 err="1">
                <a:latin typeface="Corbel"/>
                <a:cs typeface="Corbel"/>
              </a:rPr>
              <a:t>De</a:t>
            </a:r>
            <a:r>
              <a:rPr b="1" spc="-8" dirty="0" err="1">
                <a:latin typeface="Corbel"/>
                <a:cs typeface="Corbel"/>
              </a:rPr>
              <a:t>s</a:t>
            </a:r>
            <a:r>
              <a:rPr b="1" spc="-11" dirty="0" err="1">
                <a:latin typeface="Corbel"/>
                <a:cs typeface="Corbel"/>
              </a:rPr>
              <a:t>pliega</a:t>
            </a:r>
            <a:r>
              <a:rPr b="1" spc="-11" dirty="0">
                <a:latin typeface="Corbel"/>
                <a:cs typeface="Corbel"/>
              </a:rPr>
              <a:t> d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lang="es-ES"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l</a:t>
            </a:r>
            <a:r>
              <a:rPr lang="es-ES" b="1" dirty="0">
                <a:latin typeface="Corbel"/>
                <a:cs typeface="Corbel"/>
              </a:rPr>
              <a:t>a posición 2 a la </a:t>
            </a:r>
            <a:r>
              <a:rPr b="1" spc="-11" dirty="0">
                <a:latin typeface="Corbel"/>
                <a:cs typeface="Corbel"/>
              </a:rPr>
              <a:t>3</a:t>
            </a:r>
            <a:r>
              <a:rPr b="1" dirty="0">
                <a:latin typeface="Corbel"/>
                <a:cs typeface="Corbel"/>
              </a:rPr>
              <a:t>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4" dirty="0">
                <a:latin typeface="Corbel"/>
                <a:cs typeface="Corbel"/>
              </a:rPr>
              <a:t>Borr</a:t>
            </a:r>
            <a:r>
              <a:rPr b="1" dirty="0">
                <a:latin typeface="Corbel"/>
                <a:cs typeface="Corbel"/>
              </a:rPr>
              <a:t>a el</a:t>
            </a:r>
            <a:r>
              <a:rPr b="1" spc="-4" dirty="0">
                <a:latin typeface="Corbel"/>
                <a:cs typeface="Corbel"/>
              </a:rPr>
              <a:t> 70.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nu</a:t>
            </a:r>
            <a:r>
              <a:rPr b="1" spc="-19" dirty="0">
                <a:latin typeface="Corbel"/>
                <a:cs typeface="Corbel"/>
              </a:rPr>
              <a:t>e</a:t>
            </a:r>
            <a:r>
              <a:rPr b="1" spc="-15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2" y="2300858"/>
            <a:ext cx="4215384" cy="305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686302" y="2754631"/>
            <a:ext cx="2125980" cy="3806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686302" y="3554731"/>
            <a:ext cx="2299716" cy="3623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686302" y="4327398"/>
            <a:ext cx="1639062" cy="3886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686302" y="4974337"/>
            <a:ext cx="1503045" cy="3051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686302" y="1943100"/>
            <a:ext cx="1503045" cy="3051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693161" y="3166110"/>
            <a:ext cx="2002535" cy="3040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4693161" y="3954780"/>
            <a:ext cx="1066418" cy="29603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4686303" y="5313807"/>
            <a:ext cx="3626738" cy="3040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110259F-BCB8-48E5-5347-B3DF56C8A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7712" y="1690818"/>
            <a:ext cx="2947988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indent="-2858" algn="ctr"/>
            <a:r>
              <a:rPr sz="3600" spc="-4" dirty="0">
                <a:latin typeface="Corbel"/>
                <a:cs typeface="Corbel"/>
              </a:rPr>
              <a:t>Cóm</a:t>
            </a:r>
            <a:r>
              <a:rPr sz="3600" dirty="0">
                <a:latin typeface="Corbel"/>
                <a:cs typeface="Corbel"/>
              </a:rPr>
              <a:t>o</a:t>
            </a:r>
            <a:r>
              <a:rPr sz="3600" spc="4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harías</a:t>
            </a:r>
            <a:r>
              <a:rPr sz="3600" spc="-11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para</a:t>
            </a:r>
            <a:r>
              <a:rPr sz="3600" spc="-4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poner</a:t>
            </a:r>
            <a:r>
              <a:rPr sz="3600" spc="8" dirty="0">
                <a:latin typeface="Corbel"/>
                <a:cs typeface="Corbel"/>
              </a:rPr>
              <a:t> </a:t>
            </a:r>
            <a:r>
              <a:rPr sz="3600" spc="-15" dirty="0">
                <a:latin typeface="Corbel"/>
                <a:cs typeface="Corbel"/>
              </a:rPr>
              <a:t>el 70</a:t>
            </a:r>
            <a:r>
              <a:rPr sz="3600" dirty="0">
                <a:latin typeface="Corbel"/>
                <a:cs typeface="Corbel"/>
              </a:rPr>
              <a:t> </a:t>
            </a:r>
            <a:r>
              <a:rPr sz="3600" spc="-4" dirty="0">
                <a:latin typeface="Corbel"/>
                <a:cs typeface="Corbel"/>
              </a:rPr>
              <a:t>q</a:t>
            </a:r>
            <a:r>
              <a:rPr sz="3600" spc="-11" dirty="0">
                <a:latin typeface="Corbel"/>
                <a:cs typeface="Corbel"/>
              </a:rPr>
              <a:t>u</a:t>
            </a:r>
            <a:r>
              <a:rPr sz="3600" spc="-19" dirty="0">
                <a:latin typeface="Corbel"/>
                <a:cs typeface="Corbel"/>
              </a:rPr>
              <a:t>e</a:t>
            </a:r>
            <a:r>
              <a:rPr sz="3600" spc="-8" dirty="0">
                <a:latin typeface="Corbel"/>
                <a:cs typeface="Corbel"/>
              </a:rPr>
              <a:t> </a:t>
            </a:r>
            <a:r>
              <a:rPr sz="3600" dirty="0">
                <a:latin typeface="Corbel"/>
                <a:cs typeface="Corbel"/>
              </a:rPr>
              <a:t>borra</a:t>
            </a:r>
            <a:r>
              <a:rPr sz="3600" spc="-23" dirty="0">
                <a:latin typeface="Corbel"/>
                <a:cs typeface="Corbel"/>
              </a:rPr>
              <a:t>m</a:t>
            </a:r>
            <a:r>
              <a:rPr sz="3600" spc="-4" dirty="0">
                <a:latin typeface="Corbel"/>
                <a:cs typeface="Corbel"/>
              </a:rPr>
              <a:t>o</a:t>
            </a:r>
            <a:r>
              <a:rPr sz="3600" dirty="0">
                <a:latin typeface="Corbel"/>
                <a:cs typeface="Corbel"/>
              </a:rPr>
              <a:t>s</a:t>
            </a:r>
            <a:r>
              <a:rPr sz="3600" spc="11" dirty="0">
                <a:latin typeface="Corbel"/>
                <a:cs typeface="Corbel"/>
              </a:rPr>
              <a:t> </a:t>
            </a:r>
            <a:r>
              <a:rPr sz="3600" dirty="0">
                <a:latin typeface="Corbel"/>
                <a:cs typeface="Corbel"/>
              </a:rPr>
              <a:t>entre </a:t>
            </a:r>
            <a:r>
              <a:rPr sz="3600" spc="-15" dirty="0">
                <a:latin typeface="Corbel"/>
                <a:cs typeface="Corbel"/>
              </a:rPr>
              <a:t>el</a:t>
            </a:r>
            <a:r>
              <a:rPr sz="3600" spc="-4" dirty="0">
                <a:latin typeface="Corbel"/>
                <a:cs typeface="Corbel"/>
              </a:rPr>
              <a:t> 6</a:t>
            </a:r>
            <a:r>
              <a:rPr sz="3600" dirty="0">
                <a:latin typeface="Corbel"/>
                <a:cs typeface="Corbel"/>
              </a:rPr>
              <a:t>9 y </a:t>
            </a:r>
            <a:r>
              <a:rPr sz="3600" spc="-15" dirty="0">
                <a:latin typeface="Corbel"/>
                <a:cs typeface="Corbel"/>
              </a:rPr>
              <a:t>el</a:t>
            </a:r>
            <a:r>
              <a:rPr sz="3600" spc="-4" dirty="0">
                <a:latin typeface="Corbel"/>
                <a:cs typeface="Corbel"/>
              </a:rPr>
              <a:t> 68.5?</a:t>
            </a:r>
            <a:endParaRPr sz="3600" dirty="0">
              <a:latin typeface="Corbel"/>
              <a:cs typeface="Corbe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16651" y="1601343"/>
            <a:ext cx="3606165" cy="2948940"/>
          </a:xfrm>
          <a:custGeom>
            <a:avLst/>
            <a:gdLst/>
            <a:ahLst/>
            <a:cxnLst/>
            <a:rect l="l" t="t" r="r" b="b"/>
            <a:pathLst>
              <a:path w="4808220" h="3931920">
                <a:moveTo>
                  <a:pt x="0" y="3931920"/>
                </a:moveTo>
                <a:lnTo>
                  <a:pt x="4808220" y="3931920"/>
                </a:lnTo>
                <a:lnTo>
                  <a:pt x="4808220" y="0"/>
                </a:lnTo>
                <a:lnTo>
                  <a:pt x="0" y="0"/>
                </a:lnTo>
                <a:lnTo>
                  <a:pt x="0" y="3931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860032" y="1690818"/>
            <a:ext cx="3606165" cy="294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31" y="635115"/>
            <a:ext cx="749903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548"/>
              </a:lnSpc>
            </a:pPr>
            <a:r>
              <a:rPr sz="3000" spc="-11" dirty="0">
                <a:latin typeface="Arial Rounded MT Bold"/>
                <a:cs typeface="Arial Rounded MT Bold"/>
              </a:rPr>
              <a:t>I</a:t>
            </a:r>
            <a:r>
              <a:rPr sz="3000" spc="-60" dirty="0">
                <a:latin typeface="Arial Rounded MT Bold"/>
                <a:cs typeface="Arial Rounded MT Bold"/>
              </a:rPr>
              <a:t>nv</a:t>
            </a:r>
            <a:r>
              <a:rPr sz="3000" spc="-23" dirty="0">
                <a:latin typeface="Arial Rounded MT Bold"/>
                <a:cs typeface="Arial Rounded MT Bold"/>
              </a:rPr>
              <a:t>estiguemo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6" dirty="0">
                <a:latin typeface="Arial Rounded MT Bold"/>
                <a:cs typeface="Arial Rounded MT Bold"/>
              </a:rPr>
              <a:t>com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podemos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hace</a:t>
            </a:r>
            <a:r>
              <a:rPr sz="3000" spc="-49" dirty="0">
                <a:latin typeface="Arial Rounded MT Bold"/>
                <a:cs typeface="Arial Rounded MT Bold"/>
              </a:rPr>
              <a:t>r</a:t>
            </a:r>
            <a:r>
              <a:rPr sz="3000" spc="-11" dirty="0">
                <a:latin typeface="Arial Rounded MT Bold"/>
                <a:cs typeface="Arial Rounded MT Bold"/>
              </a:rPr>
              <a:t>lo!!!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907" y="1989783"/>
            <a:ext cx="3678079" cy="3477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cu</a:t>
            </a:r>
            <a:r>
              <a:rPr b="1" spc="-19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re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que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cuando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agregamos</a:t>
            </a:r>
            <a:endParaRPr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Pudimos 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haber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usado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dirty="0">
                <a:latin typeface="Corbel"/>
                <a:cs typeface="Corbel"/>
              </a:rPr>
              <a:t>&gt;</a:t>
            </a:r>
            <a:endParaRPr>
              <a:latin typeface="Corbel"/>
              <a:cs typeface="Corbel"/>
            </a:endParaRPr>
          </a:p>
          <a:p>
            <a:pPr>
              <a:buClr>
                <a:srgbClr val="1286C3"/>
              </a:buClr>
              <a:buFont typeface="Arial"/>
              <a:buChar char="•"/>
            </a:pPr>
            <a:endParaRPr sz="3038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  <a:p>
            <a:pPr>
              <a:spcBef>
                <a:spcPts val="31"/>
              </a:spcBef>
              <a:buClr>
                <a:srgbClr val="1286C3"/>
              </a:buClr>
              <a:buFont typeface="Arial"/>
              <a:buChar char="•"/>
            </a:pPr>
            <a:endParaRPr sz="3225">
              <a:latin typeface="Times New Roman"/>
              <a:cs typeface="Times New Roman"/>
            </a:endParaRPr>
          </a:p>
          <a:p>
            <a:pPr marL="224314" marR="3810" indent="-214789">
              <a:lnSpc>
                <a:spcPts val="1943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Encu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11" dirty="0">
                <a:latin typeface="Corbel"/>
                <a:cs typeface="Corbel"/>
              </a:rPr>
              <a:t>ntra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como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insertar</a:t>
            </a:r>
            <a:r>
              <a:rPr b="1" spc="-15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en</a:t>
            </a:r>
            <a:r>
              <a:rPr b="1" spc="-4" dirty="0">
                <a:latin typeface="Corbel"/>
                <a:cs typeface="Corbel"/>
              </a:rPr>
              <a:t> 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po</a:t>
            </a:r>
            <a:r>
              <a:rPr b="1" spc="-8" dirty="0">
                <a:latin typeface="Corbel"/>
                <a:cs typeface="Corbel"/>
              </a:rPr>
              <a:t>sición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correcta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>
              <a:latin typeface="Times New Roman"/>
              <a:cs typeface="Times New Roman"/>
            </a:endParaRPr>
          </a:p>
          <a:p>
            <a:pPr marL="224314" indent="-214789">
              <a:spcBef>
                <a:spcPts val="1395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Vu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spc="-8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imprimir</a:t>
            </a:r>
            <a:endParaRPr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1748" y="1997965"/>
            <a:ext cx="2053971" cy="395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841748" y="2846070"/>
            <a:ext cx="1953387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841748" y="3543301"/>
            <a:ext cx="1504188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41748" y="4290823"/>
            <a:ext cx="2277999" cy="333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841748" y="5207508"/>
            <a:ext cx="1504188" cy="3051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346" y="782766"/>
            <a:ext cx="749903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548"/>
              </a:lnSpc>
            </a:pPr>
            <a:r>
              <a:rPr sz="3000" spc="-11" dirty="0">
                <a:latin typeface="Arial Rounded MT Bold"/>
                <a:cs typeface="Arial Rounded MT Bold"/>
              </a:rPr>
              <a:t>I</a:t>
            </a:r>
            <a:r>
              <a:rPr sz="3000" spc="-60" dirty="0">
                <a:latin typeface="Arial Rounded MT Bold"/>
                <a:cs typeface="Arial Rounded MT Bold"/>
              </a:rPr>
              <a:t>nv</a:t>
            </a:r>
            <a:r>
              <a:rPr sz="3000" spc="-23" dirty="0">
                <a:latin typeface="Arial Rounded MT Bold"/>
                <a:cs typeface="Arial Rounded MT Bold"/>
              </a:rPr>
              <a:t>estiguemo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6" dirty="0">
                <a:latin typeface="Arial Rounded MT Bold"/>
                <a:cs typeface="Arial Rounded MT Bold"/>
              </a:rPr>
              <a:t>com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podemos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hace</a:t>
            </a:r>
            <a:r>
              <a:rPr sz="3000" spc="-49" dirty="0">
                <a:latin typeface="Arial Rounded MT Bold"/>
                <a:cs typeface="Arial Rounded MT Bold"/>
              </a:rPr>
              <a:t>r</a:t>
            </a:r>
            <a:r>
              <a:rPr sz="3000" spc="-11" dirty="0">
                <a:latin typeface="Arial Rounded MT Bold"/>
                <a:cs typeface="Arial Rounded MT Bold"/>
              </a:rPr>
              <a:t>lo!!!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907" y="1933775"/>
            <a:ext cx="3491865" cy="359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cu</a:t>
            </a:r>
            <a:r>
              <a:rPr b="1" spc="-19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re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que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cuando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agregamos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Pudimos 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haber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usado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dirty="0">
                <a:latin typeface="Corbel"/>
                <a:cs typeface="Corbel"/>
              </a:rPr>
              <a:t>&gt;</a:t>
            </a:r>
            <a:endParaRPr dirty="0">
              <a:latin typeface="Corbel"/>
              <a:cs typeface="Corbel"/>
            </a:endParaRPr>
          </a:p>
          <a:p>
            <a:pPr>
              <a:buClr>
                <a:srgbClr val="1286C3"/>
              </a:buClr>
              <a:buFont typeface="Arial"/>
              <a:buChar char="•"/>
            </a:pPr>
            <a:endParaRPr sz="3038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5"/>
              </a:spcBef>
              <a:buClr>
                <a:srgbClr val="1286C3"/>
              </a:buClr>
              <a:buFont typeface="Arial"/>
              <a:buChar char="•"/>
            </a:pPr>
            <a:endParaRPr sz="2438" dirty="0">
              <a:latin typeface="Times New Roman"/>
              <a:cs typeface="Times New Roman"/>
            </a:endParaRPr>
          </a:p>
          <a:p>
            <a:pPr marL="9525" marR="108109">
              <a:lnSpc>
                <a:spcPct val="1308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Encu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11" dirty="0">
                <a:latin typeface="Corbel"/>
                <a:cs typeface="Corbel"/>
              </a:rPr>
              <a:t>ntra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como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insertar</a:t>
            </a:r>
            <a:r>
              <a:rPr b="1" spc="-15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 en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posició</a:t>
            </a:r>
            <a:r>
              <a:rPr b="1" spc="-11" dirty="0">
                <a:latin typeface="Corbel"/>
                <a:cs typeface="Corbel"/>
              </a:rPr>
              <a:t>n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correcta</a:t>
            </a:r>
            <a:endParaRPr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24314" indent="-214789">
              <a:spcBef>
                <a:spcPts val="1425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Vu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spc="-8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imprimir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66284" y="2008251"/>
            <a:ext cx="2053971" cy="395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558283" y="2834641"/>
            <a:ext cx="1953387" cy="306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558283" y="3448432"/>
            <a:ext cx="1503045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558283" y="4198240"/>
            <a:ext cx="2277999" cy="333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558285" y="4914901"/>
            <a:ext cx="1503044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558283" y="3827907"/>
            <a:ext cx="3625596" cy="2937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558284" y="5342381"/>
            <a:ext cx="4411980" cy="2937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371" y="433805"/>
            <a:ext cx="8487258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526256"/>
            <a:r>
              <a:rPr sz="3200" spc="-169" dirty="0" err="1">
                <a:latin typeface="Arial Rounded MT Bold" panose="020F0704030504030204" pitchFamily="34" charset="0"/>
              </a:rPr>
              <a:t>V</a:t>
            </a:r>
            <a:r>
              <a:rPr sz="3200" spc="-4" dirty="0" err="1">
                <a:latin typeface="Arial Rounded MT Bold" panose="020F0704030504030204" pitchFamily="34" charset="0"/>
              </a:rPr>
              <a:t>eamo</a:t>
            </a:r>
            <a:r>
              <a:rPr sz="3200" dirty="0" err="1">
                <a:latin typeface="Arial Rounded MT Bold" panose="020F0704030504030204" pitchFamily="34" charset="0"/>
              </a:rPr>
              <a:t>s</a:t>
            </a:r>
            <a:r>
              <a:rPr sz="3200" spc="-11" dirty="0">
                <a:latin typeface="Arial Rounded MT Bold" panose="020F0704030504030204" pitchFamily="34" charset="0"/>
              </a:rPr>
              <a:t> </a:t>
            </a:r>
            <a:r>
              <a:rPr sz="3200" dirty="0">
                <a:latin typeface="Arial Rounded MT Bold" panose="020F0704030504030204" pitchFamily="34" charset="0"/>
              </a:rPr>
              <a:t>que</a:t>
            </a:r>
            <a:r>
              <a:rPr sz="3200" spc="-11" dirty="0">
                <a:latin typeface="Arial Rounded MT Bold" panose="020F0704030504030204" pitchFamily="34" charset="0"/>
              </a:rPr>
              <a:t> </a:t>
            </a:r>
            <a:r>
              <a:rPr sz="3200" dirty="0">
                <a:latin typeface="Arial Rounded MT Bold" panose="020F0704030504030204" pitchFamily="34" charset="0"/>
              </a:rPr>
              <a:t>mas</a:t>
            </a:r>
            <a:r>
              <a:rPr sz="3200" spc="-19" dirty="0">
                <a:latin typeface="Arial Rounded MT Bold" panose="020F0704030504030204" pitchFamily="34" charset="0"/>
              </a:rPr>
              <a:t> </a:t>
            </a:r>
            <a:r>
              <a:rPr sz="3200" dirty="0" err="1">
                <a:latin typeface="Arial Rounded MT Bold" panose="020F0704030504030204" pitchFamily="34" charset="0"/>
              </a:rPr>
              <a:t>podemos</a:t>
            </a:r>
            <a:r>
              <a:rPr lang="es-MX" sz="3200" spc="-15" dirty="0">
                <a:latin typeface="Arial Rounded MT Bold" panose="020F0704030504030204" pitchFamily="34" charset="0"/>
              </a:rPr>
              <a:t> </a:t>
            </a:r>
            <a:r>
              <a:rPr sz="3200" dirty="0" err="1">
                <a:latin typeface="Arial Rounded MT Bold" panose="020F0704030504030204" pitchFamily="34" charset="0"/>
              </a:rPr>
              <a:t>hacer</a:t>
            </a:r>
            <a:r>
              <a:rPr lang="es-MX" sz="3200" dirty="0">
                <a:latin typeface="Arial Rounded MT Bold" panose="020F0704030504030204" pitchFamily="34" charset="0"/>
              </a:rPr>
              <a:t> </a:t>
            </a:r>
            <a:r>
              <a:rPr sz="3200" spc="-4" dirty="0">
                <a:latin typeface="Arial Rounded MT Bold" panose="020F0704030504030204" pitchFamily="34" charset="0"/>
              </a:rPr>
              <a:t>co</a:t>
            </a:r>
            <a:r>
              <a:rPr sz="3200" dirty="0">
                <a:latin typeface="Arial Rounded MT Bold" panose="020F0704030504030204" pitchFamily="34" charset="0"/>
              </a:rPr>
              <a:t>n listas!!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600" y="1909336"/>
            <a:ext cx="4711541" cy="3208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1" dirty="0">
                <a:latin typeface="Corbel"/>
                <a:cs typeface="Corbel"/>
              </a:rPr>
              <a:t>Descubre</a:t>
            </a:r>
            <a:r>
              <a:rPr sz="2100" b="1" spc="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que son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equi</a:t>
            </a:r>
            <a:r>
              <a:rPr sz="2100" b="1" spc="-23" dirty="0">
                <a:latin typeface="Corbel"/>
                <a:cs typeface="Corbel"/>
              </a:rPr>
              <a:t>v</a:t>
            </a:r>
            <a:r>
              <a:rPr sz="2100" b="1" spc="-11" dirty="0">
                <a:latin typeface="Corbel"/>
                <a:cs typeface="Corbel"/>
              </a:rPr>
              <a:t>ale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5" dirty="0">
                <a:latin typeface="Corbel"/>
                <a:cs typeface="Corbel"/>
              </a:rPr>
              <a:t>t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s</a:t>
            </a:r>
            <a:r>
              <a:rPr sz="2100" b="1" spc="-4" dirty="0">
                <a:latin typeface="Corbel"/>
                <a:cs typeface="Corbel"/>
              </a:rPr>
              <a:t>!</a:t>
            </a:r>
            <a:r>
              <a:rPr sz="2100" b="1" dirty="0">
                <a:latin typeface="Corbel"/>
                <a:cs typeface="Corbel"/>
              </a:rPr>
              <a:t>!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4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del 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s[</a:t>
            </a:r>
            <a:r>
              <a:rPr dirty="0">
                <a:latin typeface="Corbel"/>
                <a:cs typeface="Corbel"/>
              </a:rPr>
              <a:t>3]</a:t>
            </a:r>
          </a:p>
          <a:p>
            <a:pPr marL="747713" lvl="1" indent="-395288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11" dirty="0">
                <a:latin typeface="Corbel"/>
                <a:cs typeface="Corbel"/>
              </a:rPr>
              <a:t>s.r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move(3)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4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5" dirty="0">
                <a:latin typeface="Corbel"/>
                <a:cs typeface="Corbel"/>
              </a:rPr>
              <a:t>Apr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5" dirty="0">
                <a:latin typeface="Corbel"/>
                <a:cs typeface="Corbel"/>
              </a:rPr>
              <a:t>nde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a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ord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nar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la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li</a:t>
            </a:r>
            <a:r>
              <a:rPr sz="2100" b="1" spc="-8" dirty="0">
                <a:latin typeface="Corbel"/>
                <a:cs typeface="Corbel"/>
              </a:rPr>
              <a:t>s</a:t>
            </a:r>
            <a:r>
              <a:rPr sz="2100" b="1" spc="-15" dirty="0">
                <a:latin typeface="Corbel"/>
                <a:cs typeface="Corbel"/>
              </a:rPr>
              <a:t>ta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0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s.s</a:t>
            </a:r>
            <a:r>
              <a:rPr spc="4" dirty="0">
                <a:latin typeface="Corbel"/>
                <a:cs typeface="Corbel"/>
              </a:rPr>
              <a:t>o</a:t>
            </a:r>
            <a:r>
              <a:rPr spc="-8" dirty="0">
                <a:latin typeface="Corbel"/>
                <a:cs typeface="Corbel"/>
              </a:rPr>
              <a:t>rt()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69" dirty="0">
                <a:latin typeface="Corbel"/>
                <a:cs typeface="Corbel"/>
              </a:rPr>
              <a:t>T</a:t>
            </a:r>
            <a:r>
              <a:rPr sz="2100" b="1" spc="-15" dirty="0">
                <a:latin typeface="Corbel"/>
                <a:cs typeface="Corbel"/>
              </a:rPr>
              <a:t>am</a:t>
            </a:r>
            <a:r>
              <a:rPr sz="2100" b="1" spc="-11" dirty="0">
                <a:latin typeface="Corbel"/>
                <a:cs typeface="Corbel"/>
              </a:rPr>
              <a:t>bién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ord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5" dirty="0">
                <a:latin typeface="Corbel"/>
                <a:cs typeface="Corbel"/>
              </a:rPr>
              <a:t>n</a:t>
            </a:r>
            <a:r>
              <a:rPr sz="2100" b="1" spc="1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desce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1" dirty="0">
                <a:latin typeface="Corbel"/>
                <a:cs typeface="Corbel"/>
              </a:rPr>
              <a:t>de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5" dirty="0">
                <a:latin typeface="Corbel"/>
                <a:cs typeface="Corbel"/>
              </a:rPr>
              <a:t>te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4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s.s</a:t>
            </a:r>
            <a:r>
              <a:rPr spc="4" dirty="0">
                <a:latin typeface="Corbel"/>
                <a:cs typeface="Corbel"/>
              </a:rPr>
              <a:t>o</a:t>
            </a:r>
            <a:r>
              <a:rPr spc="-8" dirty="0">
                <a:latin typeface="Corbel"/>
                <a:cs typeface="Corbel"/>
              </a:rPr>
              <a:t>rt(r</a:t>
            </a:r>
            <a:r>
              <a:rPr spc="-23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verse</a:t>
            </a:r>
            <a:r>
              <a:rPr spc="11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=</a:t>
            </a:r>
            <a:r>
              <a:rPr spc="-131" dirty="0">
                <a:latin typeface="Corbel"/>
                <a:cs typeface="Corbel"/>
              </a:rPr>
              <a:t> </a:t>
            </a:r>
            <a:r>
              <a:rPr spc="-120" dirty="0">
                <a:latin typeface="Corbel"/>
                <a:cs typeface="Corbel"/>
              </a:rPr>
              <a:t>T</a:t>
            </a:r>
            <a:r>
              <a:rPr spc="-11" dirty="0">
                <a:latin typeface="Corbel"/>
                <a:cs typeface="Corbel"/>
              </a:rPr>
              <a:t>ru</a:t>
            </a:r>
            <a:r>
              <a:rPr spc="-41" dirty="0">
                <a:latin typeface="Corbel"/>
                <a:cs typeface="Corbel"/>
              </a:rPr>
              <a:t>e</a:t>
            </a:r>
            <a:r>
              <a:rPr spc="-8" dirty="0">
                <a:latin typeface="Corbel"/>
                <a:cs typeface="Corbel"/>
              </a:rPr>
              <a:t>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4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1" dirty="0">
                <a:latin typeface="Corbel"/>
                <a:cs typeface="Corbel"/>
              </a:rPr>
              <a:t>Descubre</a:t>
            </a:r>
            <a:r>
              <a:rPr sz="2100" b="1" spc="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que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23" dirty="0">
                <a:latin typeface="Corbel"/>
                <a:cs typeface="Corbel"/>
              </a:rPr>
              <a:t>p</a:t>
            </a:r>
            <a:r>
              <a:rPr sz="2100" b="1" spc="-11" dirty="0">
                <a:latin typeface="Corbel"/>
                <a:cs typeface="Corbel"/>
              </a:rPr>
              <a:t>uede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usar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5" dirty="0">
                <a:latin typeface="Corbel"/>
                <a:cs typeface="Corbel"/>
              </a:rPr>
              <a:t>p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sos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5" dirty="0">
                <a:latin typeface="Corbel"/>
                <a:cs typeface="Corbel"/>
              </a:rPr>
              <a:t>un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8" dirty="0">
                <a:latin typeface="Corbel"/>
                <a:cs typeface="Corbel"/>
              </a:rPr>
              <a:t>if</a:t>
            </a:r>
            <a:endParaRPr sz="2100"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76056" y="5229200"/>
            <a:ext cx="3134105" cy="1152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624" y="1628800"/>
            <a:ext cx="691705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spc="-143" dirty="0">
                <a:latin typeface="Arial Rounded MT Bold"/>
                <a:cs typeface="Arial Rounded MT Bold"/>
              </a:rPr>
              <a:t>P</a:t>
            </a:r>
            <a:r>
              <a:rPr sz="3000" spc="-19" dirty="0">
                <a:latin typeface="Arial Rounded MT Bold"/>
                <a:cs typeface="Arial Rounded MT Bold"/>
              </a:rPr>
              <a:t>or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1" dirty="0">
                <a:latin typeface="Arial Rounded MT Bold"/>
                <a:cs typeface="Arial Rounded MT Bold"/>
              </a:rPr>
              <a:t>últi</a:t>
            </a:r>
            <a:r>
              <a:rPr sz="3000" spc="-26" dirty="0">
                <a:latin typeface="Arial Rounded MT Bold"/>
                <a:cs typeface="Arial Rounded MT Bold"/>
              </a:rPr>
              <a:t>m</a:t>
            </a:r>
            <a:r>
              <a:rPr sz="3000" spc="-15" dirty="0">
                <a:latin typeface="Arial Rounded MT Bold"/>
                <a:cs typeface="Arial Rounded MT Bold"/>
              </a:rPr>
              <a:t>o: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cuan</a:t>
            </a:r>
            <a:r>
              <a:rPr sz="3000" spc="-4" dirty="0">
                <a:latin typeface="Arial Rounded MT Bold"/>
                <a:cs typeface="Arial Rounded MT Bold"/>
              </a:rPr>
              <a:t>t</a:t>
            </a:r>
            <a:r>
              <a:rPr sz="3000" spc="-23" dirty="0">
                <a:latin typeface="Arial Rounded MT Bold"/>
                <a:cs typeface="Arial Rounded MT Bold"/>
              </a:rPr>
              <a:t>a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60" dirty="0">
                <a:latin typeface="Arial Rounded MT Bold"/>
                <a:cs typeface="Arial Rounded MT Bold"/>
              </a:rPr>
              <a:t>v</a:t>
            </a:r>
            <a:r>
              <a:rPr sz="3000" spc="-23" dirty="0">
                <a:latin typeface="Arial Rounded MT Bold"/>
                <a:cs typeface="Arial Rounded MT Bold"/>
              </a:rPr>
              <a:t>ec</a:t>
            </a:r>
            <a:r>
              <a:rPr sz="3000" spc="-11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56" dirty="0">
                <a:latin typeface="Arial Rounded MT Bold"/>
                <a:cs typeface="Arial Rounded MT Bold"/>
              </a:rPr>
              <a:t>a</a:t>
            </a:r>
            <a:r>
              <a:rPr sz="3000" spc="-19" dirty="0">
                <a:latin typeface="Arial Rounded MT Bold"/>
                <a:cs typeface="Arial Rounded MT Bold"/>
              </a:rPr>
              <a:t>pa</a:t>
            </a:r>
            <a:r>
              <a:rPr sz="3000" spc="-83" dirty="0">
                <a:latin typeface="Arial Rounded MT Bold"/>
                <a:cs typeface="Arial Rounded MT Bold"/>
              </a:rPr>
              <a:t>r</a:t>
            </a:r>
            <a:r>
              <a:rPr sz="3000" spc="-19" dirty="0">
                <a:latin typeface="Arial Rounded MT Bold"/>
                <a:cs typeface="Arial Rounded MT Bold"/>
              </a:rPr>
              <a:t>eció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1" dirty="0">
                <a:latin typeface="Arial Rounded MT Bold"/>
                <a:cs typeface="Arial Rounded MT Bold"/>
              </a:rPr>
              <a:t>el</a:t>
            </a:r>
            <a:endParaRPr sz="3000" dirty="0">
              <a:latin typeface="Arial Rounded MT Bold"/>
              <a:cs typeface="Arial Rounded MT Bold"/>
            </a:endParaRPr>
          </a:p>
          <a:p>
            <a:pPr algn="ctr">
              <a:lnSpc>
                <a:spcPct val="100000"/>
              </a:lnSpc>
            </a:pPr>
            <a:r>
              <a:rPr sz="3000" spc="-23" dirty="0">
                <a:latin typeface="Arial Rounded MT Bold"/>
                <a:cs typeface="Arial Rounded MT Bold"/>
              </a:rPr>
              <a:t>núme</a:t>
            </a:r>
            <a:r>
              <a:rPr sz="3000" spc="-135" dirty="0">
                <a:latin typeface="Arial Rounded MT Bold"/>
                <a:cs typeface="Arial Rounded MT Bold"/>
              </a:rPr>
              <a:t>r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spc="-4" dirty="0">
                <a:latin typeface="Arial Rounded MT Bold"/>
                <a:cs typeface="Arial Rounded MT Bold"/>
              </a:rPr>
              <a:t> 7</a:t>
            </a:r>
            <a:r>
              <a:rPr sz="3000" dirty="0">
                <a:latin typeface="Arial Rounded MT Bold"/>
                <a:cs typeface="Arial Rounded MT Bold"/>
              </a:rPr>
              <a:t>0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n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la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lista?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25924" y="2996952"/>
            <a:ext cx="3640454" cy="558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696" y="764704"/>
            <a:ext cx="597265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49" marR="3810" algn="ctr"/>
            <a:r>
              <a:rPr sz="3000" spc="-26" dirty="0">
                <a:latin typeface="Arial Rounded MT Bold"/>
                <a:cs typeface="Arial Rounded MT Bold"/>
              </a:rPr>
              <a:t>Aho</a:t>
            </a:r>
            <a:r>
              <a:rPr sz="3000" spc="-83" dirty="0">
                <a:latin typeface="Arial Rounded MT Bold"/>
                <a:cs typeface="Arial Rounded MT Bold"/>
              </a:rPr>
              <a:t>r</a:t>
            </a:r>
            <a:r>
              <a:rPr sz="3000" spc="-23" dirty="0">
                <a:latin typeface="Arial Rounded MT Bold"/>
                <a:cs typeface="Arial Rounded MT Bold"/>
              </a:rPr>
              <a:t>a</a:t>
            </a:r>
            <a:r>
              <a:rPr sz="3000" spc="-11" dirty="0">
                <a:latin typeface="Arial Rounded MT Bold"/>
                <a:cs typeface="Arial Rounded MT Bold"/>
              </a:rPr>
              <a:t>,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calcula</a:t>
            </a:r>
            <a:r>
              <a:rPr sz="3000" spc="-86" dirty="0">
                <a:latin typeface="Arial Rounded MT Bold"/>
                <a:cs typeface="Arial Rounded MT Bold"/>
              </a:rPr>
              <a:t>r</a:t>
            </a:r>
            <a:r>
              <a:rPr sz="3000" spc="-26" dirty="0">
                <a:latin typeface="Arial Rounded MT Bold"/>
                <a:cs typeface="Arial Rounded MT Bold"/>
              </a:rPr>
              <a:t>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estadí</a:t>
            </a:r>
            <a:r>
              <a:rPr sz="3000" spc="-30" dirty="0">
                <a:latin typeface="Arial Rounded MT Bold"/>
                <a:cs typeface="Arial Rounded MT Bold"/>
              </a:rPr>
              <a:t>s</a:t>
            </a:r>
            <a:r>
              <a:rPr sz="3000" spc="-15" dirty="0">
                <a:latin typeface="Arial Rounded MT Bold"/>
                <a:cs typeface="Arial Rounded MT Bold"/>
              </a:rPr>
              <a:t>tica descripti</a:t>
            </a:r>
            <a:r>
              <a:rPr sz="3000" spc="-68" dirty="0">
                <a:latin typeface="Arial Rounded MT Bold"/>
                <a:cs typeface="Arial Rounded MT Bold"/>
              </a:rPr>
              <a:t>v</a:t>
            </a:r>
            <a:r>
              <a:rPr sz="3000" spc="-19" dirty="0">
                <a:latin typeface="Arial Rounded MT Bold"/>
                <a:cs typeface="Arial Rounded MT Bold"/>
              </a:rPr>
              <a:t>a!!</a:t>
            </a:r>
            <a:endParaRPr sz="3000" dirty="0">
              <a:latin typeface="Arial Rounded MT Bold"/>
              <a:cs typeface="Arial Rounded MT Bold"/>
            </a:endParaRPr>
          </a:p>
          <a:p>
            <a:pPr marL="2858" algn="ctr"/>
            <a:r>
              <a:rPr sz="3000" spc="-210" dirty="0">
                <a:latin typeface="Arial Rounded MT Bold"/>
                <a:cs typeface="Arial Rounded MT Bold"/>
              </a:rPr>
              <a:t>T</a:t>
            </a:r>
            <a:r>
              <a:rPr sz="3000" spc="-19" dirty="0">
                <a:latin typeface="Arial Rounded MT Bold"/>
                <a:cs typeface="Arial Rounded MT Bold"/>
              </a:rPr>
              <a:t>e</a:t>
            </a:r>
            <a:r>
              <a:rPr sz="3000" spc="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suena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es</a:t>
            </a:r>
            <a:r>
              <a:rPr sz="3000" spc="-19" dirty="0">
                <a:latin typeface="Arial Rounded MT Bold"/>
                <a:cs typeface="Arial Rounded MT Bold"/>
              </a:rPr>
              <a:t>e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c</a:t>
            </a:r>
            <a:r>
              <a:rPr sz="3000" spc="-19" dirty="0">
                <a:latin typeface="Arial Rounded MT Bold"/>
                <a:cs typeface="Arial Rounded MT Bold"/>
              </a:rPr>
              <a:t>onc</a:t>
            </a:r>
            <a:r>
              <a:rPr sz="3000" spc="-49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pto?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3848" y="2708920"/>
            <a:ext cx="3833622" cy="2758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69206D8-C0C0-4A67-88A8-BDCDB988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35" y="2252183"/>
            <a:ext cx="5412392" cy="366883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75207" y="543293"/>
            <a:ext cx="7014210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2406" marR="3810" indent="-193358" algn="ctr"/>
            <a:r>
              <a:rPr lang="es-ES" sz="2700" spc="-11" dirty="0">
                <a:solidFill>
                  <a:srgbClr val="3B4043"/>
                </a:solidFill>
                <a:latin typeface="Arial Rounded MT Bold"/>
                <a:cs typeface="Arial Rounded MT Bold"/>
              </a:rPr>
              <a:t>Las estadísticas descriptivas se utilizan para describir las características básicas de los datos en un estudio</a:t>
            </a:r>
            <a:endParaRPr sz="2700" dirty="0">
              <a:latin typeface="Arial Rounded MT Bold"/>
              <a:cs typeface="Arial Rounded MT 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53821" y="2393915"/>
            <a:ext cx="117681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100" b="1" spc="-64" dirty="0">
                <a:solidFill>
                  <a:srgbClr val="FF0000"/>
                </a:solidFill>
                <a:latin typeface="Corbel"/>
                <a:cs typeface="Corbel"/>
              </a:rPr>
              <a:t>R</a:t>
            </a:r>
            <a:r>
              <a:rPr sz="2100" b="1" spc="-11" dirty="0">
                <a:solidFill>
                  <a:srgbClr val="FF0000"/>
                </a:solidFill>
                <a:latin typeface="Corbel"/>
                <a:cs typeface="Corbel"/>
              </a:rPr>
              <a:t>esul</a:t>
            </a:r>
            <a:r>
              <a:rPr sz="2100" b="1" spc="-23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sz="2100" b="1" spc="-15" dirty="0">
                <a:solidFill>
                  <a:srgbClr val="FF0000"/>
                </a:solidFill>
                <a:latin typeface="Corbel"/>
                <a:cs typeface="Corbel"/>
              </a:rPr>
              <a:t>ado</a:t>
            </a:r>
            <a:endParaRPr sz="21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00701" y="4000500"/>
            <a:ext cx="3271361" cy="1872615"/>
          </a:xfrm>
          <a:custGeom>
            <a:avLst/>
            <a:gdLst/>
            <a:ahLst/>
            <a:cxnLst/>
            <a:rect l="l" t="t" r="r" b="b"/>
            <a:pathLst>
              <a:path w="4361815" h="2496820">
                <a:moveTo>
                  <a:pt x="0" y="0"/>
                </a:moveTo>
                <a:lnTo>
                  <a:pt x="1210182" y="958214"/>
                </a:lnTo>
                <a:lnTo>
                  <a:pt x="1154304" y="1009063"/>
                </a:lnTo>
                <a:lnTo>
                  <a:pt x="1104321" y="1061301"/>
                </a:lnTo>
                <a:lnTo>
                  <a:pt x="1060233" y="1114773"/>
                </a:lnTo>
                <a:lnTo>
                  <a:pt x="1022041" y="1169327"/>
                </a:lnTo>
                <a:lnTo>
                  <a:pt x="989742" y="1224805"/>
                </a:lnTo>
                <a:lnTo>
                  <a:pt x="963338" y="1281054"/>
                </a:lnTo>
                <a:lnTo>
                  <a:pt x="942827" y="1337918"/>
                </a:lnTo>
                <a:lnTo>
                  <a:pt x="928210" y="1395243"/>
                </a:lnTo>
                <a:lnTo>
                  <a:pt x="919486" y="1452873"/>
                </a:lnTo>
                <a:lnTo>
                  <a:pt x="916654" y="1510655"/>
                </a:lnTo>
                <a:lnTo>
                  <a:pt x="919714" y="1568432"/>
                </a:lnTo>
                <a:lnTo>
                  <a:pt x="928666" y="1626051"/>
                </a:lnTo>
                <a:lnTo>
                  <a:pt x="943510" y="1683356"/>
                </a:lnTo>
                <a:lnTo>
                  <a:pt x="964244" y="1740192"/>
                </a:lnTo>
                <a:lnTo>
                  <a:pt x="990869" y="1796405"/>
                </a:lnTo>
                <a:lnTo>
                  <a:pt x="1023385" y="1851839"/>
                </a:lnTo>
                <a:lnTo>
                  <a:pt x="1061790" y="1906340"/>
                </a:lnTo>
                <a:lnTo>
                  <a:pt x="1106085" y="1959753"/>
                </a:lnTo>
                <a:lnTo>
                  <a:pt x="1156269" y="2011923"/>
                </a:lnTo>
                <a:lnTo>
                  <a:pt x="1212341" y="2062695"/>
                </a:lnTo>
                <a:lnTo>
                  <a:pt x="1296227" y="2127957"/>
                </a:lnTo>
                <a:lnTo>
                  <a:pt x="1387566" y="2188153"/>
                </a:lnTo>
                <a:lnTo>
                  <a:pt x="1485743" y="2243214"/>
                </a:lnTo>
                <a:lnTo>
                  <a:pt x="1590144" y="2293072"/>
                </a:lnTo>
                <a:lnTo>
                  <a:pt x="1700152" y="2337660"/>
                </a:lnTo>
                <a:lnTo>
                  <a:pt x="1815153" y="2376908"/>
                </a:lnTo>
                <a:lnTo>
                  <a:pt x="1934530" y="2410749"/>
                </a:lnTo>
                <a:lnTo>
                  <a:pt x="2057668" y="2439115"/>
                </a:lnTo>
                <a:lnTo>
                  <a:pt x="2183951" y="2461937"/>
                </a:lnTo>
                <a:lnTo>
                  <a:pt x="2312765" y="2479147"/>
                </a:lnTo>
                <a:lnTo>
                  <a:pt x="2443493" y="2490678"/>
                </a:lnTo>
                <a:lnTo>
                  <a:pt x="2575520" y="2496460"/>
                </a:lnTo>
                <a:lnTo>
                  <a:pt x="2708230" y="2496426"/>
                </a:lnTo>
                <a:lnTo>
                  <a:pt x="2841009" y="2490508"/>
                </a:lnTo>
                <a:lnTo>
                  <a:pt x="2973240" y="2478637"/>
                </a:lnTo>
                <a:lnTo>
                  <a:pt x="3104308" y="2460745"/>
                </a:lnTo>
                <a:lnTo>
                  <a:pt x="3233598" y="2436764"/>
                </a:lnTo>
                <a:lnTo>
                  <a:pt x="3360493" y="2406625"/>
                </a:lnTo>
                <a:lnTo>
                  <a:pt x="3484379" y="2370262"/>
                </a:lnTo>
                <a:lnTo>
                  <a:pt x="3604640" y="2327605"/>
                </a:lnTo>
                <a:lnTo>
                  <a:pt x="3718503" y="2279524"/>
                </a:lnTo>
                <a:lnTo>
                  <a:pt x="3823527" y="2227170"/>
                </a:lnTo>
                <a:lnTo>
                  <a:pt x="3919591" y="2170895"/>
                </a:lnTo>
                <a:lnTo>
                  <a:pt x="4006577" y="2111053"/>
                </a:lnTo>
                <a:lnTo>
                  <a:pt x="4084367" y="2047996"/>
                </a:lnTo>
                <a:lnTo>
                  <a:pt x="4152842" y="1982077"/>
                </a:lnTo>
                <a:lnTo>
                  <a:pt x="4211882" y="1913649"/>
                </a:lnTo>
                <a:lnTo>
                  <a:pt x="4261369" y="1843065"/>
                </a:lnTo>
                <a:lnTo>
                  <a:pt x="4301184" y="1770678"/>
                </a:lnTo>
                <a:lnTo>
                  <a:pt x="4331208" y="1696840"/>
                </a:lnTo>
                <a:lnTo>
                  <a:pt x="4351322" y="1621905"/>
                </a:lnTo>
                <a:lnTo>
                  <a:pt x="4361407" y="1546224"/>
                </a:lnTo>
                <a:lnTo>
                  <a:pt x="4361345" y="1470152"/>
                </a:lnTo>
                <a:lnTo>
                  <a:pt x="4351016" y="1394041"/>
                </a:lnTo>
                <a:lnTo>
                  <a:pt x="4330303" y="1318243"/>
                </a:lnTo>
                <a:lnTo>
                  <a:pt x="4299085" y="1243112"/>
                </a:lnTo>
                <a:lnTo>
                  <a:pt x="4257244" y="1169000"/>
                </a:lnTo>
                <a:lnTo>
                  <a:pt x="4204661" y="1096260"/>
                </a:lnTo>
                <a:lnTo>
                  <a:pt x="4141217" y="1025246"/>
                </a:lnTo>
                <a:lnTo>
                  <a:pt x="4066794" y="956309"/>
                </a:lnTo>
                <a:lnTo>
                  <a:pt x="3982908" y="891058"/>
                </a:lnTo>
                <a:lnTo>
                  <a:pt x="3891569" y="830872"/>
                </a:lnTo>
                <a:lnTo>
                  <a:pt x="3793392" y="775820"/>
                </a:lnTo>
                <a:lnTo>
                  <a:pt x="3688991" y="725968"/>
                </a:lnTo>
                <a:lnTo>
                  <a:pt x="3603661" y="691388"/>
                </a:lnTo>
                <a:lnTo>
                  <a:pt x="1674495" y="691388"/>
                </a:lnTo>
                <a:lnTo>
                  <a:pt x="0" y="0"/>
                </a:lnTo>
                <a:close/>
              </a:path>
              <a:path w="4361815" h="2496820">
                <a:moveTo>
                  <a:pt x="2703615" y="522591"/>
                </a:moveTo>
                <a:lnTo>
                  <a:pt x="2570905" y="522622"/>
                </a:lnTo>
                <a:lnTo>
                  <a:pt x="2438126" y="528535"/>
                </a:lnTo>
                <a:lnTo>
                  <a:pt x="2305895" y="540400"/>
                </a:lnTo>
                <a:lnTo>
                  <a:pt x="2174827" y="558285"/>
                </a:lnTo>
                <a:lnTo>
                  <a:pt x="2045537" y="582258"/>
                </a:lnTo>
                <a:lnTo>
                  <a:pt x="1918642" y="612388"/>
                </a:lnTo>
                <a:lnTo>
                  <a:pt x="1794756" y="648741"/>
                </a:lnTo>
                <a:lnTo>
                  <a:pt x="1674495" y="691388"/>
                </a:lnTo>
                <a:lnTo>
                  <a:pt x="3603661" y="691388"/>
                </a:lnTo>
                <a:lnTo>
                  <a:pt x="3463982" y="642142"/>
                </a:lnTo>
                <a:lnTo>
                  <a:pt x="3344605" y="608304"/>
                </a:lnTo>
                <a:lnTo>
                  <a:pt x="3221467" y="579940"/>
                </a:lnTo>
                <a:lnTo>
                  <a:pt x="3095184" y="557119"/>
                </a:lnTo>
                <a:lnTo>
                  <a:pt x="2966370" y="539908"/>
                </a:lnTo>
                <a:lnTo>
                  <a:pt x="2835642" y="528376"/>
                </a:lnTo>
                <a:lnTo>
                  <a:pt x="2703615" y="522591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873050" y="4694679"/>
            <a:ext cx="1416367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933" marR="3810" indent="-212884"/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Util</a:t>
            </a:r>
            <a:r>
              <a:rPr sz="2100" spc="-15" dirty="0">
                <a:solidFill>
                  <a:srgbClr val="FFFFFF"/>
                </a:solidFill>
                <a:latin typeface="Corbel"/>
                <a:cs typeface="Corbel"/>
              </a:rPr>
              <a:t>izaremos nump</a:t>
            </a:r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100" spc="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100" spc="-8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100" spc="-15" dirty="0">
                <a:solidFill>
                  <a:srgbClr val="FFFFFF"/>
                </a:solidFill>
                <a:latin typeface="Corbel"/>
                <a:cs typeface="Corbel"/>
              </a:rPr>
              <a:t>statistics</a:t>
            </a:r>
            <a:endParaRPr sz="2100" dirty="0">
              <a:latin typeface="Corbel"/>
              <a:cs typeface="Corbe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2C5553D-25AD-4085-832A-267823820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857500"/>
            <a:ext cx="2556252" cy="113939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00701" y="4000500"/>
            <a:ext cx="3271361" cy="1872615"/>
          </a:xfrm>
          <a:custGeom>
            <a:avLst/>
            <a:gdLst/>
            <a:ahLst/>
            <a:cxnLst/>
            <a:rect l="l" t="t" r="r" b="b"/>
            <a:pathLst>
              <a:path w="4361815" h="2496820">
                <a:moveTo>
                  <a:pt x="0" y="0"/>
                </a:moveTo>
                <a:lnTo>
                  <a:pt x="1674495" y="691388"/>
                </a:lnTo>
                <a:lnTo>
                  <a:pt x="1794756" y="648741"/>
                </a:lnTo>
                <a:lnTo>
                  <a:pt x="1918642" y="612388"/>
                </a:lnTo>
                <a:lnTo>
                  <a:pt x="2045537" y="582258"/>
                </a:lnTo>
                <a:lnTo>
                  <a:pt x="2174827" y="558285"/>
                </a:lnTo>
                <a:lnTo>
                  <a:pt x="2305895" y="540400"/>
                </a:lnTo>
                <a:lnTo>
                  <a:pt x="2438126" y="528535"/>
                </a:lnTo>
                <a:lnTo>
                  <a:pt x="2570905" y="522622"/>
                </a:lnTo>
                <a:lnTo>
                  <a:pt x="2703615" y="522591"/>
                </a:lnTo>
                <a:lnTo>
                  <a:pt x="2835642" y="528376"/>
                </a:lnTo>
                <a:lnTo>
                  <a:pt x="2966370" y="539908"/>
                </a:lnTo>
                <a:lnTo>
                  <a:pt x="3095184" y="557119"/>
                </a:lnTo>
                <a:lnTo>
                  <a:pt x="3221467" y="579940"/>
                </a:lnTo>
                <a:lnTo>
                  <a:pt x="3344605" y="608304"/>
                </a:lnTo>
                <a:lnTo>
                  <a:pt x="3463982" y="642142"/>
                </a:lnTo>
                <a:lnTo>
                  <a:pt x="3578983" y="681386"/>
                </a:lnTo>
                <a:lnTo>
                  <a:pt x="3688991" y="725968"/>
                </a:lnTo>
                <a:lnTo>
                  <a:pt x="3793392" y="775820"/>
                </a:lnTo>
                <a:lnTo>
                  <a:pt x="3891569" y="830872"/>
                </a:lnTo>
                <a:lnTo>
                  <a:pt x="3982908" y="891058"/>
                </a:lnTo>
                <a:lnTo>
                  <a:pt x="4066794" y="956309"/>
                </a:lnTo>
                <a:lnTo>
                  <a:pt x="4141217" y="1025246"/>
                </a:lnTo>
                <a:lnTo>
                  <a:pt x="4204661" y="1096260"/>
                </a:lnTo>
                <a:lnTo>
                  <a:pt x="4257244" y="1169000"/>
                </a:lnTo>
                <a:lnTo>
                  <a:pt x="4299085" y="1243112"/>
                </a:lnTo>
                <a:lnTo>
                  <a:pt x="4330303" y="1318243"/>
                </a:lnTo>
                <a:lnTo>
                  <a:pt x="4351016" y="1394041"/>
                </a:lnTo>
                <a:lnTo>
                  <a:pt x="4361345" y="1470152"/>
                </a:lnTo>
                <a:lnTo>
                  <a:pt x="4361407" y="1546224"/>
                </a:lnTo>
                <a:lnTo>
                  <a:pt x="4351322" y="1621905"/>
                </a:lnTo>
                <a:lnTo>
                  <a:pt x="4331208" y="1696840"/>
                </a:lnTo>
                <a:lnTo>
                  <a:pt x="4301184" y="1770678"/>
                </a:lnTo>
                <a:lnTo>
                  <a:pt x="4261369" y="1843065"/>
                </a:lnTo>
                <a:lnTo>
                  <a:pt x="4211882" y="1913649"/>
                </a:lnTo>
                <a:lnTo>
                  <a:pt x="4152842" y="1982077"/>
                </a:lnTo>
                <a:lnTo>
                  <a:pt x="4084367" y="2047996"/>
                </a:lnTo>
                <a:lnTo>
                  <a:pt x="4006577" y="2111053"/>
                </a:lnTo>
                <a:lnTo>
                  <a:pt x="3919591" y="2170895"/>
                </a:lnTo>
                <a:lnTo>
                  <a:pt x="3823527" y="2227170"/>
                </a:lnTo>
                <a:lnTo>
                  <a:pt x="3718503" y="2279524"/>
                </a:lnTo>
                <a:lnTo>
                  <a:pt x="3604640" y="2327605"/>
                </a:lnTo>
                <a:lnTo>
                  <a:pt x="3484379" y="2370262"/>
                </a:lnTo>
                <a:lnTo>
                  <a:pt x="3360493" y="2406625"/>
                </a:lnTo>
                <a:lnTo>
                  <a:pt x="3233598" y="2436764"/>
                </a:lnTo>
                <a:lnTo>
                  <a:pt x="3104308" y="2460745"/>
                </a:lnTo>
                <a:lnTo>
                  <a:pt x="2973240" y="2478637"/>
                </a:lnTo>
                <a:lnTo>
                  <a:pt x="2841009" y="2490508"/>
                </a:lnTo>
                <a:lnTo>
                  <a:pt x="2708230" y="2496426"/>
                </a:lnTo>
                <a:lnTo>
                  <a:pt x="2575520" y="2496460"/>
                </a:lnTo>
                <a:lnTo>
                  <a:pt x="2443493" y="2490678"/>
                </a:lnTo>
                <a:lnTo>
                  <a:pt x="2312765" y="2479147"/>
                </a:lnTo>
                <a:lnTo>
                  <a:pt x="2183951" y="2461937"/>
                </a:lnTo>
                <a:lnTo>
                  <a:pt x="2057668" y="2439115"/>
                </a:lnTo>
                <a:lnTo>
                  <a:pt x="1934530" y="2410749"/>
                </a:lnTo>
                <a:lnTo>
                  <a:pt x="1815153" y="2376908"/>
                </a:lnTo>
                <a:lnTo>
                  <a:pt x="1700152" y="2337660"/>
                </a:lnTo>
                <a:lnTo>
                  <a:pt x="1590144" y="2293072"/>
                </a:lnTo>
                <a:lnTo>
                  <a:pt x="1485743" y="2243214"/>
                </a:lnTo>
                <a:lnTo>
                  <a:pt x="1387566" y="2188153"/>
                </a:lnTo>
                <a:lnTo>
                  <a:pt x="1296227" y="2127957"/>
                </a:lnTo>
                <a:lnTo>
                  <a:pt x="1212341" y="2062695"/>
                </a:lnTo>
                <a:lnTo>
                  <a:pt x="1156269" y="2011923"/>
                </a:lnTo>
                <a:lnTo>
                  <a:pt x="1106085" y="1959753"/>
                </a:lnTo>
                <a:lnTo>
                  <a:pt x="1061790" y="1906340"/>
                </a:lnTo>
                <a:lnTo>
                  <a:pt x="1023385" y="1851839"/>
                </a:lnTo>
                <a:lnTo>
                  <a:pt x="990869" y="1796405"/>
                </a:lnTo>
                <a:lnTo>
                  <a:pt x="964244" y="1740192"/>
                </a:lnTo>
                <a:lnTo>
                  <a:pt x="943510" y="1683356"/>
                </a:lnTo>
                <a:lnTo>
                  <a:pt x="928666" y="1626051"/>
                </a:lnTo>
                <a:lnTo>
                  <a:pt x="919714" y="1568432"/>
                </a:lnTo>
                <a:lnTo>
                  <a:pt x="916654" y="1510655"/>
                </a:lnTo>
                <a:lnTo>
                  <a:pt x="919486" y="1452873"/>
                </a:lnTo>
                <a:lnTo>
                  <a:pt x="928210" y="1395243"/>
                </a:lnTo>
                <a:lnTo>
                  <a:pt x="942827" y="1337918"/>
                </a:lnTo>
                <a:lnTo>
                  <a:pt x="963338" y="1281054"/>
                </a:lnTo>
                <a:lnTo>
                  <a:pt x="989742" y="1224805"/>
                </a:lnTo>
                <a:lnTo>
                  <a:pt x="1022041" y="1169327"/>
                </a:lnTo>
                <a:lnTo>
                  <a:pt x="1060233" y="1114773"/>
                </a:lnTo>
                <a:lnTo>
                  <a:pt x="1104321" y="1061301"/>
                </a:lnTo>
                <a:lnTo>
                  <a:pt x="1154304" y="1009063"/>
                </a:lnTo>
                <a:lnTo>
                  <a:pt x="1210182" y="958214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1F7CAC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1817" y="573401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116632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48150"/>
              </p:ext>
            </p:extLst>
          </p:nvPr>
        </p:nvGraphicFramePr>
        <p:xfrm>
          <a:off x="539552" y="1268760"/>
          <a:ext cx="7830615" cy="4351138"/>
        </p:xfrm>
        <a:graphic>
          <a:graphicData uri="http://schemas.openxmlformats.org/drawingml/2006/table">
            <a:tbl>
              <a:tblPr/>
              <a:tblGrid>
                <a:gridCol w="2675834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28622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704060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022099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1573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 / SENTENCIAS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número de elementos en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lista=[8,5,2]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sería igual a 3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2370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 el valor indicado en el parámetro al final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lista.append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30016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Inserta el valor indicado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(posición, 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lista.insert</a:t>
                      </a:r>
                      <a:r>
                        <a:rPr lang="es-MX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(1, 4)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5, 2, 10]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88462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indicado de la lista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lista[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lista[1]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borraría el 4.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10]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3138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que tenga el valor que se recibe como parámetro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lista.remove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Borraría el valor 10 de la lista [8, 5,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945677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valor que se encuentra en la posición indicada por el índice y lo borra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.pop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lista.pop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obtendría el valor de 5 y lo borraría de la lista.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219535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49969"/>
              </p:ext>
            </p:extLst>
          </p:nvPr>
        </p:nvGraphicFramePr>
        <p:xfrm>
          <a:off x="323527" y="1540627"/>
          <a:ext cx="8496945" cy="4179110"/>
        </p:xfrm>
        <a:graphic>
          <a:graphicData uri="http://schemas.openxmlformats.org/drawingml/2006/table">
            <a:tbl>
              <a:tblPr/>
              <a:tblGrid>
                <a:gridCol w="3092780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05809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897842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100514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2859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con la función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= "Python"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(palabra)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['P', 'y', 't', 'h', 'o', 'n']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usando el método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"x, y, z"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string.split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(',')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[‘x', 'y', ‘z']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76497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Regresa la lista ordenada, sin modificar la lista original.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lista2=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(lista2)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11899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Ordena los elementos de la lista de mayor a menor. Si se indica el parámetro reverse en True se ordena de mayor a menor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reverse=True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lista1.sort()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1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59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4775</TotalTime>
  <Words>990</Words>
  <Application>Microsoft Office PowerPoint</Application>
  <PresentationFormat>Presentación en pantalla (4:3)</PresentationFormat>
  <Paragraphs>190</Paragraphs>
  <Slides>21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Arial Rounded MT Bold</vt:lpstr>
      <vt:lpstr>Calibri</vt:lpstr>
      <vt:lpstr>Corbel</vt:lpstr>
      <vt:lpstr>Courier New</vt:lpstr>
      <vt:lpstr>Dom Casual</vt:lpstr>
      <vt:lpstr>Times New Roman</vt:lpstr>
      <vt:lpstr>Tema de Office</vt:lpstr>
      <vt:lpstr>TC 1037  Pensamiento algorítmico</vt:lpstr>
      <vt:lpstr>Listas</vt:lpstr>
      <vt:lpstr>Presentación de PowerPoint</vt:lpstr>
      <vt:lpstr>Presentación de PowerPoint</vt:lpstr>
      <vt:lpstr>Listas</vt:lpstr>
      <vt:lpstr>Listas</vt:lpstr>
      <vt:lpstr>Listas</vt:lpstr>
      <vt:lpstr>Listas</vt:lpstr>
      <vt:lpstr>Listas</vt:lpstr>
      <vt:lpstr>Listas</vt:lpstr>
      <vt:lpstr>Listas</vt:lpstr>
      <vt:lpstr>Presentación de PowerPoint</vt:lpstr>
      <vt:lpstr>Presentación de PowerPoint</vt:lpstr>
      <vt:lpstr>Presentación de PowerPoint</vt:lpstr>
      <vt:lpstr>Veamos que mas podemos hacer con listas!!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102</cp:revision>
  <dcterms:created xsi:type="dcterms:W3CDTF">2013-07-08T17:54:54Z</dcterms:created>
  <dcterms:modified xsi:type="dcterms:W3CDTF">2026-08-19T18:14:12Z</dcterms:modified>
</cp:coreProperties>
</file>