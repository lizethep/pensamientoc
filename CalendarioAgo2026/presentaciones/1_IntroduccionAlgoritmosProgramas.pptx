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6" r:id="rId2"/>
    <p:sldId id="259" r:id="rId3"/>
    <p:sldId id="260" r:id="rId4"/>
    <p:sldId id="287" r:id="rId5"/>
    <p:sldId id="264" r:id="rId6"/>
    <p:sldId id="290" r:id="rId7"/>
    <p:sldId id="291" r:id="rId8"/>
    <p:sldId id="292" r:id="rId9"/>
    <p:sldId id="293" r:id="rId10"/>
    <p:sldId id="294" r:id="rId11"/>
    <p:sldId id="288" r:id="rId12"/>
    <p:sldId id="318" r:id="rId13"/>
    <p:sldId id="312" r:id="rId14"/>
    <p:sldId id="313" r:id="rId15"/>
    <p:sldId id="314" r:id="rId16"/>
    <p:sldId id="273" r:id="rId17"/>
    <p:sldId id="274" r:id="rId18"/>
    <p:sldId id="277" r:id="rId19"/>
    <p:sldId id="315" r:id="rId20"/>
    <p:sldId id="282" r:id="rId21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78848" autoAdjust="0"/>
  </p:normalViewPr>
  <p:slideViewPr>
    <p:cSldViewPr>
      <p:cViewPr varScale="1">
        <p:scale>
          <a:sx n="60" d="100"/>
          <a:sy n="60" d="100"/>
        </p:scale>
        <p:origin x="1476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2:23.773" v="19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2:23.773" v="19" actId="27636"/>
        <pc:sldMkLst>
          <pc:docMk/>
          <pc:sldMk cId="2833797989" sldId="316"/>
        </pc:sldMkLst>
        <pc:spChg chg="mod">
          <ac:chgData name="Lizethe Pérez Fuertes" userId="4ae9ef87-2a7d-42f8-8dfa-0a501a9e2ff4" providerId="ADAL" clId="{FDDD45CB-1330-4033-A842-3D2746AFF7C7}" dt="2026-08-07T00:42:23.773" v="19" actId="27636"/>
          <ac:spMkLst>
            <pc:docMk/>
            <pc:sldMk cId="2833797989" sldId="31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5058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2281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03313" y="676275"/>
            <a:ext cx="4602162" cy="34528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7774" y="4353839"/>
            <a:ext cx="5012575" cy="41286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6998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3106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32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51170281-9BD5-461B-BF58-68BBE78D20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5A9D5DB-9049-4B8C-B7F9-84B65873C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419600"/>
            <a:ext cx="5105400" cy="419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12760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D2017E7E-5EA0-4674-BE48-AD485166C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8C08A72F-A4A4-4003-A7DD-95FC39CD9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419600"/>
            <a:ext cx="5105400" cy="419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114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ED862A34-5FEB-4970-8BCB-A0096141BF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30300" y="685800"/>
            <a:ext cx="4673600" cy="35052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537CF87A-06AD-4A72-806C-E48BDE87C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419600"/>
            <a:ext cx="5105400" cy="419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185758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0741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47943-BED9-4F50-9608-342FFFFC6AEF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593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FC015-572F-46F3-9D9B-EEDD4A80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C13B2A-F741-45CB-9E4B-14C40E37AD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4D65C3-9777-4E37-8DC4-6DDD95C80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426065-19D0-47BB-9FA7-B3D28B87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B5C921-7D37-4576-A452-5DB2C5C9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33E4FC-893D-4D8A-9AF4-A20CE993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941E34F-CA94-4113-8043-52D611D98626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2574586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0BC62-06C3-48F7-957C-03C76B9B39E0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F74293-F290-4011-935E-C92865C90E7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8D09FE-733D-4991-AE22-1DDB9D02742A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1FB1686-507A-4941-9E03-AFB736B3799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9D7A17-A510-466A-A0DF-EAF1BA82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E2D266-F21E-4585-9D75-D9242AA7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1FB41F-9412-49D7-9F62-47869E81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C07216-467E-4C7E-98E1-E676BB99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E607A35-27CB-40C7-A261-E42DA0A0B45F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362991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gif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5334" y="2348880"/>
            <a:ext cx="7342584" cy="136815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Introducción algoritmos y programas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20769"/>
            <a:ext cx="3960700" cy="2739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79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4494" y="2827814"/>
            <a:ext cx="4285127" cy="2519982"/>
          </a:xfrm>
        </p:spPr>
        <p:txBody>
          <a:bodyPr/>
          <a:lstStyle/>
          <a:p>
            <a:pPr algn="just">
              <a:lnSpc>
                <a:spcPct val="125000"/>
              </a:lnSpc>
              <a:spcBef>
                <a:spcPts val="600"/>
              </a:spcBef>
              <a:defRPr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 consiste en una secuencia de instrucciones,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las cuales, realizadas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adecuadamente, dan lugar al resultado deseado.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61061DA-D619-4A78-9C1B-7D436D3E1AA6}"/>
              </a:ext>
            </a:extLst>
          </p:cNvPr>
          <p:cNvSpPr txBox="1">
            <a:spLocks noChangeArrowheads="1"/>
          </p:cNvSpPr>
          <p:nvPr/>
        </p:nvSpPr>
        <p:spPr>
          <a:xfrm>
            <a:off x="1054495" y="1772816"/>
            <a:ext cx="7475478" cy="105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defRPr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 describe el método mediante el cual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se realiza una tarea.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DC27B6-1EA0-4AE6-90DA-704E3334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561487"/>
            <a:ext cx="2458616" cy="293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8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0" name="Rectangle 103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4281" name="Rectangle 1033"/>
          <p:cNvSpPr>
            <a:spLocks noGrp="1" noChangeArrowheads="1"/>
          </p:cNvSpPr>
          <p:nvPr>
            <p:ph type="body" idx="1"/>
          </p:nvPr>
        </p:nvSpPr>
        <p:spPr>
          <a:xfrm>
            <a:off x="758874" y="1604909"/>
            <a:ext cx="5469310" cy="1958009"/>
          </a:xfrm>
        </p:spPr>
        <p:txBody>
          <a:bodyPr>
            <a:noAutofit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  <a:defRPr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</a:rPr>
              <a:t>Características fundamentales</a:t>
            </a:r>
            <a:r>
              <a:rPr lang="es-MX" sz="2400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  <a:defRPr/>
            </a:pPr>
            <a:endParaRPr lang="es-MX" sz="1600" dirty="0">
              <a:solidFill>
                <a:srgbClr val="0070C0"/>
              </a:solidFill>
            </a:endParaRPr>
          </a:p>
          <a:p>
            <a:pPr marL="361950" indent="-361950" algn="just" eaLnBrk="1" hangingPunct="1">
              <a:lnSpc>
                <a:spcPts val="3500"/>
              </a:lnSpc>
              <a:spcBef>
                <a:spcPts val="600"/>
              </a:spcBef>
              <a:buFontTx/>
              <a:buAutoNum type="arabicPeriod"/>
              <a:defRPr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Un algoritmo debe ser preciso e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indicar el orden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de realización de cada paso.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9CEE9B-3033-4541-A80E-F5385A14F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574" y="332656"/>
            <a:ext cx="1868910" cy="2530378"/>
          </a:xfrm>
          <a:prstGeom prst="rect">
            <a:avLst/>
          </a:prstGeom>
        </p:spPr>
      </p:pic>
      <p:sp>
        <p:nvSpPr>
          <p:cNvPr id="6" name="Rectangle 1033">
            <a:extLst>
              <a:ext uri="{FF2B5EF4-FFF2-40B4-BE49-F238E27FC236}">
                <a16:creationId xmlns:a16="http://schemas.microsoft.com/office/drawing/2014/main" id="{B91EA874-1DF9-4179-8B68-7231B28C7262}"/>
              </a:ext>
            </a:extLst>
          </p:cNvPr>
          <p:cNvSpPr txBox="1">
            <a:spLocks noChangeArrowheads="1"/>
          </p:cNvSpPr>
          <p:nvPr/>
        </p:nvSpPr>
        <p:spPr>
          <a:xfrm>
            <a:off x="757225" y="3274886"/>
            <a:ext cx="7627901" cy="253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 algn="just">
              <a:lnSpc>
                <a:spcPts val="3500"/>
              </a:lnSpc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Un algoritmo debe ser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definido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 Si se sigue un algoritmo dos veces, se debe obtener el mismo resultado cada vez.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  <a:p>
            <a:pPr marL="361950" indent="-361950" algn="just">
              <a:lnSpc>
                <a:spcPts val="3500"/>
              </a:lnSpc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Un algoritmo debe ser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finito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 Si se sigue un algoritmo, se debe de terminar en algún momento. Tiene un inicio y un fin.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1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2567182-40ED-41CA-9890-1A176F0EEC91}"/>
              </a:ext>
            </a:extLst>
          </p:cNvPr>
          <p:cNvSpPr txBox="1"/>
          <p:nvPr/>
        </p:nvSpPr>
        <p:spPr>
          <a:xfrm>
            <a:off x="755576" y="2924944"/>
            <a:ext cx="2286000" cy="16686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35700"/>
              </a:lnSpc>
            </a:pPr>
            <a:r>
              <a:rPr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Algori</a:t>
            </a:r>
            <a:r>
              <a:rPr b="1" spc="5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t</a:t>
            </a:r>
            <a:r>
              <a:rPr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mo</a:t>
            </a:r>
            <a:r>
              <a:rPr b="1" spc="-3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para</a:t>
            </a:r>
            <a:r>
              <a:rPr b="1" spc="-3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comp</a:t>
            </a:r>
            <a:r>
              <a:rPr b="1" spc="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r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ar</a:t>
            </a:r>
            <a:r>
              <a:rPr b="1" spc="-3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un</a:t>
            </a:r>
            <a:r>
              <a:rPr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bo</a:t>
            </a:r>
            <a:r>
              <a:rPr b="1" spc="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l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e</a:t>
            </a:r>
            <a:r>
              <a:rPr b="1" spc="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t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o</a:t>
            </a:r>
            <a:r>
              <a:rPr b="1" spc="-3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de</a:t>
            </a:r>
            <a:r>
              <a:rPr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lang="es-MX"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vión</a:t>
            </a:r>
            <a:r>
              <a:rPr lang="es-MX"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en</a:t>
            </a:r>
            <a:r>
              <a:rPr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I</a:t>
            </a:r>
            <a:r>
              <a:rPr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nterne</a:t>
            </a:r>
            <a:r>
              <a:rPr b="1" spc="5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t</a:t>
            </a:r>
            <a:r>
              <a:rPr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:</a:t>
            </a:r>
            <a:endParaRPr dirty="0">
              <a:solidFill>
                <a:schemeClr val="accent5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96CB169-EB3E-4256-A74D-1838915FC831}"/>
              </a:ext>
            </a:extLst>
          </p:cNvPr>
          <p:cNvSpPr txBox="1">
            <a:spLocks/>
          </p:cNvSpPr>
          <p:nvPr/>
        </p:nvSpPr>
        <p:spPr>
          <a:xfrm>
            <a:off x="50488" y="-136230"/>
            <a:ext cx="7748608" cy="1257249"/>
          </a:xfrm>
          <a:prstGeom prst="rect">
            <a:avLst/>
          </a:prstGeom>
        </p:spPr>
        <p:txBody>
          <a:bodyPr vert="horz" wrap="square" lIns="0" tIns="635508" rIns="0" bIns="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00"/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Algoritmo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9A25467-A029-4D80-9D44-B22F2926AC51}"/>
              </a:ext>
            </a:extLst>
          </p:cNvPr>
          <p:cNvSpPr/>
          <p:nvPr/>
        </p:nvSpPr>
        <p:spPr>
          <a:xfrm>
            <a:off x="3924792" y="2179518"/>
            <a:ext cx="3920348" cy="3459283"/>
          </a:xfrm>
          <a:custGeom>
            <a:avLst/>
            <a:gdLst/>
            <a:ahLst/>
            <a:cxnLst/>
            <a:rect l="l" t="t" r="r" b="b"/>
            <a:pathLst>
              <a:path w="3563111" h="3503676">
                <a:moveTo>
                  <a:pt x="0" y="3503676"/>
                </a:moveTo>
                <a:lnTo>
                  <a:pt x="3563112" y="3503676"/>
                </a:lnTo>
                <a:lnTo>
                  <a:pt x="3563112" y="0"/>
                </a:lnTo>
                <a:lnTo>
                  <a:pt x="0" y="0"/>
                </a:lnTo>
                <a:lnTo>
                  <a:pt x="0" y="35036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CA25AC4-CA3D-4D9F-9450-B5C12E94FF6A}"/>
              </a:ext>
            </a:extLst>
          </p:cNvPr>
          <p:cNvSpPr txBox="1"/>
          <p:nvPr/>
        </p:nvSpPr>
        <p:spPr>
          <a:xfrm>
            <a:off x="3130914" y="1892935"/>
            <a:ext cx="5508104" cy="403244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2"/>
              </a:spcBef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En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rar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al s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tio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aerol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í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nea</a:t>
            </a:r>
            <a:r>
              <a:rPr sz="2000" b="1" spc="-4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agencia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marR="127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Int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oducir</a:t>
            </a:r>
            <a:r>
              <a:rPr sz="2000" b="1" spc="-3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origen,</a:t>
            </a:r>
            <a:r>
              <a:rPr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tino,</a:t>
            </a:r>
            <a:r>
              <a:rPr sz="2000" b="1" spc="-3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fecha</a:t>
            </a:r>
            <a:r>
              <a:rPr sz="2000" b="1" spc="-3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y la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cantidad</a:t>
            </a:r>
            <a:r>
              <a:rPr sz="2000" b="1" spc="-4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pe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sonas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Definir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si es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sencil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sz="2000" b="1" spc="-3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redondo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spcBef>
                <a:spcPts val="1"/>
              </a:spcBef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Buscar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vuelos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Seleccio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ar</a:t>
            </a:r>
            <a:r>
              <a:rPr sz="2000" b="1" spc="-3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vuelo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Int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oducir</a:t>
            </a:r>
            <a:r>
              <a:rPr sz="2000" b="1" spc="-3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servicios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</a:t>
            </a:r>
            <a:r>
              <a:rPr sz="2000" b="1" spc="5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ead</a:t>
            </a:r>
            <a:r>
              <a:rPr sz="2000" b="1" spc="-1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Pa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g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ar</a:t>
            </a:r>
            <a:r>
              <a:rPr sz="2000" b="1" spc="-1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bo</a:t>
            </a:r>
            <a:r>
              <a:rPr sz="2000" b="1" spc="5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</a:t>
            </a:r>
            <a:r>
              <a:rPr sz="2000" b="1" spc="5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600"/>
              </a:lnSpc>
              <a:spcBef>
                <a:spcPts val="2"/>
              </a:spcBef>
              <a:buClr>
                <a:schemeClr val="accent4">
                  <a:lumMod val="50000"/>
                </a:schemeClr>
              </a:buClr>
              <a:buFont typeface="Calibri"/>
              <a:buAutoNum type="arabicPeriod"/>
            </a:pP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55600" indent="-342900">
              <a:buClr>
                <a:schemeClr val="accent4">
                  <a:lumMod val="50000"/>
                </a:schemeClr>
              </a:buClr>
              <a:buFont typeface="Calibri"/>
              <a:buAutoNum type="arabicPeriod"/>
              <a:tabLst>
                <a:tab pos="354965" algn="l"/>
              </a:tabLst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Recibir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comp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r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ob</a:t>
            </a:r>
            <a:r>
              <a:rPr sz="2000" b="1" spc="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</a:t>
            </a:r>
            <a:r>
              <a:rPr sz="2000" b="1" spc="-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</a:t>
            </a:r>
            <a:r>
              <a:rPr sz="2000" b="1" spc="-4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</a:t>
            </a:r>
            <a:r>
              <a:rPr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pase</a:t>
            </a:r>
            <a:r>
              <a:rPr sz="2000" b="1" spc="-2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</a:t>
            </a:r>
            <a:r>
              <a:rPr sz="2000" b="1" spc="-15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abordar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35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669925" y="44450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258888" y="2050802"/>
            <a:ext cx="6623050" cy="107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ts val="4000"/>
              </a:lnSpc>
            </a:pPr>
            <a:r>
              <a:rPr lang="es-MX" sz="2800" dirty="0">
                <a:solidFill>
                  <a:schemeClr val="bg2">
                    <a:lumMod val="25000"/>
                  </a:schemeClr>
                </a:solidFill>
              </a:rPr>
              <a:t>Definir el algoritmo que sigues para venir a clase</a:t>
            </a:r>
            <a:endParaRPr lang="es-E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284984"/>
            <a:ext cx="3744416" cy="248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243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8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85775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28675" y="2060575"/>
            <a:ext cx="7559675" cy="3024188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En general, el agente que interpreta y realiza las instrucciones se llama 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procesador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algn="just" eaLnBrk="1" hangingPunct="1">
              <a:lnSpc>
                <a:spcPct val="125000"/>
              </a:lnSpc>
              <a:buFontTx/>
              <a:buNone/>
            </a:pP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Un procesador puede ser una persona, una computadora, o cualquier otro sistema electrónico o mecánico.</a:t>
            </a:r>
            <a:endParaRPr lang="es-ES" sz="2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14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6"/>
          <p:cNvSpPr>
            <a:spLocks noGrp="1" noChangeArrowheads="1"/>
          </p:cNvSpPr>
          <p:nvPr>
            <p:ph type="title"/>
          </p:nvPr>
        </p:nvSpPr>
        <p:spPr>
          <a:xfrm>
            <a:off x="457199" y="155434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05817" y="1516786"/>
            <a:ext cx="7854616" cy="1143000"/>
          </a:xfrm>
        </p:spPr>
        <p:txBody>
          <a:bodyPr/>
          <a:lstStyle/>
          <a:p>
            <a:pPr algn="just">
              <a:lnSpc>
                <a:spcPct val="125000"/>
              </a:lnSpc>
              <a:spcBef>
                <a:spcPct val="10000"/>
              </a:spcBef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Si el procesador de un algoritmo es una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computadora,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el algoritmo debe estar expresado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en forma de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programa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B0CF08-517F-40E0-AE79-ED688CA93A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948282"/>
            <a:ext cx="2434004" cy="27870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904612-792C-41BB-8BFB-447D77F8635C}"/>
              </a:ext>
            </a:extLst>
          </p:cNvPr>
          <p:cNvSpPr txBox="1">
            <a:spLocks noChangeArrowheads="1"/>
          </p:cNvSpPr>
          <p:nvPr/>
        </p:nvSpPr>
        <p:spPr>
          <a:xfrm>
            <a:off x="671241" y="2709342"/>
            <a:ext cx="4723642" cy="3239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ct val="10000"/>
              </a:spcBef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Un programa se escribe en un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lenguaje de</a:t>
            </a: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programación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, y la actividad que consiste en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expresar un algoritmo en un lenguaje de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programación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se llama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programar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37770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5" name="Rectangle 2059"/>
          <p:cNvSpPr>
            <a:spLocks noGrp="1" noChangeArrowheads="1"/>
          </p:cNvSpPr>
          <p:nvPr>
            <p:ph type="title"/>
          </p:nvPr>
        </p:nvSpPr>
        <p:spPr>
          <a:xfrm>
            <a:off x="457200" y="3413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Algoritmos</a:t>
            </a:r>
            <a:endParaRPr lang="es-ES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195" name="Rectangle 2060"/>
          <p:cNvSpPr>
            <a:spLocks noGrp="1" noChangeArrowheads="1"/>
          </p:cNvSpPr>
          <p:nvPr>
            <p:ph type="body" idx="1"/>
          </p:nvPr>
        </p:nvSpPr>
        <p:spPr>
          <a:xfrm>
            <a:off x="539552" y="1628800"/>
            <a:ext cx="8229600" cy="4525962"/>
          </a:xfrm>
        </p:spPr>
        <p:txBody>
          <a:bodyPr/>
          <a:lstStyle/>
          <a:p>
            <a:pPr marL="354013" indent="-354013" eaLnBrk="1" hangingPunct="1">
              <a:lnSpc>
                <a:spcPct val="115000"/>
              </a:lnSpc>
              <a:spcBef>
                <a:spcPct val="60000"/>
              </a:spcBef>
              <a:buFontTx/>
              <a:buNone/>
            </a:pPr>
            <a:r>
              <a:rPr lang="es-ES" dirty="0"/>
              <a:t>   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Como hemos visto, para llevar a cabo un proceso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en  una computadora es preciso:</a:t>
            </a:r>
            <a:endParaRPr lang="es-MX" sz="2600" dirty="0">
              <a:solidFill>
                <a:schemeClr val="bg2">
                  <a:lumMod val="25000"/>
                </a:schemeClr>
              </a:solidFill>
            </a:endParaRPr>
          </a:p>
          <a:p>
            <a:pPr marL="914400" lvl="1" indent="-457200" eaLnBrk="1" hangingPunct="1">
              <a:lnSpc>
                <a:spcPct val="115000"/>
              </a:lnSpc>
              <a:spcBef>
                <a:spcPct val="60000"/>
              </a:spcBef>
              <a:buFontTx/>
              <a:buAutoNum type="arabicPeriod"/>
            </a:pPr>
            <a:r>
              <a:rPr lang="es-ES" sz="2600" b="1" dirty="0">
                <a:solidFill>
                  <a:schemeClr val="accent6">
                    <a:lumMod val="75000"/>
                  </a:schemeClr>
                </a:solidFill>
              </a:rPr>
              <a:t>Diseñar un algoritmo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que describa cómo se debe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realizar el proceso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914400" lvl="1" indent="-457200" eaLnBrk="1" hangingPunct="1">
              <a:lnSpc>
                <a:spcPct val="115000"/>
              </a:lnSpc>
              <a:spcBef>
                <a:spcPct val="60000"/>
              </a:spcBef>
              <a:buFontTx/>
              <a:buAutoNum type="arabicPeriod"/>
            </a:pP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Expresar el algoritmo como un </a:t>
            </a:r>
            <a:r>
              <a:rPr lang="es-ES" sz="2600" b="1" dirty="0">
                <a:solidFill>
                  <a:schemeClr val="accent6">
                    <a:lumMod val="75000"/>
                  </a:schemeClr>
                </a:solidFill>
              </a:rPr>
              <a:t>programa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en un cierto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lenguaje de programación</a:t>
            </a:r>
            <a:r>
              <a:rPr lang="es-MX" sz="26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914400" lvl="1" indent="-457200" eaLnBrk="1" hangingPunct="1">
              <a:lnSpc>
                <a:spcPct val="115000"/>
              </a:lnSpc>
              <a:spcBef>
                <a:spcPct val="60000"/>
              </a:spcBef>
              <a:buFontTx/>
              <a:buAutoNum type="arabicPeriod"/>
            </a:pPr>
            <a:r>
              <a:rPr lang="es-ES" sz="2600" dirty="0">
                <a:solidFill>
                  <a:schemeClr val="bg2">
                    <a:lumMod val="25000"/>
                  </a:schemeClr>
                </a:solidFill>
              </a:rPr>
              <a:t>Ejecutar el programa con la computadora.</a:t>
            </a:r>
          </a:p>
          <a:p>
            <a:pPr marL="533400" indent="-533400" eaLnBrk="1" hangingPunct="1"/>
            <a:endParaRPr lang="es-ES" sz="2600" dirty="0"/>
          </a:p>
          <a:p>
            <a:pPr marL="533400" indent="-533400" eaLnBrk="1" hangingPunct="1"/>
            <a:endParaRPr lang="es-ES" sz="2400" dirty="0"/>
          </a:p>
          <a:p>
            <a:pPr marL="533400" indent="-533400"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957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260350"/>
            <a:ext cx="8229600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s-ES_tradnl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es un programa?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7993260" cy="2376289"/>
          </a:xfrm>
          <a:noFill/>
        </p:spPr>
        <p:txBody>
          <a:bodyPr lIns="92075" tIns="46038" rIns="92075" bIns="46038"/>
          <a:lstStyle/>
          <a:p>
            <a:pPr algn="just" eaLnBrk="1" hangingPunct="1">
              <a:lnSpc>
                <a:spcPct val="145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Un programa es un conjunto de instrucciones escritas en un determinado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lenguaje de programación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, cuyo objetivo es </a:t>
            </a:r>
            <a:r>
              <a:rPr lang="es-ES_tradnl" sz="2400" b="1" dirty="0">
                <a:solidFill>
                  <a:schemeClr val="accent5">
                    <a:lumMod val="75000"/>
                  </a:schemeClr>
                </a:solidFill>
              </a:rPr>
              <a:t>instruir</a:t>
            </a:r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_tradnl" sz="2400" b="1" dirty="0">
                <a:solidFill>
                  <a:schemeClr val="accent5">
                    <a:lumMod val="75000"/>
                  </a:schemeClr>
                </a:solidFill>
              </a:rPr>
              <a:t>a la computadora</a:t>
            </a:r>
            <a:r>
              <a:rPr lang="es-ES_tradnl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para que lleve a cabo una función específica.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458058"/>
            <a:ext cx="3024336" cy="312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356356"/>
      </p:ext>
    </p:extLst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13792"/>
            <a:ext cx="8281168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s-ES_tradnl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¿Qué se requiere para escribir un programa?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958341"/>
            <a:ext cx="8064896" cy="1245507"/>
          </a:xfrm>
        </p:spPr>
        <p:txBody>
          <a:bodyPr lIns="92075" tIns="46038" rIns="92075" bIns="46038">
            <a:normAutofit/>
          </a:bodyPr>
          <a:lstStyle/>
          <a:p>
            <a:pPr algn="just" eaLnBrk="1" hangingPunct="1">
              <a:lnSpc>
                <a:spcPct val="105000"/>
              </a:lnSpc>
              <a:spcAft>
                <a:spcPts val="600"/>
              </a:spcAft>
              <a:defRPr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Un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editor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 una herramienta de software que facilita la escritura de programas. Es un software parecido a un “procesador de palabras”.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6A335E9-B863-40F4-966B-DE5597E95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160" y="4842284"/>
            <a:ext cx="4791695" cy="1575048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C446808-D349-41FC-B996-C47845BFFC5D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3320988"/>
            <a:ext cx="8064896" cy="1404156"/>
          </a:xfrm>
          <a:prstGeom prst="rect">
            <a:avLst/>
          </a:prstGeom>
        </p:spPr>
        <p:txBody>
          <a:bodyPr vert="horz" lIns="92075" tIns="46038" rIns="92075" bIns="4603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5000"/>
              </a:lnSpc>
              <a:spcAft>
                <a:spcPts val="600"/>
              </a:spcAft>
              <a:defRPr/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Un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compilador: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 una herramienta que traduce un programa escrito en un lenguaje de programación (código fuente) al lenguaje máquina.</a:t>
            </a:r>
          </a:p>
        </p:txBody>
      </p:sp>
    </p:spTree>
    <p:extLst>
      <p:ext uri="{BB962C8B-B14F-4D97-AF65-F5344CB8AC3E}">
        <p14:creationId xmlns:p14="http://schemas.microsoft.com/office/powerpoint/2010/main" val="1199498173"/>
      </p:ext>
    </p:extLst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  <p:bldP spid="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01139" y="476672"/>
            <a:ext cx="7444105" cy="8578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Lenguaje de programación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5630" y="1415059"/>
            <a:ext cx="7850826" cy="25179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ctr">
              <a:lnSpc>
                <a:spcPts val="3000"/>
              </a:lnSpc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Es</a:t>
            </a:r>
            <a:r>
              <a:rPr sz="2000" b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un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conjunto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de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re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glas</a:t>
            </a:r>
            <a:r>
              <a:rPr sz="2000" b="1" spc="-1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para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esc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ibir</a:t>
            </a:r>
            <a:r>
              <a:rPr sz="2000" b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instruc</a:t>
            </a:r>
            <a:r>
              <a:rPr sz="2000" b="1" spc="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c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iones</a:t>
            </a:r>
            <a:r>
              <a:rPr sz="2000" b="1" spc="-1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en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un lenguaje que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la</a:t>
            </a:r>
            <a:r>
              <a:rPr sz="2000" b="1" spc="-1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computad</a:t>
            </a:r>
            <a:r>
              <a:rPr sz="2000" b="1" spc="-2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o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ra</a:t>
            </a:r>
            <a:r>
              <a:rPr sz="2000" b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pueda</a:t>
            </a:r>
            <a:r>
              <a:rPr sz="2000" b="1" spc="-5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entende</a:t>
            </a:r>
            <a:r>
              <a:rPr sz="2000" b="1" spc="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</a:t>
            </a: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.</a:t>
            </a:r>
            <a:r>
              <a:rPr sz="2000" b="1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endParaRPr lang="es-MX" sz="2000" b="1" spc="-10" dirty="0">
              <a:solidFill>
                <a:schemeClr val="accent3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 marR="12700" algn="just">
              <a:lnSpc>
                <a:spcPts val="3000"/>
              </a:lnSpc>
            </a:pPr>
            <a:endParaRPr lang="es-MX" sz="2000" spc="-10" dirty="0">
              <a:solidFill>
                <a:schemeClr val="bg2">
                  <a:lumMod val="25000"/>
                </a:schemeClr>
              </a:solidFill>
              <a:latin typeface="Calibri"/>
              <a:cs typeface="Calibri"/>
            </a:endParaRPr>
          </a:p>
          <a:p>
            <a:pPr marL="12700" marR="12700" algn="just">
              <a:lnSpc>
                <a:spcPts val="3000"/>
              </a:lnSpc>
            </a:pP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Hay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</a:t>
            </a:r>
            <a:r>
              <a:rPr sz="2000" b="1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enguaj</a:t>
            </a:r>
            <a:r>
              <a:rPr sz="2000" b="1" spc="-15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es</a:t>
            </a:r>
            <a:r>
              <a:rPr lang="es-MX" sz="2000" b="1" spc="-1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de alto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nivel</a:t>
            </a:r>
            <a:r>
              <a:rPr sz="2000" b="1" spc="1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com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</a:t>
            </a:r>
            <a:r>
              <a:rPr sz="2000" b="1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,</a:t>
            </a:r>
            <a:r>
              <a:rPr sz="2000" b="1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</a:t>
            </a:r>
            <a:r>
              <a:rPr sz="2000" b="1" spc="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+</a:t>
            </a:r>
            <a:r>
              <a:rPr sz="2000" b="1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+</a:t>
            </a:r>
            <a:r>
              <a:rPr sz="2000" b="1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,</a:t>
            </a:r>
            <a:r>
              <a:rPr sz="2000" b="1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Basic</a:t>
            </a:r>
            <a:r>
              <a:rPr sz="2000" b="1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,</a:t>
            </a:r>
            <a:r>
              <a:rPr lang="es-MX" sz="2000" b="1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sz="2000" spc="-1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,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et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.</a:t>
            </a:r>
            <a:r>
              <a:rPr sz="2000" spc="-1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Éstos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requie</a:t>
            </a:r>
            <a:r>
              <a:rPr sz="2000" spc="5" dirty="0" err="1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r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en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compilarse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y hay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lenguajes de bajo</a:t>
            </a:r>
            <a:r>
              <a:rPr sz="2000" b="1" spc="-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nivel 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com</a:t>
            </a:r>
            <a:r>
              <a:rPr sz="2000" spc="-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ensam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bladores</a:t>
            </a:r>
            <a:r>
              <a:rPr sz="2000" b="1" spc="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y</a:t>
            </a:r>
            <a:r>
              <a:rPr sz="2000" b="1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</a:t>
            </a:r>
            <a:r>
              <a:rPr lang="es-MX" sz="2000" b="1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á</a:t>
            </a:r>
            <a:r>
              <a:rPr sz="2000" b="1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quina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.</a:t>
            </a:r>
            <a:r>
              <a:rPr sz="2000" spc="-2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No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 re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quier</a:t>
            </a:r>
            <a:r>
              <a:rPr sz="2000" spc="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n compila</a:t>
            </a:r>
            <a:r>
              <a:rPr sz="2000" spc="5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se</a:t>
            </a:r>
            <a:r>
              <a:rPr sz="2000" dirty="0">
                <a:solidFill>
                  <a:schemeClr val="bg2">
                    <a:lumMod val="25000"/>
                  </a:schemeClr>
                </a:solidFill>
                <a:latin typeface="Calibri"/>
                <a:cs typeface="Calibri"/>
              </a:rPr>
              <a:t>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0FAB87E-0EB7-4C92-A65E-6DE87149A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557" y="3652978"/>
            <a:ext cx="5169389" cy="3205022"/>
          </a:xfrm>
          <a:prstGeom prst="rect">
            <a:avLst/>
          </a:prstGeom>
        </p:spPr>
      </p:pic>
      <p:sp>
        <p:nvSpPr>
          <p:cNvPr id="19" name="object 15">
            <a:extLst>
              <a:ext uri="{FF2B5EF4-FFF2-40B4-BE49-F238E27FC236}">
                <a16:creationId xmlns:a16="http://schemas.microsoft.com/office/drawing/2014/main" id="{FE0283E3-F238-42DA-AB27-E3223F5D9618}"/>
              </a:ext>
            </a:extLst>
          </p:cNvPr>
          <p:cNvSpPr txBox="1"/>
          <p:nvPr/>
        </p:nvSpPr>
        <p:spPr>
          <a:xfrm>
            <a:off x="1619672" y="4720226"/>
            <a:ext cx="1667293" cy="8489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ctr"/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Los 10 mejores lenguajes de programación</a:t>
            </a:r>
            <a:endParaRPr sz="2000" b="1" dirty="0">
              <a:solidFill>
                <a:schemeClr val="accent6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01139" y="476672"/>
            <a:ext cx="7444105" cy="8578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ES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10 principales usos de Python</a:t>
            </a:r>
            <a:endParaRPr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  <a:ea typeface="+mj-ea"/>
              <a:cs typeface="+mj-cs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0FAB87E-0EB7-4C92-A65E-6DE87149A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08920"/>
            <a:ext cx="4394176" cy="272439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DD8E417-FB5E-4185-A827-16FAE88A2139}"/>
              </a:ext>
            </a:extLst>
          </p:cNvPr>
          <p:cNvSpPr txBox="1"/>
          <p:nvPr/>
        </p:nvSpPr>
        <p:spPr>
          <a:xfrm>
            <a:off x="1001139" y="1467657"/>
            <a:ext cx="4867005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Desarrollo web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Ciencia de datos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Inteligencia artificial y aprendizaje automático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Aplicaciones empresariales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Sector educativo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Aplicaciones de web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Desarrollo de juegos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Desarrollo de software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Interfaz gráfica de usuario (GUI) </a:t>
            </a:r>
            <a:endParaRPr lang="es-ES" i="0" dirty="0">
              <a:solidFill>
                <a:srgbClr val="768894"/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s-ES" i="0" dirty="0">
                <a:solidFill>
                  <a:srgbClr val="444444"/>
                </a:solidFill>
                <a:effectLst/>
              </a:rPr>
              <a:t>Sistemas operativos</a:t>
            </a:r>
          </a:p>
        </p:txBody>
      </p:sp>
    </p:spTree>
    <p:extLst>
      <p:ext uri="{BB962C8B-B14F-4D97-AF65-F5344CB8AC3E}">
        <p14:creationId xmlns:p14="http://schemas.microsoft.com/office/powerpoint/2010/main" val="364716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ED20AC-D995-48A6-8D8D-2D8544233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929607"/>
            <a:ext cx="7264065" cy="2924045"/>
          </a:xfrm>
          <a:prstGeom prst="rect">
            <a:avLst/>
          </a:prstGeom>
        </p:spPr>
      </p:pic>
      <p:sp>
        <p:nvSpPr>
          <p:cNvPr id="98306" name="Rectangle 2">
            <a:extLst>
              <a:ext uri="{FF2B5EF4-FFF2-40B4-BE49-F238E27FC236}">
                <a16:creationId xmlns:a16="http://schemas.microsoft.com/office/drawing/2014/main" id="{92BD4BB5-B183-40E9-984A-B5438D49E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2" y="188640"/>
            <a:ext cx="9371324" cy="855190"/>
          </a:xfrm>
          <a:noFill/>
          <a:ln/>
        </p:spPr>
        <p:txBody>
          <a:bodyPr lIns="92075" tIns="46038" rIns="92075" bIns="46038">
            <a:noAutofit/>
          </a:bodyPr>
          <a:lstStyle/>
          <a:p>
            <a:r>
              <a:rPr lang="es-ES_tradnl" alt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Lenguajes compilados e interpretados</a:t>
            </a:r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61641422-D59F-44A6-A648-059A3061F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2673" y="2204864"/>
            <a:ext cx="8325933" cy="1908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 algn="just">
              <a:lnSpc>
                <a:spcPct val="125000"/>
              </a:lnSpc>
            </a:pP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</a:rPr>
              <a:t>programa interpretado</a:t>
            </a:r>
            <a:r>
              <a:rPr lang="es-MX" altLang="es-MX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se traduce y ejecuta instrucción por instrucción. </a:t>
            </a: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</a:rPr>
              <a:t>Java, JavaScript, Python y Ruby</a:t>
            </a: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 son lenguajes interpretados. </a:t>
            </a:r>
            <a:endParaRPr lang="es-ES_tradnl" altLang="es-MX" sz="2000" dirty="0">
              <a:solidFill>
                <a:schemeClr val="bg2">
                  <a:lumMod val="25000"/>
                </a:schemeClr>
              </a:solidFill>
            </a:endParaRPr>
          </a:p>
          <a:p>
            <a:pPr algn="just">
              <a:lnSpc>
                <a:spcPct val="125000"/>
              </a:lnSpc>
            </a:pP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</a:rPr>
              <a:t>programa compilado</a:t>
            </a:r>
            <a:r>
              <a:rPr lang="es-MX" altLang="es-MX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se traduce completamente y posteriormente se ejecuta. </a:t>
            </a: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</a:rPr>
              <a:t>C, C++ y </a:t>
            </a:r>
            <a:r>
              <a:rPr lang="es-MX" altLang="es-MX" sz="2000" b="1" dirty="0" err="1">
                <a:solidFill>
                  <a:schemeClr val="accent5">
                    <a:lumMod val="75000"/>
                  </a:schemeClr>
                </a:solidFill>
              </a:rPr>
              <a:t>Go</a:t>
            </a: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MX" altLang="es-MX" sz="2000" dirty="0">
                <a:solidFill>
                  <a:schemeClr val="bg2">
                    <a:lumMod val="25000"/>
                  </a:schemeClr>
                </a:solidFill>
              </a:rPr>
              <a:t>son lenguajes compilados.</a:t>
            </a:r>
            <a:endParaRPr lang="es-ES_tradnl" altLang="es-MX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24B613-E7FF-4865-89B3-DFDCFB2DC8F7}"/>
              </a:ext>
            </a:extLst>
          </p:cNvPr>
          <p:cNvSpPr txBox="1">
            <a:spLocks noChangeArrowheads="1"/>
          </p:cNvSpPr>
          <p:nvPr/>
        </p:nvSpPr>
        <p:spPr>
          <a:xfrm>
            <a:off x="521451" y="1179216"/>
            <a:ext cx="8110537" cy="1007914"/>
          </a:xfrm>
          <a:prstGeom prst="rect">
            <a:avLst/>
          </a:prstGeom>
          <a:noFill/>
          <a:ln/>
        </p:spPr>
        <p:txBody>
          <a:bodyPr vert="horz" lIns="92075" tIns="46038" rIns="92075" bIns="4603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buFont typeface="Arial" pitchFamily="34" charset="0"/>
              <a:buNone/>
            </a:pPr>
            <a:r>
              <a:rPr lang="es-MX" sz="2000" dirty="0">
                <a:solidFill>
                  <a:schemeClr val="accent3">
                    <a:lumMod val="75000"/>
                  </a:schemeClr>
                </a:solidFill>
              </a:rPr>
              <a:t>Tanto </a:t>
            </a:r>
            <a:r>
              <a:rPr lang="es-MX" sz="2000" b="1" dirty="0">
                <a:solidFill>
                  <a:schemeClr val="accent3">
                    <a:lumMod val="75000"/>
                  </a:schemeClr>
                </a:solidFill>
              </a:rPr>
              <a:t>compiladores</a:t>
            </a:r>
            <a:r>
              <a:rPr lang="es-MX" sz="2000" dirty="0">
                <a:solidFill>
                  <a:schemeClr val="accent3">
                    <a:lumMod val="75000"/>
                  </a:schemeClr>
                </a:solidFill>
              </a:rPr>
              <a:t> como </a:t>
            </a:r>
            <a:r>
              <a:rPr lang="es-MX" sz="2000" b="1" dirty="0">
                <a:solidFill>
                  <a:schemeClr val="accent3">
                    <a:lumMod val="75000"/>
                  </a:schemeClr>
                </a:solidFill>
              </a:rPr>
              <a:t>interpretadores</a:t>
            </a:r>
            <a:r>
              <a:rPr lang="es-MX" sz="2000" dirty="0">
                <a:solidFill>
                  <a:schemeClr val="accent3">
                    <a:lumMod val="75000"/>
                  </a:schemeClr>
                </a:solidFill>
              </a:rPr>
              <a:t> son programas que convierten el código que escribes a </a:t>
            </a:r>
            <a:r>
              <a:rPr lang="es-MX" sz="2000" b="1" dirty="0">
                <a:solidFill>
                  <a:schemeClr val="accent3">
                    <a:lumMod val="75000"/>
                  </a:schemeClr>
                </a:solidFill>
              </a:rPr>
              <a:t>lenguaje de máquina</a:t>
            </a:r>
            <a:r>
              <a:rPr lang="es-MX" sz="2000" dirty="0">
                <a:solidFill>
                  <a:schemeClr val="accent3">
                    <a:lumMod val="75000"/>
                  </a:schemeClr>
                </a:solidFill>
              </a:rPr>
              <a:t>.</a:t>
            </a:r>
            <a:endParaRPr lang="es-ES_tradnl" altLang="es-MX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945670"/>
      </p:ext>
    </p:extLst>
  </p:cSld>
  <p:clrMapOvr>
    <a:masterClrMapping/>
  </p:clrMapOvr>
  <p:transition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8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8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8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build="p" autoUpdateAnimBg="0"/>
      <p:bldP spid="4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13" name="Rectangle 37">
            <a:extLst>
              <a:ext uri="{FF2B5EF4-FFF2-40B4-BE49-F238E27FC236}">
                <a16:creationId xmlns:a16="http://schemas.microsoft.com/office/drawing/2014/main" id="{610CBAC9-C4C5-44A2-B35E-0D4414A8A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805488"/>
            <a:ext cx="2590800" cy="10525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A847F3F4-B26C-4C5A-BD59-11D0661DC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Autofit/>
          </a:bodyPr>
          <a:lstStyle/>
          <a:p>
            <a:r>
              <a:rPr lang="es-ES_tradnl" altLang="es-MX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Programa interpretado vs. programa compilado</a:t>
            </a:r>
          </a:p>
        </p:txBody>
      </p:sp>
      <p:graphicFrame>
        <p:nvGraphicFramePr>
          <p:cNvPr id="101414" name="Group 38">
            <a:extLst>
              <a:ext uri="{FF2B5EF4-FFF2-40B4-BE49-F238E27FC236}">
                <a16:creationId xmlns:a16="http://schemas.microsoft.com/office/drawing/2014/main" id="{6902816D-75F4-4DDC-8754-CB4CC269BE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322296"/>
              </p:ext>
            </p:extLst>
          </p:nvPr>
        </p:nvGraphicFramePr>
        <p:xfrm>
          <a:off x="395288" y="1930400"/>
          <a:ext cx="8641208" cy="3875088"/>
        </p:xfrm>
        <a:graphic>
          <a:graphicData uri="http://schemas.openxmlformats.org/drawingml/2006/table">
            <a:tbl>
              <a:tblPr/>
              <a:tblGrid>
                <a:gridCol w="4320728">
                  <a:extLst>
                    <a:ext uri="{9D8B030D-6E8A-4147-A177-3AD203B41FA5}">
                      <a16:colId xmlns:a16="http://schemas.microsoft.com/office/drawing/2014/main" val="32397971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46453209"/>
                    </a:ext>
                  </a:extLst>
                </a:gridCol>
              </a:tblGrid>
              <a:tr h="5415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Un </a:t>
                      </a:r>
                      <a:r>
                        <a:rPr kumimoji="0" lang="es-MX" alt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programa interpretado</a:t>
                      </a:r>
                      <a:r>
                        <a:rPr kumimoji="0" lang="es-MX" alt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Un </a:t>
                      </a:r>
                      <a:r>
                        <a:rPr kumimoji="0" lang="es-MX" alt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programa compilado</a:t>
                      </a:r>
                      <a:r>
                        <a:rPr kumimoji="0" lang="es-MX" alt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524282"/>
                  </a:ext>
                </a:extLst>
              </a:tr>
              <a:tr h="12994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Traduce a lenguaje máquina </a:t>
                      </a:r>
                      <a:r>
                        <a:rPr kumimoji="0" lang="es-MX" alt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instrucción por instrucción </a:t>
                      </a: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y las va ejecutando (mientras traduce ejecuta)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Traduce a lenguaje máquina </a:t>
                      </a:r>
                      <a:r>
                        <a:rPr kumimoji="0" lang="es-MX" alt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todo el programa</a:t>
                      </a: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, pero no lo ejecuta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2163"/>
                  </a:ext>
                </a:extLst>
              </a:tr>
              <a:tr h="6932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No genera un archivo ejecutable (*.exe)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Genera un archivo ejecutable (*.exe)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11292"/>
                  </a:ext>
                </a:extLst>
              </a:tr>
              <a:tr h="13408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Si lo quieres volver a ejecutar necesitas que el intérprete lo vuelva a traducir y ejecutar instrucción por instrucción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lt"/>
                        </a:rPr>
                        <a:t>Si lo quieres ejecutar basta invocar al archivo ejecutable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MX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828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141463"/>
      </p:ext>
    </p:extLst>
  </p:cSld>
  <p:clrMapOvr>
    <a:masterClrMapping/>
  </p:clrMapOvr>
  <p:transition>
    <p:cover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524FE585-CA21-4414-B3E0-2B858BD8E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5761038"/>
            <a:ext cx="2590800" cy="10525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9BC1E2CF-9BB2-41D7-A6D2-D5998589CD49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4284663" y="0"/>
            <a:ext cx="4932362" cy="1484313"/>
          </a:xfrm>
          <a:noFill/>
          <a:ln/>
        </p:spPr>
        <p:txBody>
          <a:bodyPr lIns="92075" tIns="46038" rIns="92075" bIns="46038"/>
          <a:lstStyle/>
          <a:p>
            <a: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Programa </a:t>
            </a:r>
            <a:b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compilado</a:t>
            </a:r>
          </a:p>
        </p:txBody>
      </p:sp>
      <p:pic>
        <p:nvPicPr>
          <p:cNvPr id="109573" name="Picture 5" descr="floppydisk">
            <a:extLst>
              <a:ext uri="{FF2B5EF4-FFF2-40B4-BE49-F238E27FC236}">
                <a16:creationId xmlns:a16="http://schemas.microsoft.com/office/drawing/2014/main" id="{506651AA-038E-424A-A2F0-92C33AF43DA5}"/>
              </a:ext>
            </a:extLst>
          </p:cNvPr>
          <p:cNvPicPr>
            <a:picLocks noGrp="1" noChangeAspect="1" noChangeArrowheads="1" noCrop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4388" y="3860800"/>
            <a:ext cx="952500" cy="9525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9575" name="Picture 7" descr="document_on">
            <a:extLst>
              <a:ext uri="{FF2B5EF4-FFF2-40B4-BE49-F238E27FC236}">
                <a16:creationId xmlns:a16="http://schemas.microsoft.com/office/drawing/2014/main" id="{D7C5FD35-E383-4F76-ACB0-492F4145CE0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813" y="1412875"/>
            <a:ext cx="1368425" cy="1368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9576" name="Picture 8" descr="test">
            <a:extLst>
              <a:ext uri="{FF2B5EF4-FFF2-40B4-BE49-F238E27FC236}">
                <a16:creationId xmlns:a16="http://schemas.microsoft.com/office/drawing/2014/main" id="{BBA202EA-BA8A-458F-8D7D-1B7B6A1C4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724400"/>
            <a:ext cx="827088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7" name="Picture 9" descr="welcome">
            <a:extLst>
              <a:ext uri="{FF2B5EF4-FFF2-40B4-BE49-F238E27FC236}">
                <a16:creationId xmlns:a16="http://schemas.microsoft.com/office/drawing/2014/main" id="{58F32ECC-31AF-49B3-BC77-2D84D36E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437063"/>
            <a:ext cx="1179512" cy="122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8" name="Picture 10" descr="test4">
            <a:extLst>
              <a:ext uri="{FF2B5EF4-FFF2-40B4-BE49-F238E27FC236}">
                <a16:creationId xmlns:a16="http://schemas.microsoft.com/office/drawing/2014/main" id="{7C21CA3B-7888-41D1-96B5-DF249DFEC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492375"/>
            <a:ext cx="1439863" cy="112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9" name="Picture 11" descr="test6">
            <a:extLst>
              <a:ext uri="{FF2B5EF4-FFF2-40B4-BE49-F238E27FC236}">
                <a16:creationId xmlns:a16="http://schemas.microsoft.com/office/drawing/2014/main" id="{823C938F-5291-4201-A6A5-F70B38E65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068638"/>
            <a:ext cx="1223963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80" name="Text Box 12">
            <a:extLst>
              <a:ext uri="{FF2B5EF4-FFF2-40B4-BE49-F238E27FC236}">
                <a16:creationId xmlns:a16="http://schemas.microsoft.com/office/drawing/2014/main" id="{1D1FF5FF-FA65-499D-A268-804A2EBA7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73238"/>
            <a:ext cx="18351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 dirty="0">
                <a:latin typeface="Arial" panose="020B0604020202020204" pitchFamily="34" charset="0"/>
              </a:rPr>
              <a:t>Programa</a:t>
            </a:r>
            <a:r>
              <a:rPr lang="es-MX" altLang="es-MX" sz="1800" dirty="0">
                <a:latin typeface="Arial" panose="020B0604020202020204" pitchFamily="34" charset="0"/>
              </a:rPr>
              <a:t> (Código fuente)</a:t>
            </a:r>
          </a:p>
        </p:txBody>
      </p:sp>
      <p:sp>
        <p:nvSpPr>
          <p:cNvPr id="109581" name="Text Box 13">
            <a:extLst>
              <a:ext uri="{FF2B5EF4-FFF2-40B4-BE49-F238E27FC236}">
                <a16:creationId xmlns:a16="http://schemas.microsoft.com/office/drawing/2014/main" id="{93FF725B-31EF-4812-BC3F-17F322C21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429000"/>
            <a:ext cx="13319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Intérprete</a:t>
            </a:r>
            <a:endParaRPr lang="es-MX" altLang="es-MX" sz="1800">
              <a:latin typeface="Arial" panose="020B0604020202020204" pitchFamily="34" charset="0"/>
            </a:endParaRPr>
          </a:p>
        </p:txBody>
      </p:sp>
      <p:sp>
        <p:nvSpPr>
          <p:cNvPr id="109582" name="Line 14">
            <a:extLst>
              <a:ext uri="{FF2B5EF4-FFF2-40B4-BE49-F238E27FC236}">
                <a16:creationId xmlns:a16="http://schemas.microsoft.com/office/drawing/2014/main" id="{ED4D8248-7A91-42FF-923C-52E2BBAAA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2636838"/>
            <a:ext cx="0" cy="6461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583" name="Line 15">
            <a:extLst>
              <a:ext uri="{FF2B5EF4-FFF2-40B4-BE49-F238E27FC236}">
                <a16:creationId xmlns:a16="http://schemas.microsoft.com/office/drawing/2014/main" id="{89A6BDC4-9DE9-42E9-825B-A1EE5EADEB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3350" y="4005263"/>
            <a:ext cx="576263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584" name="Line 16">
            <a:extLst>
              <a:ext uri="{FF2B5EF4-FFF2-40B4-BE49-F238E27FC236}">
                <a16:creationId xmlns:a16="http://schemas.microsoft.com/office/drawing/2014/main" id="{2D2D096D-22FB-4F81-B644-7BBBC1D92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4005263"/>
            <a:ext cx="720725" cy="50323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585" name="Text Box 17">
            <a:extLst>
              <a:ext uri="{FF2B5EF4-FFF2-40B4-BE49-F238E27FC236}">
                <a16:creationId xmlns:a16="http://schemas.microsoft.com/office/drawing/2014/main" id="{34C6F9AE-C5B0-4E9A-B7FC-CA8A5A827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88000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Traduce     </a:t>
            </a:r>
            <a:r>
              <a:rPr lang="es-MX" altLang="es-MX" sz="1800">
                <a:latin typeface="Arial" panose="020B0604020202020204" pitchFamily="34" charset="0"/>
              </a:rPr>
              <a:t> y</a:t>
            </a:r>
          </a:p>
        </p:txBody>
      </p:sp>
      <p:sp>
        <p:nvSpPr>
          <p:cNvPr id="109586" name="Text Box 18">
            <a:extLst>
              <a:ext uri="{FF2B5EF4-FFF2-40B4-BE49-F238E27FC236}">
                <a16:creationId xmlns:a16="http://schemas.microsoft.com/office/drawing/2014/main" id="{195576B2-2B04-45EC-819E-057878DAB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5589588"/>
            <a:ext cx="13319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Ejecuta</a:t>
            </a:r>
            <a:endParaRPr lang="es-MX" altLang="es-MX" sz="1800">
              <a:latin typeface="Arial" panose="020B0604020202020204" pitchFamily="34" charset="0"/>
            </a:endParaRPr>
          </a:p>
        </p:txBody>
      </p:sp>
      <p:sp>
        <p:nvSpPr>
          <p:cNvPr id="109587" name="Text Box 19">
            <a:extLst>
              <a:ext uri="{FF2B5EF4-FFF2-40B4-BE49-F238E27FC236}">
                <a16:creationId xmlns:a16="http://schemas.microsoft.com/office/drawing/2014/main" id="{E919A082-6C2F-4AD8-BBA3-45898479B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49950"/>
            <a:ext cx="457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>
                <a:latin typeface="Arial" panose="020B0604020202020204" pitchFamily="34" charset="0"/>
              </a:rPr>
              <a:t>Instrucción por instrucción del programa</a:t>
            </a:r>
          </a:p>
        </p:txBody>
      </p:sp>
      <p:sp>
        <p:nvSpPr>
          <p:cNvPr id="109588" name="Rectangle 20">
            <a:extLst>
              <a:ext uri="{FF2B5EF4-FFF2-40B4-BE49-F238E27FC236}">
                <a16:creationId xmlns:a16="http://schemas.microsoft.com/office/drawing/2014/main" id="{E146F216-83E3-41D3-BC32-52DF8BA49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5083175"/>
            <a:ext cx="2590800" cy="10525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pic>
        <p:nvPicPr>
          <p:cNvPr id="109589" name="Picture 21" descr="document_on">
            <a:extLst>
              <a:ext uri="{FF2B5EF4-FFF2-40B4-BE49-F238E27FC236}">
                <a16:creationId xmlns:a16="http://schemas.microsoft.com/office/drawing/2014/main" id="{793B7E11-EF11-498B-BD32-767AEEA51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3" y="1196975"/>
            <a:ext cx="13684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91" name="Picture 23" descr="welcome">
            <a:extLst>
              <a:ext uri="{FF2B5EF4-FFF2-40B4-BE49-F238E27FC236}">
                <a16:creationId xmlns:a16="http://schemas.microsoft.com/office/drawing/2014/main" id="{827D9629-FAA2-4998-B224-77A3B569C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5634038"/>
            <a:ext cx="1179513" cy="122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93" name="Text Box 25">
            <a:extLst>
              <a:ext uri="{FF2B5EF4-FFF2-40B4-BE49-F238E27FC236}">
                <a16:creationId xmlns:a16="http://schemas.microsoft.com/office/drawing/2014/main" id="{2948A807-2E73-459E-A89A-5008F352E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484313"/>
            <a:ext cx="2051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 dirty="0">
                <a:latin typeface="Arial" panose="020B0604020202020204" pitchFamily="34" charset="0"/>
              </a:rPr>
              <a:t>Programa</a:t>
            </a:r>
            <a:r>
              <a:rPr lang="es-MX" altLang="es-MX" sz="1800" dirty="0">
                <a:latin typeface="Arial" panose="020B0604020202020204" pitchFamily="34" charset="0"/>
              </a:rPr>
              <a:t> (Código fuente)</a:t>
            </a:r>
          </a:p>
        </p:txBody>
      </p:sp>
      <p:sp>
        <p:nvSpPr>
          <p:cNvPr id="109594" name="Text Box 26">
            <a:extLst>
              <a:ext uri="{FF2B5EF4-FFF2-40B4-BE49-F238E27FC236}">
                <a16:creationId xmlns:a16="http://schemas.microsoft.com/office/drawing/2014/main" id="{BFC83DDB-F3F2-4A78-AAC8-C9366F519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2997200"/>
            <a:ext cx="1654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Compilador</a:t>
            </a:r>
            <a:endParaRPr lang="es-MX" altLang="es-MX" sz="1800">
              <a:latin typeface="Arial" panose="020B0604020202020204" pitchFamily="34" charset="0"/>
            </a:endParaRPr>
          </a:p>
        </p:txBody>
      </p:sp>
      <p:sp>
        <p:nvSpPr>
          <p:cNvPr id="109595" name="Line 27">
            <a:extLst>
              <a:ext uri="{FF2B5EF4-FFF2-40B4-BE49-F238E27FC236}">
                <a16:creationId xmlns:a16="http://schemas.microsoft.com/office/drawing/2014/main" id="{E5764FAC-DB28-4C3E-B736-273CC7130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075" y="2349500"/>
            <a:ext cx="0" cy="5746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597" name="Line 29">
            <a:extLst>
              <a:ext uri="{FF2B5EF4-FFF2-40B4-BE49-F238E27FC236}">
                <a16:creationId xmlns:a16="http://schemas.microsoft.com/office/drawing/2014/main" id="{68574463-F72D-4149-8DE5-0D8D7AE1C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0650" y="5373688"/>
            <a:ext cx="0" cy="431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598" name="Text Box 30">
            <a:extLst>
              <a:ext uri="{FF2B5EF4-FFF2-40B4-BE49-F238E27FC236}">
                <a16:creationId xmlns:a16="http://schemas.microsoft.com/office/drawing/2014/main" id="{B12245A0-20AA-4732-AD3D-EC0AAD504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652963"/>
            <a:ext cx="122396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Traduce </a:t>
            </a:r>
            <a:r>
              <a:rPr lang="es-MX" altLang="es-MX" sz="1800">
                <a:latin typeface="Arial" panose="020B0604020202020204" pitchFamily="34" charset="0"/>
              </a:rPr>
              <a:t>todo el programa</a:t>
            </a:r>
          </a:p>
        </p:txBody>
      </p:sp>
      <p:sp>
        <p:nvSpPr>
          <p:cNvPr id="109599" name="Text Box 31">
            <a:extLst>
              <a:ext uri="{FF2B5EF4-FFF2-40B4-BE49-F238E27FC236}">
                <a16:creationId xmlns:a16="http://schemas.microsoft.com/office/drawing/2014/main" id="{8BCE4C0C-CA21-47C3-9214-25E7FF3C7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5949950"/>
            <a:ext cx="1331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Ejecuta</a:t>
            </a:r>
            <a:endParaRPr lang="es-MX" altLang="es-MX" sz="1800">
              <a:latin typeface="Arial" panose="020B0604020202020204" pitchFamily="34" charset="0"/>
            </a:endParaRPr>
          </a:p>
        </p:txBody>
      </p:sp>
      <p:pic>
        <p:nvPicPr>
          <p:cNvPr id="109601" name="Picture 33" descr="test">
            <a:extLst>
              <a:ext uri="{FF2B5EF4-FFF2-40B4-BE49-F238E27FC236}">
                <a16:creationId xmlns:a16="http://schemas.microsoft.com/office/drawing/2014/main" id="{DD746C29-E81F-4387-97F1-F7C193E98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787775"/>
            <a:ext cx="827088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03" name="Text Box 35">
            <a:extLst>
              <a:ext uri="{FF2B5EF4-FFF2-40B4-BE49-F238E27FC236}">
                <a16:creationId xmlns:a16="http://schemas.microsoft.com/office/drawing/2014/main" id="{B6E92B09-87EF-410F-81E7-A426DCA1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00" y="4791075"/>
            <a:ext cx="6492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>
                <a:latin typeface="Arial" panose="020B0604020202020204" pitchFamily="34" charset="0"/>
              </a:rPr>
              <a:t>y</a:t>
            </a:r>
          </a:p>
        </p:txBody>
      </p:sp>
      <p:sp>
        <p:nvSpPr>
          <p:cNvPr id="109604" name="Text Box 36">
            <a:extLst>
              <a:ext uri="{FF2B5EF4-FFF2-40B4-BE49-F238E27FC236}">
                <a16:creationId xmlns:a16="http://schemas.microsoft.com/office/drawing/2014/main" id="{8801B12B-7A0F-45C3-B9DA-A19D686D3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4732338"/>
            <a:ext cx="2339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MX" sz="1800" b="1">
                <a:latin typeface="Arial" panose="020B0604020202020204" pitchFamily="34" charset="0"/>
              </a:rPr>
              <a:t>Genera archivo ejecutable (*.exe)</a:t>
            </a:r>
            <a:endParaRPr lang="es-MX" altLang="es-MX" sz="1800">
              <a:latin typeface="Arial" panose="020B0604020202020204" pitchFamily="34" charset="0"/>
            </a:endParaRPr>
          </a:p>
        </p:txBody>
      </p:sp>
      <p:sp>
        <p:nvSpPr>
          <p:cNvPr id="109605" name="Line 37">
            <a:extLst>
              <a:ext uri="{FF2B5EF4-FFF2-40B4-BE49-F238E27FC236}">
                <a16:creationId xmlns:a16="http://schemas.microsoft.com/office/drawing/2014/main" id="{1CBF91C6-A462-446F-AAC6-8BF478E7AD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3500438"/>
            <a:ext cx="576263" cy="5762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606" name="Line 38">
            <a:extLst>
              <a:ext uri="{FF2B5EF4-FFF2-40B4-BE49-F238E27FC236}">
                <a16:creationId xmlns:a16="http://schemas.microsoft.com/office/drawing/2014/main" id="{3BDEC567-C9B6-4F39-A142-57D49376F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3500438"/>
            <a:ext cx="720725" cy="50323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109607" name="Rectangle 39">
            <a:extLst>
              <a:ext uri="{FF2B5EF4-FFF2-40B4-BE49-F238E27FC236}">
                <a16:creationId xmlns:a16="http://schemas.microsoft.com/office/drawing/2014/main" id="{7ECD933B-46F5-4599-9D5B-276CE6B0D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313" y="188913"/>
            <a:ext cx="518477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Programa </a:t>
            </a:r>
            <a:b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s-ES_tradnl" altLang="es-MX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interpretado</a:t>
            </a:r>
          </a:p>
        </p:txBody>
      </p:sp>
    </p:spTree>
    <p:extLst>
      <p:ext uri="{BB962C8B-B14F-4D97-AF65-F5344CB8AC3E}">
        <p14:creationId xmlns:p14="http://schemas.microsoft.com/office/powerpoint/2010/main" val="4284285530"/>
      </p:ext>
    </p:extLst>
  </p:cSld>
  <p:clrMapOvr>
    <a:masterClrMapping/>
  </p:clrMapOvr>
  <p:transition>
    <p:cover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066"/>
          <p:cNvSpPr txBox="1">
            <a:spLocks noChangeArrowheads="1"/>
          </p:cNvSpPr>
          <p:nvPr/>
        </p:nvSpPr>
        <p:spPr bwMode="auto">
          <a:xfrm>
            <a:off x="981075" y="1700808"/>
            <a:ext cx="7181850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Usa 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</a:rPr>
              <a:t>Thonny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 y escribe un programa en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Python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 que despliegue los siguientes mensajes: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1560" y="176387"/>
            <a:ext cx="725480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48F9A5-B6F0-4C98-A06F-E18C20A9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18" y="2954580"/>
            <a:ext cx="7535540" cy="17281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Imagen 15" descr="Imagen que contiene transporte, rueda&#10;&#10;Descripción generada automáticamente">
            <a:extLst>
              <a:ext uri="{FF2B5EF4-FFF2-40B4-BE49-F238E27FC236}">
                <a16:creationId xmlns:a16="http://schemas.microsoft.com/office/drawing/2014/main" id="{14B008E3-3B0D-4A93-8F78-AD57012B6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437112"/>
            <a:ext cx="2359495" cy="187220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75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55705" y="45135"/>
            <a:ext cx="7254806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0A2417-2208-4F11-A655-BE60FAD33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83" y="1988840"/>
            <a:ext cx="8158125" cy="389587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2303F7-A6D4-4681-A65F-9556A9AE87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563" y="5457189"/>
            <a:ext cx="855044" cy="855044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  <a:softEdge rad="25400"/>
          </a:effectLst>
        </p:spPr>
      </p:pic>
      <p:pic>
        <p:nvPicPr>
          <p:cNvPr id="7" name="1 Imagen">
            <a:extLst>
              <a:ext uri="{FF2B5EF4-FFF2-40B4-BE49-F238E27FC236}">
                <a16:creationId xmlns:a16="http://schemas.microsoft.com/office/drawing/2014/main" id="{11B4B610-15F4-4D9E-A4D8-69EC6B7080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15" y="77792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53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 txBox="1">
            <a:spLocks noChangeArrowheads="1"/>
          </p:cNvSpPr>
          <p:nvPr/>
        </p:nvSpPr>
        <p:spPr>
          <a:xfrm>
            <a:off x="395536" y="701823"/>
            <a:ext cx="8014344" cy="1143001"/>
          </a:xfrm>
          <a:prstGeom prst="rect">
            <a:avLst/>
          </a:prstGeom>
        </p:spPr>
        <p:txBody>
          <a:bodyPr lIns="92075" tIns="46038" rIns="92075" bIns="46038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Secuencias de escape</a:t>
            </a:r>
          </a:p>
        </p:txBody>
      </p:sp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1475656" y="2276872"/>
          <a:ext cx="6096000" cy="23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Secuencia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Nombre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\n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Salto</a:t>
                      </a:r>
                      <a:r>
                        <a:rPr lang="es-MX" sz="2400" baseline="0" dirty="0"/>
                        <a:t>  de línea</a:t>
                      </a:r>
                      <a:endParaRPr lang="es-MX" sz="24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\t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Tabulación horizontal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60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 txBox="1"/>
          <p:nvPr/>
        </p:nvSpPr>
        <p:spPr>
          <a:xfrm>
            <a:off x="1907704" y="548680"/>
            <a:ext cx="5599642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Comentarios en Python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B0A9327-5906-44BC-AD58-2C6D76954B77}"/>
              </a:ext>
            </a:extLst>
          </p:cNvPr>
          <p:cNvSpPr txBox="1"/>
          <p:nvPr/>
        </p:nvSpPr>
        <p:spPr>
          <a:xfrm>
            <a:off x="1475656" y="1585237"/>
            <a:ext cx="7076980" cy="33855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# Este es un comentario en Python de una sola línea</a:t>
            </a:r>
          </a:p>
          <a:p>
            <a:pPr algn="just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</a:p>
          <a:p>
            <a:pPr algn="just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# Este es otro comentario en Python</a:t>
            </a:r>
          </a:p>
          <a:p>
            <a:pPr algn="just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# aunque lo hemos escrito en dos líneas</a:t>
            </a:r>
          </a:p>
          <a:p>
            <a:pPr algn="just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</a:p>
          <a:p>
            <a:pPr algn="just"/>
            <a:r>
              <a:rPr lang="es-MX" sz="2400" b="1" dirty="0">
                <a:solidFill>
                  <a:schemeClr val="accent5">
                    <a:lumMod val="75000"/>
                  </a:schemeClr>
                </a:solidFill>
              </a:rPr>
              <a:t>""" Este es un comentario multilínea. La</a:t>
            </a:r>
          </a:p>
          <a:p>
            <a:pPr algn="just"/>
            <a:r>
              <a:rPr lang="es-MX" sz="2400" b="1" dirty="0">
                <a:solidFill>
                  <a:schemeClr val="accent5">
                    <a:lumMod val="75000"/>
                  </a:schemeClr>
                </a:solidFill>
              </a:rPr>
              <a:t>siguiente parte realiza una serie</a:t>
            </a:r>
          </a:p>
          <a:p>
            <a:pPr algn="just"/>
            <a:r>
              <a:rPr lang="es-MX" sz="2400" b="1" dirty="0">
                <a:solidFill>
                  <a:schemeClr val="accent5">
                    <a:lumMod val="75000"/>
                  </a:schemeClr>
                </a:solidFill>
              </a:rPr>
              <a:t>de cosas muy interesantes """</a:t>
            </a:r>
          </a:p>
          <a:p>
            <a:endParaRPr lang="es-MX" sz="10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D4842E8A-D733-4630-9333-CA93F304E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813" y="4581128"/>
            <a:ext cx="3410886" cy="18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37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20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807</Words>
  <Application>Microsoft Office PowerPoint</Application>
  <PresentationFormat>Presentación en pantalla (4:3)</PresentationFormat>
  <Paragraphs>121</Paragraphs>
  <Slides>20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Dom Casual</vt:lpstr>
      <vt:lpstr>Times New Roman</vt:lpstr>
      <vt:lpstr>Tema de Office</vt:lpstr>
      <vt:lpstr>TC 1037  Pensamiento algorítmico</vt:lpstr>
      <vt:lpstr>Algoritmos</vt:lpstr>
      <vt:lpstr>Algoritmos</vt:lpstr>
      <vt:lpstr>Presentación de PowerPoint</vt:lpstr>
      <vt:lpstr>Presentación de PowerPoint</vt:lpstr>
      <vt:lpstr>Algoritmos</vt:lpstr>
      <vt:lpstr>Algoritmos</vt:lpstr>
      <vt:lpstr>Algoritmos</vt:lpstr>
      <vt:lpstr> ¿Qué es un programa?</vt:lpstr>
      <vt:lpstr> ¿Qué se requiere para escribir un programa?</vt:lpstr>
      <vt:lpstr>Presentación de PowerPoint</vt:lpstr>
      <vt:lpstr>Presentación de PowerPoint</vt:lpstr>
      <vt:lpstr>Lenguajes compilados e interpretados</vt:lpstr>
      <vt:lpstr>Programa interpretado vs. programa compilado</vt:lpstr>
      <vt:lpstr>Programa  compilado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1028 Pensamiento computacional para ingeniería</dc:title>
  <dc:creator>Lizethe Pérez Fuertes</dc:creator>
  <cp:lastModifiedBy>Lizethe Pérez Fuertes</cp:lastModifiedBy>
  <cp:revision>4</cp:revision>
  <dcterms:created xsi:type="dcterms:W3CDTF">2021-02-08T22:03:18Z</dcterms:created>
  <dcterms:modified xsi:type="dcterms:W3CDTF">2026-08-07T00:42:29Z</dcterms:modified>
</cp:coreProperties>
</file>