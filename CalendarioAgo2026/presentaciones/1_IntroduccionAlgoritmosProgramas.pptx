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316" r:id="rId2"/>
    <p:sldId id="259" r:id="rId3"/>
    <p:sldId id="260" r:id="rId4"/>
    <p:sldId id="287" r:id="rId5"/>
    <p:sldId id="264" r:id="rId6"/>
    <p:sldId id="290" r:id="rId7"/>
    <p:sldId id="291" r:id="rId8"/>
    <p:sldId id="292" r:id="rId9"/>
    <p:sldId id="293" r:id="rId10"/>
    <p:sldId id="294" r:id="rId11"/>
    <p:sldId id="288" r:id="rId12"/>
    <p:sldId id="318" r:id="rId13"/>
    <p:sldId id="312" r:id="rId14"/>
    <p:sldId id="313" r:id="rId15"/>
    <p:sldId id="314" r:id="rId16"/>
    <p:sldId id="273" r:id="rId17"/>
    <p:sldId id="274" r:id="rId18"/>
    <p:sldId id="277" r:id="rId19"/>
    <p:sldId id="315" r:id="rId20"/>
    <p:sldId id="282" r:id="rId21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52" autoAdjust="0"/>
    <p:restoredTop sz="78848" autoAdjust="0"/>
  </p:normalViewPr>
  <p:slideViewPr>
    <p:cSldViewPr>
      <p:cViewPr varScale="1">
        <p:scale>
          <a:sx n="57" d="100"/>
          <a:sy n="57" d="100"/>
        </p:scale>
        <p:origin x="760" y="44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zethe Pérez Fuertes" userId="4ae9ef87-2a7d-42f8-8dfa-0a501a9e2ff4" providerId="ADAL" clId="{FDDD45CB-1330-4033-A842-3D2746AFF7C7}"/>
    <pc:docChg chg="custSel modSld">
      <pc:chgData name="Lizethe Pérez Fuertes" userId="4ae9ef87-2a7d-42f8-8dfa-0a501a9e2ff4" providerId="ADAL" clId="{FDDD45CB-1330-4033-A842-3D2746AFF7C7}" dt="2026-09-21T20:15:29.997" v="26" actId="166"/>
      <pc:docMkLst>
        <pc:docMk/>
      </pc:docMkLst>
      <pc:sldChg chg="addSp delSp modSp mod">
        <pc:chgData name="Lizethe Pérez Fuertes" userId="4ae9ef87-2a7d-42f8-8dfa-0a501a9e2ff4" providerId="ADAL" clId="{FDDD45CB-1330-4033-A842-3D2746AFF7C7}" dt="2026-09-21T20:15:29.997" v="26" actId="166"/>
        <pc:sldMkLst>
          <pc:docMk/>
          <pc:sldMk cId="1824253018" sldId="274"/>
        </pc:sldMkLst>
        <pc:picChg chg="add mod">
          <ac:chgData name="Lizethe Pérez Fuertes" userId="4ae9ef87-2a7d-42f8-8dfa-0a501a9e2ff4" providerId="ADAL" clId="{FDDD45CB-1330-4033-A842-3D2746AFF7C7}" dt="2026-09-21T20:15:25.162" v="24" actId="14861"/>
          <ac:picMkLst>
            <pc:docMk/>
            <pc:sldMk cId="1824253018" sldId="274"/>
            <ac:picMk id="3" creationId="{9C72AF72-B4A1-DD10-75F7-0D249D836D20}"/>
          </ac:picMkLst>
        </pc:picChg>
        <pc:picChg chg="del">
          <ac:chgData name="Lizethe Pérez Fuertes" userId="4ae9ef87-2a7d-42f8-8dfa-0a501a9e2ff4" providerId="ADAL" clId="{FDDD45CB-1330-4033-A842-3D2746AFF7C7}" dt="2026-09-21T20:15:08.599" v="20" actId="478"/>
          <ac:picMkLst>
            <pc:docMk/>
            <pc:sldMk cId="1824253018" sldId="274"/>
            <ac:picMk id="5" creationId="{BA0A2417-2208-4F11-A655-BE60FAD33D98}"/>
          </ac:picMkLst>
        </pc:picChg>
        <pc:picChg chg="mod ord">
          <ac:chgData name="Lizethe Pérez Fuertes" userId="4ae9ef87-2a7d-42f8-8dfa-0a501a9e2ff4" providerId="ADAL" clId="{FDDD45CB-1330-4033-A842-3D2746AFF7C7}" dt="2026-09-21T20:15:29.997" v="26" actId="166"/>
          <ac:picMkLst>
            <pc:docMk/>
            <pc:sldMk cId="1824253018" sldId="274"/>
            <ac:picMk id="9" creationId="{E22303F7-A6D4-4681-A65F-9556A9AE871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445F07-8756-451B-A938-0248325FC7BB}" type="datetimeFigureOut">
              <a:rPr lang="es-MX" smtClean="0"/>
              <a:t>21/09/2026</a:t>
            </a:fld>
            <a:endParaRPr lang="es-MX" dirty="0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 dirty="0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93AEC0-242E-4FA7-9D3C-51E1036AC3CB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817066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3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8250588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5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272281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03313" y="676275"/>
            <a:ext cx="4602162" cy="3452813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97774" y="4353839"/>
            <a:ext cx="5012575" cy="412864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06998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347943-BED9-4F50-9608-342FFFFC6AEF}" type="slidenum">
              <a:rPr lang="es-MX" smtClean="0"/>
              <a:t>11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631067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347943-BED9-4F50-9608-342FFFFC6AEF}" type="slidenum">
              <a:rPr lang="es-MX" smtClean="0"/>
              <a:t>12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73285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>
            <a:extLst>
              <a:ext uri="{FF2B5EF4-FFF2-40B4-BE49-F238E27FC236}">
                <a16:creationId xmlns:a16="http://schemas.microsoft.com/office/drawing/2014/main" id="{51170281-9BD5-461B-BF58-68BBE78D200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30300" y="685800"/>
            <a:ext cx="4673600" cy="35052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99331" name="Rectangle 3">
            <a:extLst>
              <a:ext uri="{FF2B5EF4-FFF2-40B4-BE49-F238E27FC236}">
                <a16:creationId xmlns:a16="http://schemas.microsoft.com/office/drawing/2014/main" id="{85A9D5DB-9049-4B8C-B7F9-84B65873CC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419600"/>
            <a:ext cx="5105400" cy="41910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127605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>
            <a:extLst>
              <a:ext uri="{FF2B5EF4-FFF2-40B4-BE49-F238E27FC236}">
                <a16:creationId xmlns:a16="http://schemas.microsoft.com/office/drawing/2014/main" id="{D2017E7E-5EA0-4674-BE48-AD485166CF0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30300" y="685800"/>
            <a:ext cx="4673600" cy="35052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02403" name="Rectangle 3">
            <a:extLst>
              <a:ext uri="{FF2B5EF4-FFF2-40B4-BE49-F238E27FC236}">
                <a16:creationId xmlns:a16="http://schemas.microsoft.com/office/drawing/2014/main" id="{8C08A72F-A4A4-4003-A7DD-95FC39CD909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419600"/>
            <a:ext cx="5105400" cy="41910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711414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2">
            <a:extLst>
              <a:ext uri="{FF2B5EF4-FFF2-40B4-BE49-F238E27FC236}">
                <a16:creationId xmlns:a16="http://schemas.microsoft.com/office/drawing/2014/main" id="{ED862A34-5FEB-4970-8BCB-A0096141BFC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30300" y="685800"/>
            <a:ext cx="4673600" cy="35052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10595" name="Rectangle 3">
            <a:extLst>
              <a:ext uri="{FF2B5EF4-FFF2-40B4-BE49-F238E27FC236}">
                <a16:creationId xmlns:a16="http://schemas.microsoft.com/office/drawing/2014/main" id="{537CF87A-06AD-4A72-806C-E48BDE87C14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419600"/>
            <a:ext cx="5105400" cy="41910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1857584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17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007418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347943-BED9-4F50-9608-342FFFFC6AEF}" type="slidenum">
              <a:rPr lang="es-MX" smtClean="0"/>
              <a:t>19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359372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21/09/2026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231367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21/09/2026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3379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21/09/2026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312786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21/09/2026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760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21/09/2026</a:t>
            </a:fld>
            <a:endParaRPr lang="es-MX" dirty="0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579156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21/09/2026</a:t>
            </a:fld>
            <a:endParaRPr lang="es-MX" dirty="0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1797410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21/09/2026</a:t>
            </a:fld>
            <a:endParaRPr lang="es-MX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925150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21/09/2026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244704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21/09/2026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95927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21/09/2026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332895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21/09/2026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8788415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/>
          <a:p>
            <a:pPr marL="25400"/>
            <a:fld id="{81D60167-4931-47E6-BA6A-407CBD079E47}" type="slidenum">
              <a:rPr lang="es-MX" spc="-10" smtClean="0">
                <a:solidFill>
                  <a:srgbClr val="18BAD4"/>
                </a:solidFill>
                <a:cs typeface="Calibri"/>
              </a:rPr>
              <a:pPr marL="25400"/>
              <a:t>‹Nº›</a:t>
            </a:fld>
            <a:endParaRPr lang="es-MX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446966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ítulo, text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BFC015-572F-46F3-9D9B-EEDD4A80D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C13B2A-F741-45CB-9E4B-14C40E37AD80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E4D65C3-9777-4E37-8DC4-6DDD95C809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8426065-19D0-47BB-9FA7-B3D28B871F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BB5C921-7D37-4576-A452-5DB2C5C9A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933E4FC-893D-4D8A-9AF4-A20CE993A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C941E34F-CA94-4113-8043-52D611D98626}" type="slidenum">
              <a:rPr lang="en-US" altLang="es-MX"/>
              <a:pPr/>
              <a:t>‹Nº›</a:t>
            </a:fld>
            <a:endParaRPr lang="en-US" altLang="es-MX"/>
          </a:p>
        </p:txBody>
      </p:sp>
    </p:spTree>
    <p:extLst>
      <p:ext uri="{BB962C8B-B14F-4D97-AF65-F5344CB8AC3E}">
        <p14:creationId xmlns:p14="http://schemas.microsoft.com/office/powerpoint/2010/main" val="25745868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ítulo y 4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D0BC62-06C3-48F7-957C-03C76B9B39E0}"/>
              </a:ext>
            </a:extLst>
          </p:cNvPr>
          <p:cNvSpPr>
            <a:spLocks noGrp="1"/>
          </p:cNvSpPr>
          <p:nvPr>
            <p:ph type="title" sz="quarter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7F74293-F290-4011-935E-C92865C90E7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4038600" cy="21859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78D09FE-733D-4991-AE22-1DDB9D02742A}"/>
              </a:ext>
            </a:extLst>
          </p:cNvPr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D1FB1686-507A-4941-9E03-AFB736B3799D}"/>
              </a:ext>
            </a:extLst>
          </p:cNvPr>
          <p:cNvSpPr>
            <a:spLocks noGrp="1"/>
          </p:cNvSpPr>
          <p:nvPr>
            <p:ph sz="quarter" idx="3"/>
          </p:nvPr>
        </p:nvSpPr>
        <p:spPr>
          <a:xfrm>
            <a:off x="457200" y="3938588"/>
            <a:ext cx="4038600" cy="218757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39D7A17-A510-466A-A0DF-EAF1BA820A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8200" y="3938588"/>
            <a:ext cx="4038600" cy="218757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AE2D266-F21E-4585-9D75-D9242AA746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21FB41F-9412-49D7-9F62-47869E818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0C07216-467E-4C7E-98E1-E676BB997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0E607A35-27CB-40C7-A261-E42DA0A0B45F}" type="slidenum">
              <a:rPr lang="en-US" altLang="es-MX"/>
              <a:pPr/>
              <a:t>‹Nº›</a:t>
            </a:fld>
            <a:endParaRPr lang="en-US" altLang="es-MX"/>
          </a:p>
        </p:txBody>
      </p:sp>
    </p:spTree>
    <p:extLst>
      <p:ext uri="{BB962C8B-B14F-4D97-AF65-F5344CB8AC3E}">
        <p14:creationId xmlns:p14="http://schemas.microsoft.com/office/powerpoint/2010/main" val="3629917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75A0DC-66C6-4CEC-A5EB-F8C97CEC3796}" type="datetimeFigureOut">
              <a:rPr lang="es-MX" smtClean="0"/>
              <a:t>21/09/2026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0176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8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0.gif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jp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45840" y="620688"/>
            <a:ext cx="7342584" cy="1470025"/>
          </a:xfrm>
        </p:spPr>
        <p:txBody>
          <a:bodyPr rtlCol="0">
            <a:normAutofit/>
          </a:bodyPr>
          <a:lstStyle/>
          <a:p>
            <a:pPr algn="l" eaLnBrk="1" fontAlgn="auto" hangingPunct="1">
              <a:spcAft>
                <a:spcPts val="0"/>
              </a:spcAft>
              <a:defRPr/>
            </a:pPr>
            <a:r>
              <a:rPr lang="es-MX" sz="3200" dirty="0">
                <a:solidFill>
                  <a:schemeClr val="bg2">
                    <a:lumMod val="50000"/>
                  </a:schemeClr>
                </a:solidFill>
              </a:rPr>
              <a:t>TC 1037 </a:t>
            </a:r>
            <a:br>
              <a:rPr lang="es-MX" sz="3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s-MX" sz="3200" dirty="0">
                <a:solidFill>
                  <a:schemeClr val="bg2">
                    <a:lumMod val="50000"/>
                  </a:schemeClr>
                </a:solidFill>
              </a:rPr>
              <a:t>Pensamiento algorítmico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5334" y="2348880"/>
            <a:ext cx="7342584" cy="1368152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MX" b="1" dirty="0">
                <a:solidFill>
                  <a:schemeClr val="accent4">
                    <a:lumMod val="50000"/>
                  </a:schemeClr>
                </a:solidFill>
              </a:rPr>
              <a:t>Introducción algoritmos y programas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MX" sz="2000" dirty="0">
                <a:solidFill>
                  <a:schemeClr val="accent4">
                    <a:lumMod val="50000"/>
                  </a:schemeClr>
                </a:solidFill>
              </a:rPr>
              <a:t>Tecnológico de Monterrey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3808" y="3320769"/>
            <a:ext cx="3960700" cy="2739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33797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332656"/>
            <a:ext cx="8229600" cy="1143000"/>
          </a:xfrm>
        </p:spPr>
        <p:txBody>
          <a:bodyPr/>
          <a:lstStyle/>
          <a:p>
            <a:pPr eaLnBrk="1" hangingPunct="1">
              <a:defRPr/>
            </a:pPr>
            <a:r>
              <a:rPr lang="es-MX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Algoritmos</a:t>
            </a:r>
            <a:endParaRPr lang="es-ES" b="1" dirty="0">
              <a:solidFill>
                <a:schemeClr val="accent4">
                  <a:lumMod val="50000"/>
                </a:schemeClr>
              </a:solidFill>
              <a:effectLst>
                <a:outerShdw blurRad="38100" dist="38100" dir="2700000" algn="tl">
                  <a:srgbClr val="C0C0C0"/>
                </a:outerShdw>
              </a:effectLst>
              <a:latin typeface="Dom Casual" charset="0"/>
            </a:endParaRPr>
          </a:p>
        </p:txBody>
      </p:sp>
      <p:sp>
        <p:nvSpPr>
          <p:cNvPr id="952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54494" y="2827814"/>
            <a:ext cx="4285127" cy="2519982"/>
          </a:xfrm>
        </p:spPr>
        <p:txBody>
          <a:bodyPr/>
          <a:lstStyle/>
          <a:p>
            <a:pPr algn="just">
              <a:lnSpc>
                <a:spcPct val="125000"/>
              </a:lnSpc>
              <a:spcBef>
                <a:spcPts val="600"/>
              </a:spcBef>
              <a:defRPr/>
            </a:pP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Un </a:t>
            </a:r>
            <a:r>
              <a:rPr lang="es-ES" sz="24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algoritmo</a:t>
            </a: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 consiste en una secuencia de instrucciones,</a:t>
            </a:r>
            <a:r>
              <a:rPr lang="es-MX" sz="24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las cuales, realizadas</a:t>
            </a:r>
            <a:r>
              <a:rPr lang="es-MX" sz="24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adecuadamente, dan lugar al resultado deseado.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661061DA-D619-4A78-9C1B-7D436D3E1AA6}"/>
              </a:ext>
            </a:extLst>
          </p:cNvPr>
          <p:cNvSpPr txBox="1">
            <a:spLocks noChangeArrowheads="1"/>
          </p:cNvSpPr>
          <p:nvPr/>
        </p:nvSpPr>
        <p:spPr>
          <a:xfrm>
            <a:off x="1054495" y="1772816"/>
            <a:ext cx="7475478" cy="10549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25000"/>
              </a:lnSpc>
              <a:spcBef>
                <a:spcPct val="0"/>
              </a:spcBef>
              <a:defRPr/>
            </a:pP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Un </a:t>
            </a:r>
            <a:r>
              <a:rPr lang="es-ES" sz="24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algoritmo</a:t>
            </a: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 describe el método mediante el cual</a:t>
            </a:r>
            <a:r>
              <a:rPr lang="es-MX" sz="24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se realiza una tarea.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3DC27B6-1EA0-4AE6-90DA-704E333426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160" y="2561487"/>
            <a:ext cx="2458616" cy="2937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187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80" name="Rectangle 1032"/>
          <p:cNvSpPr>
            <a:spLocks noGrp="1" noChangeArrowheads="1"/>
          </p:cNvSpPr>
          <p:nvPr>
            <p:ph type="title"/>
          </p:nvPr>
        </p:nvSpPr>
        <p:spPr>
          <a:xfrm>
            <a:off x="457200" y="116632"/>
            <a:ext cx="8229600" cy="1143000"/>
          </a:xfrm>
        </p:spPr>
        <p:txBody>
          <a:bodyPr/>
          <a:lstStyle/>
          <a:p>
            <a:pPr eaLnBrk="1" hangingPunct="1">
              <a:defRPr/>
            </a:pPr>
            <a:r>
              <a:rPr lang="es-MX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Algoritmos</a:t>
            </a:r>
            <a:endParaRPr lang="es-ES" b="1" dirty="0">
              <a:solidFill>
                <a:schemeClr val="accent4">
                  <a:lumMod val="50000"/>
                </a:schemeClr>
              </a:solidFill>
              <a:effectLst>
                <a:outerShdw blurRad="38100" dist="38100" dir="2700000" algn="tl">
                  <a:srgbClr val="C0C0C0"/>
                </a:outerShdw>
              </a:effectLst>
              <a:latin typeface="Dom Casual" charset="0"/>
            </a:endParaRPr>
          </a:p>
        </p:txBody>
      </p:sp>
      <p:sp>
        <p:nvSpPr>
          <p:cNvPr id="54281" name="Rectangle 1033"/>
          <p:cNvSpPr>
            <a:spLocks noGrp="1" noChangeArrowheads="1"/>
          </p:cNvSpPr>
          <p:nvPr>
            <p:ph type="body" idx="1"/>
          </p:nvPr>
        </p:nvSpPr>
        <p:spPr>
          <a:xfrm>
            <a:off x="758874" y="1604909"/>
            <a:ext cx="5469310" cy="1958009"/>
          </a:xfrm>
        </p:spPr>
        <p:txBody>
          <a:bodyPr>
            <a:noAutofit/>
          </a:bodyPr>
          <a:lstStyle/>
          <a:p>
            <a:pPr marL="609600" indent="-609600" eaLnBrk="1" hangingPunct="1">
              <a:lnSpc>
                <a:spcPct val="90000"/>
              </a:lnSpc>
              <a:buFontTx/>
              <a:buNone/>
              <a:defRPr/>
            </a:pPr>
            <a:r>
              <a:rPr lang="es-MX" sz="2400" b="1" dirty="0">
                <a:solidFill>
                  <a:schemeClr val="accent3">
                    <a:lumMod val="75000"/>
                  </a:schemeClr>
                </a:solidFill>
              </a:rPr>
              <a:t>Características fundamentales</a:t>
            </a:r>
            <a:r>
              <a:rPr lang="es-MX" sz="2400" dirty="0">
                <a:solidFill>
                  <a:schemeClr val="accent3">
                    <a:lumMod val="75000"/>
                  </a:schemeClr>
                </a:solidFill>
              </a:rPr>
              <a:t>:</a:t>
            </a:r>
          </a:p>
          <a:p>
            <a:pPr marL="609600" indent="-609600" eaLnBrk="1" hangingPunct="1">
              <a:lnSpc>
                <a:spcPct val="90000"/>
              </a:lnSpc>
              <a:buFontTx/>
              <a:buNone/>
              <a:defRPr/>
            </a:pPr>
            <a:endParaRPr lang="es-MX" sz="1600" dirty="0">
              <a:solidFill>
                <a:srgbClr val="0070C0"/>
              </a:solidFill>
            </a:endParaRPr>
          </a:p>
          <a:p>
            <a:pPr marL="361950" indent="-361950" algn="just" eaLnBrk="1" hangingPunct="1">
              <a:lnSpc>
                <a:spcPts val="3500"/>
              </a:lnSpc>
              <a:spcBef>
                <a:spcPts val="600"/>
              </a:spcBef>
              <a:buFontTx/>
              <a:buAutoNum type="arabicPeriod"/>
              <a:defRPr/>
            </a:pPr>
            <a:r>
              <a:rPr lang="es-MX" sz="2400" dirty="0">
                <a:solidFill>
                  <a:schemeClr val="bg2">
                    <a:lumMod val="25000"/>
                  </a:schemeClr>
                </a:solidFill>
              </a:rPr>
              <a:t>Un algoritmo debe ser preciso e </a:t>
            </a:r>
            <a:r>
              <a:rPr lang="es-MX" sz="2400" b="1" dirty="0">
                <a:solidFill>
                  <a:schemeClr val="accent6">
                    <a:lumMod val="75000"/>
                  </a:schemeClr>
                </a:solidFill>
              </a:rPr>
              <a:t>indicar el orden </a:t>
            </a:r>
            <a:r>
              <a:rPr lang="es-MX" sz="2400" dirty="0">
                <a:solidFill>
                  <a:schemeClr val="bg2">
                    <a:lumMod val="25000"/>
                  </a:schemeClr>
                </a:solidFill>
              </a:rPr>
              <a:t>de realización de cada paso.</a:t>
            </a:r>
            <a:endParaRPr lang="es-ES" sz="2400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B9CEE9B-3033-4541-A80E-F5385A14F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8574" y="332656"/>
            <a:ext cx="1868910" cy="2530378"/>
          </a:xfrm>
          <a:prstGeom prst="rect">
            <a:avLst/>
          </a:prstGeom>
        </p:spPr>
      </p:pic>
      <p:sp>
        <p:nvSpPr>
          <p:cNvPr id="6" name="Rectangle 1033">
            <a:extLst>
              <a:ext uri="{FF2B5EF4-FFF2-40B4-BE49-F238E27FC236}">
                <a16:creationId xmlns:a16="http://schemas.microsoft.com/office/drawing/2014/main" id="{B91EA874-1DF9-4179-8B68-7231B28C7262}"/>
              </a:ext>
            </a:extLst>
          </p:cNvPr>
          <p:cNvSpPr txBox="1">
            <a:spLocks noChangeArrowheads="1"/>
          </p:cNvSpPr>
          <p:nvPr/>
        </p:nvSpPr>
        <p:spPr>
          <a:xfrm>
            <a:off x="757225" y="3274886"/>
            <a:ext cx="7627901" cy="253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1950" indent="-361950" algn="just">
              <a:lnSpc>
                <a:spcPts val="3500"/>
              </a:lnSpc>
              <a:spcBef>
                <a:spcPts val="600"/>
              </a:spcBef>
              <a:buFont typeface="+mj-lt"/>
              <a:buAutoNum type="arabicPeriod" startAt="3"/>
              <a:defRPr/>
            </a:pPr>
            <a:r>
              <a:rPr lang="es-MX" sz="2400" dirty="0">
                <a:solidFill>
                  <a:schemeClr val="bg2">
                    <a:lumMod val="25000"/>
                  </a:schemeClr>
                </a:solidFill>
              </a:rPr>
              <a:t>Un algoritmo debe ser </a:t>
            </a:r>
            <a:r>
              <a:rPr lang="es-MX" sz="2400" b="1" dirty="0">
                <a:solidFill>
                  <a:schemeClr val="accent6">
                    <a:lumMod val="75000"/>
                  </a:schemeClr>
                </a:solidFill>
              </a:rPr>
              <a:t>definido</a:t>
            </a:r>
            <a:r>
              <a:rPr lang="es-MX" sz="2400" dirty="0">
                <a:solidFill>
                  <a:schemeClr val="bg2">
                    <a:lumMod val="25000"/>
                  </a:schemeClr>
                </a:solidFill>
              </a:rPr>
              <a:t>. Si se sigue un algoritmo dos veces, se debe obtener el mismo resultado cada vez.</a:t>
            </a:r>
            <a:endParaRPr lang="es-ES" sz="2400" dirty="0">
              <a:solidFill>
                <a:schemeClr val="bg2">
                  <a:lumMod val="25000"/>
                </a:schemeClr>
              </a:solidFill>
            </a:endParaRPr>
          </a:p>
          <a:p>
            <a:pPr marL="361950" indent="-361950" algn="just">
              <a:lnSpc>
                <a:spcPts val="3500"/>
              </a:lnSpc>
              <a:spcBef>
                <a:spcPts val="600"/>
              </a:spcBef>
              <a:buFont typeface="+mj-lt"/>
              <a:buAutoNum type="arabicPeriod" startAt="3"/>
              <a:defRPr/>
            </a:pPr>
            <a:r>
              <a:rPr lang="es-MX" sz="2400" dirty="0">
                <a:solidFill>
                  <a:schemeClr val="bg2">
                    <a:lumMod val="25000"/>
                  </a:schemeClr>
                </a:solidFill>
              </a:rPr>
              <a:t>Un algoritmo debe ser </a:t>
            </a:r>
            <a:r>
              <a:rPr lang="es-MX" sz="2400" b="1" dirty="0">
                <a:solidFill>
                  <a:schemeClr val="accent6">
                    <a:lumMod val="75000"/>
                  </a:schemeClr>
                </a:solidFill>
              </a:rPr>
              <a:t>finito</a:t>
            </a:r>
            <a:r>
              <a:rPr lang="es-MX" sz="2400" dirty="0">
                <a:solidFill>
                  <a:schemeClr val="bg2">
                    <a:lumMod val="25000"/>
                  </a:schemeClr>
                </a:solidFill>
              </a:rPr>
              <a:t>. Si se sigue un algoritmo, se debe de terminar en algún momento. Tiene un inicio y un fin.</a:t>
            </a:r>
            <a:endParaRPr lang="es-ES" sz="2400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50112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72567182-40ED-41CA-9890-1A176F0EEC91}"/>
              </a:ext>
            </a:extLst>
          </p:cNvPr>
          <p:cNvSpPr txBox="1"/>
          <p:nvPr/>
        </p:nvSpPr>
        <p:spPr>
          <a:xfrm>
            <a:off x="755576" y="2924944"/>
            <a:ext cx="2286000" cy="166865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marR="12700">
              <a:lnSpc>
                <a:spcPct val="135700"/>
              </a:lnSpc>
            </a:pPr>
            <a:r>
              <a:rPr b="1" dirty="0" err="1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Algori</a:t>
            </a:r>
            <a:r>
              <a:rPr b="1" spc="5" dirty="0" err="1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t</a:t>
            </a:r>
            <a:r>
              <a:rPr b="1" dirty="0" err="1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mo</a:t>
            </a:r>
            <a:r>
              <a:rPr b="1" spc="-30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b="1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para</a:t>
            </a:r>
            <a:r>
              <a:rPr b="1" spc="-30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b="1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comp</a:t>
            </a:r>
            <a:r>
              <a:rPr b="1" spc="5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r</a:t>
            </a:r>
            <a:r>
              <a:rPr b="1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ar</a:t>
            </a:r>
            <a:r>
              <a:rPr b="1" spc="-35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b="1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un</a:t>
            </a:r>
            <a:r>
              <a:rPr b="1" spc="-15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b="1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bo</a:t>
            </a:r>
            <a:r>
              <a:rPr b="1" spc="5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l</a:t>
            </a:r>
            <a:r>
              <a:rPr b="1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e</a:t>
            </a:r>
            <a:r>
              <a:rPr b="1" spc="5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t</a:t>
            </a:r>
            <a:r>
              <a:rPr b="1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o</a:t>
            </a:r>
            <a:r>
              <a:rPr b="1" spc="-30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b="1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de</a:t>
            </a:r>
            <a:r>
              <a:rPr b="1" spc="-15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b="1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a</a:t>
            </a:r>
            <a:r>
              <a:rPr lang="es-MX" b="1" dirty="0" err="1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vión</a:t>
            </a:r>
            <a:r>
              <a:rPr lang="es-MX" b="1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b="1" dirty="0" err="1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en</a:t>
            </a:r>
            <a:r>
              <a:rPr b="1" spc="-15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lang="es-MX" b="1" spc="-15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I</a:t>
            </a:r>
            <a:r>
              <a:rPr b="1" dirty="0" err="1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nterne</a:t>
            </a:r>
            <a:r>
              <a:rPr b="1" spc="5" dirty="0" err="1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t</a:t>
            </a:r>
            <a:r>
              <a:rPr b="1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:</a:t>
            </a:r>
            <a:endParaRPr dirty="0">
              <a:solidFill>
                <a:schemeClr val="accent5">
                  <a:lumMod val="75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C96CB169-EB3E-4256-A74D-1838915FC831}"/>
              </a:ext>
            </a:extLst>
          </p:cNvPr>
          <p:cNvSpPr txBox="1">
            <a:spLocks/>
          </p:cNvSpPr>
          <p:nvPr/>
        </p:nvSpPr>
        <p:spPr>
          <a:xfrm>
            <a:off x="50488" y="-136230"/>
            <a:ext cx="7748608" cy="1257249"/>
          </a:xfrm>
          <a:prstGeom prst="rect">
            <a:avLst/>
          </a:prstGeom>
        </p:spPr>
        <p:txBody>
          <a:bodyPr vert="horz" wrap="square" lIns="0" tIns="635508" rIns="0" bIns="0" rtlCol="0" anchor="ctr" anchorCtr="0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778000"/>
            <a:r>
              <a:rPr lang="es-MX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Ejemplo de Algoritmo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9A25467-A029-4D80-9D44-B22F2926AC51}"/>
              </a:ext>
            </a:extLst>
          </p:cNvPr>
          <p:cNvSpPr/>
          <p:nvPr/>
        </p:nvSpPr>
        <p:spPr>
          <a:xfrm>
            <a:off x="3924792" y="2179518"/>
            <a:ext cx="3920348" cy="3459283"/>
          </a:xfrm>
          <a:custGeom>
            <a:avLst/>
            <a:gdLst/>
            <a:ahLst/>
            <a:cxnLst/>
            <a:rect l="l" t="t" r="r" b="b"/>
            <a:pathLst>
              <a:path w="3563111" h="3503676">
                <a:moveTo>
                  <a:pt x="0" y="3503676"/>
                </a:moveTo>
                <a:lnTo>
                  <a:pt x="3563112" y="3503676"/>
                </a:lnTo>
                <a:lnTo>
                  <a:pt x="3563112" y="0"/>
                </a:lnTo>
                <a:lnTo>
                  <a:pt x="0" y="0"/>
                </a:lnTo>
                <a:lnTo>
                  <a:pt x="0" y="350367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6CA25AC4-CA3D-4D9F-9450-B5C12E94FF6A}"/>
              </a:ext>
            </a:extLst>
          </p:cNvPr>
          <p:cNvSpPr txBox="1"/>
          <p:nvPr/>
        </p:nvSpPr>
        <p:spPr>
          <a:xfrm>
            <a:off x="3130914" y="1892935"/>
            <a:ext cx="5508104" cy="403244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ts val="600"/>
              </a:lnSpc>
              <a:spcBef>
                <a:spcPts val="2"/>
              </a:spcBef>
              <a:buClr>
                <a:schemeClr val="accent4">
                  <a:lumMod val="50000"/>
                </a:schemeClr>
              </a:buClr>
              <a:buFont typeface="Calibri"/>
              <a:buAutoNum type="arabicPeriod"/>
            </a:pPr>
            <a:endParaRPr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55600" indent="-342900">
              <a:buClr>
                <a:schemeClr val="accent4">
                  <a:lumMod val="50000"/>
                </a:schemeClr>
              </a:buClr>
              <a:buFont typeface="Calibri"/>
              <a:buAutoNum type="arabicPeriod"/>
              <a:tabLst>
                <a:tab pos="354965" algn="l"/>
              </a:tabLst>
            </a:pP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En</a:t>
            </a:r>
            <a:r>
              <a:rPr sz="2000" b="1" spc="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t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rar</a:t>
            </a:r>
            <a:r>
              <a:rPr sz="2000" b="1" spc="-2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al s</a:t>
            </a:r>
            <a:r>
              <a:rPr sz="2000" b="1" spc="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i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tio</a:t>
            </a:r>
            <a:r>
              <a:rPr sz="2000" b="1" spc="-1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de</a:t>
            </a:r>
            <a:r>
              <a:rPr sz="2000" b="1" spc="-1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la</a:t>
            </a:r>
            <a:r>
              <a:rPr sz="2000" b="1" spc="-1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aerol</a:t>
            </a:r>
            <a:r>
              <a:rPr sz="2000" b="1" spc="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í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nea</a:t>
            </a:r>
            <a:r>
              <a:rPr sz="2000" b="1" spc="-4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o</a:t>
            </a:r>
            <a:r>
              <a:rPr sz="2000" b="1" spc="-2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agencia</a:t>
            </a:r>
            <a:r>
              <a:rPr lang="es-MX"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.</a:t>
            </a:r>
            <a:endParaRPr sz="2000" dirty="0">
              <a:solidFill>
                <a:schemeClr val="tx1">
                  <a:lumMod val="95000"/>
                  <a:lumOff val="5000"/>
                </a:schemeClr>
              </a:solidFill>
              <a:cs typeface="Calibri"/>
            </a:endParaRPr>
          </a:p>
          <a:p>
            <a:pPr>
              <a:lnSpc>
                <a:spcPts val="600"/>
              </a:lnSpc>
              <a:buClr>
                <a:schemeClr val="accent4">
                  <a:lumMod val="50000"/>
                </a:schemeClr>
              </a:buClr>
              <a:buFont typeface="Calibri"/>
              <a:buAutoNum type="arabicPeriod"/>
            </a:pPr>
            <a:endParaRPr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55600" marR="12700" indent="-342900">
              <a:buClr>
                <a:schemeClr val="accent4">
                  <a:lumMod val="50000"/>
                </a:schemeClr>
              </a:buClr>
              <a:buFont typeface="Calibri"/>
              <a:buAutoNum type="arabicPeriod"/>
              <a:tabLst>
                <a:tab pos="354965" algn="l"/>
              </a:tabLst>
            </a:pP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Int</a:t>
            </a:r>
            <a:r>
              <a:rPr sz="2000" b="1" spc="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r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oducir</a:t>
            </a:r>
            <a:r>
              <a:rPr sz="2000" b="1" spc="-3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el</a:t>
            </a:r>
            <a:r>
              <a:rPr sz="2000" b="1" spc="-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origen,</a:t>
            </a:r>
            <a:r>
              <a:rPr sz="2000" b="1" spc="-2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el</a:t>
            </a:r>
            <a:r>
              <a:rPr sz="2000" b="1" spc="-1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de</a:t>
            </a:r>
            <a:r>
              <a:rPr sz="2000" b="1" spc="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s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tino,</a:t>
            </a:r>
            <a:r>
              <a:rPr sz="2000" b="1" spc="-3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la</a:t>
            </a:r>
            <a:r>
              <a:rPr sz="2000" b="1" spc="-1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fecha</a:t>
            </a:r>
            <a:r>
              <a:rPr sz="2000" b="1" spc="-3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y la</a:t>
            </a:r>
            <a:r>
              <a:rPr sz="2000" b="1" spc="-1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cantidad</a:t>
            </a:r>
            <a:r>
              <a:rPr sz="2000" b="1" spc="-4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de</a:t>
            </a:r>
            <a:r>
              <a:rPr sz="2000" b="1" spc="-1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pe</a:t>
            </a:r>
            <a:r>
              <a:rPr sz="2000" b="1" spc="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r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sonas</a:t>
            </a:r>
            <a:r>
              <a:rPr lang="es-MX"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.</a:t>
            </a:r>
            <a:endParaRPr sz="2000" dirty="0">
              <a:solidFill>
                <a:schemeClr val="tx1">
                  <a:lumMod val="95000"/>
                  <a:lumOff val="5000"/>
                </a:schemeClr>
              </a:solidFill>
              <a:cs typeface="Calibri"/>
            </a:endParaRPr>
          </a:p>
          <a:p>
            <a:pPr>
              <a:lnSpc>
                <a:spcPts val="600"/>
              </a:lnSpc>
              <a:buClr>
                <a:schemeClr val="accent4">
                  <a:lumMod val="50000"/>
                </a:schemeClr>
              </a:buClr>
              <a:buFont typeface="Calibri"/>
              <a:buAutoNum type="arabicPeriod"/>
            </a:pPr>
            <a:endParaRPr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55600" indent="-342900">
              <a:buClr>
                <a:schemeClr val="accent4">
                  <a:lumMod val="50000"/>
                </a:schemeClr>
              </a:buClr>
              <a:buFont typeface="Calibri"/>
              <a:buAutoNum type="arabicPeriod"/>
              <a:tabLst>
                <a:tab pos="354965" algn="l"/>
              </a:tabLst>
            </a:pP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Definir</a:t>
            </a:r>
            <a:r>
              <a:rPr sz="2000" b="1" spc="-2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si es</a:t>
            </a:r>
            <a:r>
              <a:rPr sz="2000" b="1" spc="-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sencil</a:t>
            </a:r>
            <a:r>
              <a:rPr sz="2000" b="1" spc="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l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o</a:t>
            </a:r>
            <a:r>
              <a:rPr sz="2000" b="1" spc="-3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o</a:t>
            </a:r>
            <a:r>
              <a:rPr sz="2000" b="1" spc="-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redondo</a:t>
            </a:r>
            <a:r>
              <a:rPr lang="es-MX"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.</a:t>
            </a:r>
            <a:endParaRPr sz="2000" dirty="0">
              <a:solidFill>
                <a:schemeClr val="tx1">
                  <a:lumMod val="95000"/>
                  <a:lumOff val="5000"/>
                </a:schemeClr>
              </a:solidFill>
              <a:cs typeface="Calibri"/>
            </a:endParaRPr>
          </a:p>
          <a:p>
            <a:pPr>
              <a:lnSpc>
                <a:spcPts val="600"/>
              </a:lnSpc>
              <a:spcBef>
                <a:spcPts val="1"/>
              </a:spcBef>
              <a:buClr>
                <a:schemeClr val="accent4">
                  <a:lumMod val="50000"/>
                </a:schemeClr>
              </a:buClr>
              <a:buFont typeface="Calibri"/>
              <a:buAutoNum type="arabicPeriod"/>
            </a:pPr>
            <a:endParaRPr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55600" indent="-342900">
              <a:buClr>
                <a:schemeClr val="accent4">
                  <a:lumMod val="50000"/>
                </a:schemeClr>
              </a:buClr>
              <a:buFont typeface="Calibri"/>
              <a:buAutoNum type="arabicPeriod"/>
              <a:tabLst>
                <a:tab pos="354965" algn="l"/>
              </a:tabLst>
            </a:pP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Buscar</a:t>
            </a:r>
            <a:r>
              <a:rPr sz="2000" b="1" spc="-2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vuelos</a:t>
            </a:r>
            <a:r>
              <a:rPr lang="es-MX"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.</a:t>
            </a:r>
            <a:endParaRPr sz="2000" dirty="0">
              <a:solidFill>
                <a:schemeClr val="tx1">
                  <a:lumMod val="95000"/>
                  <a:lumOff val="5000"/>
                </a:schemeClr>
              </a:solidFill>
              <a:cs typeface="Calibri"/>
            </a:endParaRPr>
          </a:p>
          <a:p>
            <a:pPr>
              <a:lnSpc>
                <a:spcPts val="600"/>
              </a:lnSpc>
              <a:buClr>
                <a:schemeClr val="accent4">
                  <a:lumMod val="50000"/>
                </a:schemeClr>
              </a:buClr>
              <a:buFont typeface="Calibri"/>
              <a:buAutoNum type="arabicPeriod"/>
            </a:pPr>
            <a:endParaRPr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55600" indent="-342900">
              <a:buClr>
                <a:schemeClr val="accent4">
                  <a:lumMod val="50000"/>
                </a:schemeClr>
              </a:buClr>
              <a:buFont typeface="Calibri"/>
              <a:buAutoNum type="arabicPeriod"/>
              <a:tabLst>
                <a:tab pos="354965" algn="l"/>
              </a:tabLst>
            </a:pP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Seleccio</a:t>
            </a:r>
            <a:r>
              <a:rPr sz="2000" b="1" spc="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n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ar</a:t>
            </a:r>
            <a:r>
              <a:rPr sz="2000" b="1" spc="-3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el</a:t>
            </a:r>
            <a:r>
              <a:rPr sz="2000" b="1" spc="-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vuelo</a:t>
            </a:r>
            <a:r>
              <a:rPr lang="es-MX"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.</a:t>
            </a:r>
            <a:endParaRPr sz="2000" dirty="0">
              <a:solidFill>
                <a:schemeClr val="tx1">
                  <a:lumMod val="95000"/>
                  <a:lumOff val="5000"/>
                </a:schemeClr>
              </a:solidFill>
              <a:cs typeface="Calibri"/>
            </a:endParaRPr>
          </a:p>
          <a:p>
            <a:pPr>
              <a:lnSpc>
                <a:spcPts val="600"/>
              </a:lnSpc>
              <a:buClr>
                <a:schemeClr val="accent4">
                  <a:lumMod val="50000"/>
                </a:schemeClr>
              </a:buClr>
              <a:buFont typeface="Calibri"/>
              <a:buAutoNum type="arabicPeriod"/>
            </a:pPr>
            <a:endParaRPr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55600" indent="-342900">
              <a:buClr>
                <a:schemeClr val="accent4">
                  <a:lumMod val="50000"/>
                </a:schemeClr>
              </a:buClr>
              <a:buFont typeface="Calibri"/>
              <a:buAutoNum type="arabicPeriod"/>
              <a:tabLst>
                <a:tab pos="354965" algn="l"/>
              </a:tabLst>
            </a:pP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Int</a:t>
            </a:r>
            <a:r>
              <a:rPr sz="2000" b="1" spc="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r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oducir</a:t>
            </a:r>
            <a:r>
              <a:rPr sz="2000" b="1" spc="-3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los </a:t>
            </a: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servicios</a:t>
            </a:r>
            <a:r>
              <a:rPr sz="2000" b="1" spc="-1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de</a:t>
            </a:r>
            <a:r>
              <a:rPr sz="2000" b="1" spc="5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s</a:t>
            </a: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ead</a:t>
            </a:r>
            <a:r>
              <a:rPr sz="2000" b="1" spc="-10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o</a:t>
            </a: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s</a:t>
            </a:r>
            <a:r>
              <a:rPr lang="es-MX"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.</a:t>
            </a:r>
            <a:endParaRPr sz="2000" dirty="0">
              <a:solidFill>
                <a:schemeClr val="tx1">
                  <a:lumMod val="95000"/>
                  <a:lumOff val="5000"/>
                </a:schemeClr>
              </a:solidFill>
              <a:cs typeface="Calibri"/>
            </a:endParaRPr>
          </a:p>
          <a:p>
            <a:pPr>
              <a:lnSpc>
                <a:spcPts val="600"/>
              </a:lnSpc>
              <a:buClr>
                <a:schemeClr val="accent4">
                  <a:lumMod val="50000"/>
                </a:schemeClr>
              </a:buClr>
              <a:buFont typeface="Calibri"/>
              <a:buAutoNum type="arabicPeriod"/>
            </a:pPr>
            <a:endParaRPr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55600" indent="-342900">
              <a:buClr>
                <a:schemeClr val="accent4">
                  <a:lumMod val="50000"/>
                </a:schemeClr>
              </a:buClr>
              <a:buFont typeface="Calibri"/>
              <a:buAutoNum type="arabicPeriod"/>
              <a:tabLst>
                <a:tab pos="354965" algn="l"/>
              </a:tabLst>
            </a:pP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Pa</a:t>
            </a:r>
            <a:r>
              <a:rPr sz="2000" b="1" spc="-1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g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ar</a:t>
            </a:r>
            <a:r>
              <a:rPr sz="2000" b="1" spc="-1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el</a:t>
            </a:r>
            <a:r>
              <a:rPr sz="2000" b="1" spc="-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bo</a:t>
            </a:r>
            <a:r>
              <a:rPr sz="2000" b="1" spc="5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l</a:t>
            </a: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e</a:t>
            </a:r>
            <a:r>
              <a:rPr sz="2000" b="1" spc="5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t</a:t>
            </a: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o</a:t>
            </a:r>
            <a:r>
              <a:rPr lang="es-MX"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.</a:t>
            </a:r>
            <a:endParaRPr sz="2000" dirty="0">
              <a:solidFill>
                <a:schemeClr val="tx1">
                  <a:lumMod val="95000"/>
                  <a:lumOff val="5000"/>
                </a:schemeClr>
              </a:solidFill>
              <a:cs typeface="Calibri"/>
            </a:endParaRPr>
          </a:p>
          <a:p>
            <a:pPr>
              <a:lnSpc>
                <a:spcPts val="600"/>
              </a:lnSpc>
              <a:spcBef>
                <a:spcPts val="2"/>
              </a:spcBef>
              <a:buClr>
                <a:schemeClr val="accent4">
                  <a:lumMod val="50000"/>
                </a:schemeClr>
              </a:buClr>
              <a:buFont typeface="Calibri"/>
              <a:buAutoNum type="arabicPeriod"/>
            </a:pPr>
            <a:endParaRPr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55600" indent="-342900">
              <a:buClr>
                <a:schemeClr val="accent4">
                  <a:lumMod val="50000"/>
                </a:schemeClr>
              </a:buClr>
              <a:buFont typeface="Calibri"/>
              <a:buAutoNum type="arabicPeriod"/>
              <a:tabLst>
                <a:tab pos="354965" algn="l"/>
              </a:tabLst>
            </a:pP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Recibir</a:t>
            </a:r>
            <a:r>
              <a:rPr sz="2000" b="1" spc="-2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comp</a:t>
            </a:r>
            <a:r>
              <a:rPr sz="2000" b="1" spc="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r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ob</a:t>
            </a:r>
            <a:r>
              <a:rPr sz="2000" b="1" spc="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a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n</a:t>
            </a:r>
            <a:r>
              <a:rPr sz="2000" b="1" spc="-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t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e</a:t>
            </a:r>
            <a:r>
              <a:rPr sz="2000" b="1" spc="-4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o</a:t>
            </a:r>
            <a:r>
              <a:rPr sz="2000" b="1" spc="-2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pase</a:t>
            </a:r>
            <a:r>
              <a:rPr sz="2000" b="1" spc="-2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de</a:t>
            </a:r>
            <a:r>
              <a:rPr sz="2000" b="1" spc="-15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abordar</a:t>
            </a:r>
            <a:r>
              <a:rPr lang="es-MX"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.</a:t>
            </a:r>
            <a:endParaRPr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335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ChangeArrowheads="1"/>
          </p:cNvSpPr>
          <p:nvPr/>
        </p:nvSpPr>
        <p:spPr bwMode="auto">
          <a:xfrm>
            <a:off x="669925" y="444500"/>
            <a:ext cx="7772400" cy="154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ctr"/>
          <a:lstStyle/>
          <a:p>
            <a:pPr algn="ctr" eaLnBrk="0" hangingPunct="0">
              <a:defRPr/>
            </a:pPr>
            <a:r>
              <a:rPr lang="es-ES_tradnl" sz="4400" b="1" dirty="0">
                <a:solidFill>
                  <a:srgbClr val="0070C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Actividad Grupal</a:t>
            </a:r>
          </a:p>
        </p:txBody>
      </p:sp>
      <p:sp>
        <p:nvSpPr>
          <p:cNvPr id="63491" name="Text Box 3"/>
          <p:cNvSpPr txBox="1">
            <a:spLocks noChangeArrowheads="1"/>
          </p:cNvSpPr>
          <p:nvPr/>
        </p:nvSpPr>
        <p:spPr bwMode="auto">
          <a:xfrm>
            <a:off x="1258888" y="2050802"/>
            <a:ext cx="6623050" cy="107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762000" eaLnBrk="0" hangingPunct="0">
              <a:defRPr sz="16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762000" eaLnBrk="0" hangingPunct="0">
              <a:defRPr sz="16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762000" eaLnBrk="0" hangingPunct="0">
              <a:defRPr sz="16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762000" eaLnBrk="0" hangingPunct="0">
              <a:defRPr sz="16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762000" eaLnBrk="0" hangingPunct="0">
              <a:defRPr sz="16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>
              <a:lnSpc>
                <a:spcPts val="4000"/>
              </a:lnSpc>
            </a:pPr>
            <a:r>
              <a:rPr lang="es-MX" sz="2800" dirty="0">
                <a:solidFill>
                  <a:schemeClr val="bg2">
                    <a:lumMod val="25000"/>
                  </a:schemeClr>
                </a:solidFill>
              </a:rPr>
              <a:t>Definir el algoritmo que sigues para venir a clase</a:t>
            </a:r>
            <a:endParaRPr lang="es-ES" sz="2800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3808" y="3284984"/>
            <a:ext cx="3744416" cy="24812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92433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34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34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491" grpId="0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8" name="Rectangle 6"/>
          <p:cNvSpPr>
            <a:spLocks noGrp="1" noChangeArrowheads="1"/>
          </p:cNvSpPr>
          <p:nvPr>
            <p:ph type="title"/>
          </p:nvPr>
        </p:nvSpPr>
        <p:spPr>
          <a:xfrm>
            <a:off x="457200" y="485775"/>
            <a:ext cx="8229600" cy="1143000"/>
          </a:xfrm>
        </p:spPr>
        <p:txBody>
          <a:bodyPr/>
          <a:lstStyle/>
          <a:p>
            <a:pPr eaLnBrk="1" hangingPunct="1">
              <a:defRPr/>
            </a:pPr>
            <a:r>
              <a:rPr lang="es-MX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Algoritmos</a:t>
            </a:r>
            <a:endParaRPr lang="es-ES" b="1" dirty="0">
              <a:solidFill>
                <a:schemeClr val="accent4">
                  <a:lumMod val="50000"/>
                </a:schemeClr>
              </a:solidFill>
              <a:effectLst>
                <a:outerShdw blurRad="38100" dist="38100" dir="2700000" algn="tl">
                  <a:srgbClr val="C0C0C0"/>
                </a:outerShdw>
              </a:effectLst>
              <a:latin typeface="Dom Casual" charset="0"/>
            </a:endParaRPr>
          </a:p>
        </p:txBody>
      </p:sp>
      <p:sp>
        <p:nvSpPr>
          <p:cNvPr id="6147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828675" y="2060575"/>
            <a:ext cx="7559675" cy="3024188"/>
          </a:xfrm>
        </p:spPr>
        <p:txBody>
          <a:bodyPr/>
          <a:lstStyle/>
          <a:p>
            <a:pPr algn="just" eaLnBrk="1" hangingPunct="1">
              <a:lnSpc>
                <a:spcPct val="125000"/>
              </a:lnSpc>
            </a:pPr>
            <a:r>
              <a:rPr lang="es-MX" sz="2400" dirty="0">
                <a:solidFill>
                  <a:schemeClr val="bg2">
                    <a:lumMod val="25000"/>
                  </a:schemeClr>
                </a:solidFill>
              </a:rPr>
              <a:t>En general, el agente que interpreta y realiza las instrucciones se llama </a:t>
            </a:r>
            <a:r>
              <a:rPr lang="es-MX" sz="2400" b="1" dirty="0">
                <a:solidFill>
                  <a:schemeClr val="accent6">
                    <a:lumMod val="75000"/>
                  </a:schemeClr>
                </a:solidFill>
              </a:rPr>
              <a:t>procesador</a:t>
            </a:r>
            <a:r>
              <a:rPr lang="es-MX" sz="2400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  <a:p>
            <a:pPr algn="just" eaLnBrk="1" hangingPunct="1">
              <a:lnSpc>
                <a:spcPct val="125000"/>
              </a:lnSpc>
              <a:buFontTx/>
              <a:buNone/>
            </a:pPr>
            <a:endParaRPr lang="es-MX" sz="1600" dirty="0">
              <a:solidFill>
                <a:schemeClr val="bg2">
                  <a:lumMod val="25000"/>
                </a:schemeClr>
              </a:solidFill>
            </a:endParaRPr>
          </a:p>
          <a:p>
            <a:pPr algn="just" eaLnBrk="1" hangingPunct="1">
              <a:lnSpc>
                <a:spcPct val="125000"/>
              </a:lnSpc>
            </a:pPr>
            <a:r>
              <a:rPr lang="es-MX" sz="2400" dirty="0">
                <a:solidFill>
                  <a:schemeClr val="bg2">
                    <a:lumMod val="25000"/>
                  </a:schemeClr>
                </a:solidFill>
              </a:rPr>
              <a:t>Un procesador puede ser una persona, una computadora, o cualquier otro sistema electrónico o mecánico.</a:t>
            </a:r>
            <a:endParaRPr lang="es-ES" sz="2400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6142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82" name="Rectangle 6"/>
          <p:cNvSpPr>
            <a:spLocks noGrp="1" noChangeArrowheads="1"/>
          </p:cNvSpPr>
          <p:nvPr>
            <p:ph type="title"/>
          </p:nvPr>
        </p:nvSpPr>
        <p:spPr>
          <a:xfrm>
            <a:off x="457199" y="155434"/>
            <a:ext cx="8229600" cy="1143000"/>
          </a:xfrm>
        </p:spPr>
        <p:txBody>
          <a:bodyPr/>
          <a:lstStyle/>
          <a:p>
            <a:pPr eaLnBrk="1" hangingPunct="1">
              <a:defRPr/>
            </a:pPr>
            <a:r>
              <a:rPr lang="es-MX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Algoritmos</a:t>
            </a:r>
            <a:endParaRPr lang="es-ES" b="1" dirty="0">
              <a:solidFill>
                <a:schemeClr val="accent4">
                  <a:lumMod val="50000"/>
                </a:schemeClr>
              </a:solidFill>
              <a:effectLst>
                <a:outerShdw blurRad="38100" dist="38100" dir="2700000" algn="tl">
                  <a:srgbClr val="C0C0C0"/>
                </a:outerShdw>
              </a:effectLst>
              <a:latin typeface="Dom Casual" charset="0"/>
            </a:endParaRPr>
          </a:p>
        </p:txBody>
      </p:sp>
      <p:sp>
        <p:nvSpPr>
          <p:cNvPr id="7171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605817" y="1516786"/>
            <a:ext cx="7854616" cy="1143000"/>
          </a:xfrm>
        </p:spPr>
        <p:txBody>
          <a:bodyPr/>
          <a:lstStyle/>
          <a:p>
            <a:pPr algn="just">
              <a:lnSpc>
                <a:spcPct val="125000"/>
              </a:lnSpc>
              <a:spcBef>
                <a:spcPct val="10000"/>
              </a:spcBef>
            </a:pP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Si el procesador de un algoritmo es una</a:t>
            </a:r>
            <a:r>
              <a:rPr lang="es-MX" sz="24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computadora,</a:t>
            </a:r>
            <a:r>
              <a:rPr lang="es-MX" sz="24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el algoritmo debe estar expresado</a:t>
            </a:r>
            <a:r>
              <a:rPr lang="es-MX" sz="24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en forma de </a:t>
            </a:r>
            <a:r>
              <a:rPr lang="es-ES" sz="2400" b="1" dirty="0">
                <a:solidFill>
                  <a:schemeClr val="accent6">
                    <a:lumMod val="75000"/>
                  </a:schemeClr>
                </a:solidFill>
              </a:rPr>
              <a:t>programa</a:t>
            </a: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.</a:t>
            </a:r>
            <a:endParaRPr lang="es-ES" sz="24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AB0CF08-517F-40E0-AE79-ED688CA93A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0152" y="2948282"/>
            <a:ext cx="2434004" cy="278702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3904612-792C-41BB-8BFB-447D77F8635C}"/>
              </a:ext>
            </a:extLst>
          </p:cNvPr>
          <p:cNvSpPr txBox="1">
            <a:spLocks noChangeArrowheads="1"/>
          </p:cNvSpPr>
          <p:nvPr/>
        </p:nvSpPr>
        <p:spPr>
          <a:xfrm>
            <a:off x="671241" y="2709342"/>
            <a:ext cx="4723642" cy="32399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25000"/>
              </a:lnSpc>
              <a:spcBef>
                <a:spcPct val="10000"/>
              </a:spcBef>
            </a:pP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Un programa se escribe en un </a:t>
            </a:r>
            <a:r>
              <a:rPr lang="es-ES" sz="2400" b="1" dirty="0">
                <a:solidFill>
                  <a:schemeClr val="accent6">
                    <a:lumMod val="75000"/>
                  </a:schemeClr>
                </a:solidFill>
              </a:rPr>
              <a:t>lenguaje de</a:t>
            </a:r>
            <a:r>
              <a:rPr lang="es-MX" sz="24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s-ES" sz="2400" b="1" dirty="0">
                <a:solidFill>
                  <a:schemeClr val="accent6">
                    <a:lumMod val="75000"/>
                  </a:schemeClr>
                </a:solidFill>
              </a:rPr>
              <a:t>programación</a:t>
            </a: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, y la actividad que consiste en</a:t>
            </a:r>
            <a:r>
              <a:rPr lang="es-MX" sz="24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expresar un algoritmo en un lenguaje de</a:t>
            </a:r>
            <a:r>
              <a:rPr lang="es-MX" sz="24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programación</a:t>
            </a:r>
            <a:r>
              <a:rPr lang="es-MX" sz="24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se llama </a:t>
            </a:r>
            <a:r>
              <a:rPr lang="es-ES" sz="2400" b="1" dirty="0">
                <a:solidFill>
                  <a:schemeClr val="accent6">
                    <a:lumMod val="75000"/>
                  </a:schemeClr>
                </a:solidFill>
              </a:rPr>
              <a:t>programar</a:t>
            </a: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  <a:p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3377708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35" name="Rectangle 2059"/>
          <p:cNvSpPr>
            <a:spLocks noGrp="1" noChangeArrowheads="1"/>
          </p:cNvSpPr>
          <p:nvPr>
            <p:ph type="title"/>
          </p:nvPr>
        </p:nvSpPr>
        <p:spPr>
          <a:xfrm>
            <a:off x="457200" y="341313"/>
            <a:ext cx="8229600" cy="1143000"/>
          </a:xfrm>
        </p:spPr>
        <p:txBody>
          <a:bodyPr/>
          <a:lstStyle/>
          <a:p>
            <a:pPr eaLnBrk="1" hangingPunct="1">
              <a:defRPr/>
            </a:pPr>
            <a:r>
              <a:rPr lang="es-MX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Algoritmos</a:t>
            </a:r>
            <a:endParaRPr lang="es-ES" b="1" dirty="0">
              <a:solidFill>
                <a:schemeClr val="accent4">
                  <a:lumMod val="50000"/>
                </a:schemeClr>
              </a:solidFill>
              <a:effectLst>
                <a:outerShdw blurRad="38100" dist="38100" dir="2700000" algn="tl">
                  <a:srgbClr val="C0C0C0"/>
                </a:outerShdw>
              </a:effectLst>
              <a:latin typeface="Dom Casual" charset="0"/>
            </a:endParaRPr>
          </a:p>
        </p:txBody>
      </p:sp>
      <p:sp>
        <p:nvSpPr>
          <p:cNvPr id="8195" name="Rectangle 2060"/>
          <p:cNvSpPr>
            <a:spLocks noGrp="1" noChangeArrowheads="1"/>
          </p:cNvSpPr>
          <p:nvPr>
            <p:ph type="body" idx="1"/>
          </p:nvPr>
        </p:nvSpPr>
        <p:spPr>
          <a:xfrm>
            <a:off x="539552" y="1628800"/>
            <a:ext cx="8229600" cy="4525962"/>
          </a:xfrm>
        </p:spPr>
        <p:txBody>
          <a:bodyPr/>
          <a:lstStyle/>
          <a:p>
            <a:pPr marL="354013" indent="-354013" eaLnBrk="1" hangingPunct="1">
              <a:lnSpc>
                <a:spcPct val="115000"/>
              </a:lnSpc>
              <a:spcBef>
                <a:spcPct val="60000"/>
              </a:spcBef>
              <a:buFontTx/>
              <a:buNone/>
            </a:pPr>
            <a:r>
              <a:rPr lang="es-ES" dirty="0"/>
              <a:t>    </a:t>
            </a:r>
            <a:r>
              <a:rPr lang="es-ES" sz="2600" dirty="0">
                <a:solidFill>
                  <a:schemeClr val="bg2">
                    <a:lumMod val="25000"/>
                  </a:schemeClr>
                </a:solidFill>
              </a:rPr>
              <a:t>Como hemos visto, para llevar a cabo un proceso</a:t>
            </a:r>
            <a:r>
              <a:rPr lang="es-MX" sz="26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s-ES" sz="2600" dirty="0">
                <a:solidFill>
                  <a:schemeClr val="bg2">
                    <a:lumMod val="25000"/>
                  </a:schemeClr>
                </a:solidFill>
              </a:rPr>
              <a:t>en  una computadora es preciso:</a:t>
            </a:r>
            <a:endParaRPr lang="es-MX" sz="2600" dirty="0">
              <a:solidFill>
                <a:schemeClr val="bg2">
                  <a:lumMod val="25000"/>
                </a:schemeClr>
              </a:solidFill>
            </a:endParaRPr>
          </a:p>
          <a:p>
            <a:pPr marL="914400" lvl="1" indent="-457200" eaLnBrk="1" hangingPunct="1">
              <a:lnSpc>
                <a:spcPct val="115000"/>
              </a:lnSpc>
              <a:spcBef>
                <a:spcPct val="60000"/>
              </a:spcBef>
              <a:buFontTx/>
              <a:buAutoNum type="arabicPeriod"/>
            </a:pPr>
            <a:r>
              <a:rPr lang="es-ES" sz="2600" b="1" dirty="0">
                <a:solidFill>
                  <a:schemeClr val="accent6">
                    <a:lumMod val="75000"/>
                  </a:schemeClr>
                </a:solidFill>
              </a:rPr>
              <a:t>Diseñar un algoritmo </a:t>
            </a:r>
            <a:r>
              <a:rPr lang="es-ES" sz="2600" dirty="0">
                <a:solidFill>
                  <a:schemeClr val="bg2">
                    <a:lumMod val="25000"/>
                  </a:schemeClr>
                </a:solidFill>
              </a:rPr>
              <a:t>que describa cómo se debe</a:t>
            </a:r>
            <a:r>
              <a:rPr lang="es-MX" sz="26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s-ES" sz="2600" dirty="0">
                <a:solidFill>
                  <a:schemeClr val="bg2">
                    <a:lumMod val="25000"/>
                  </a:schemeClr>
                </a:solidFill>
              </a:rPr>
              <a:t>realizar el proceso</a:t>
            </a:r>
            <a:r>
              <a:rPr lang="es-MX" sz="2600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  <a:p>
            <a:pPr marL="914400" lvl="1" indent="-457200" eaLnBrk="1" hangingPunct="1">
              <a:lnSpc>
                <a:spcPct val="115000"/>
              </a:lnSpc>
              <a:spcBef>
                <a:spcPct val="60000"/>
              </a:spcBef>
              <a:buFontTx/>
              <a:buAutoNum type="arabicPeriod"/>
            </a:pPr>
            <a:r>
              <a:rPr lang="es-ES" sz="2600" dirty="0">
                <a:solidFill>
                  <a:schemeClr val="bg2">
                    <a:lumMod val="25000"/>
                  </a:schemeClr>
                </a:solidFill>
              </a:rPr>
              <a:t>Expresar el algoritmo como un </a:t>
            </a:r>
            <a:r>
              <a:rPr lang="es-ES" sz="2600" b="1" dirty="0">
                <a:solidFill>
                  <a:schemeClr val="accent6">
                    <a:lumMod val="75000"/>
                  </a:schemeClr>
                </a:solidFill>
              </a:rPr>
              <a:t>programa </a:t>
            </a:r>
            <a:r>
              <a:rPr lang="es-ES" sz="2600" dirty="0">
                <a:solidFill>
                  <a:schemeClr val="bg2">
                    <a:lumMod val="25000"/>
                  </a:schemeClr>
                </a:solidFill>
              </a:rPr>
              <a:t>en un cierto</a:t>
            </a:r>
            <a:r>
              <a:rPr lang="es-MX" sz="26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s-ES" sz="2600" dirty="0">
                <a:solidFill>
                  <a:schemeClr val="bg2">
                    <a:lumMod val="25000"/>
                  </a:schemeClr>
                </a:solidFill>
              </a:rPr>
              <a:t>lenguaje de programación</a:t>
            </a:r>
            <a:r>
              <a:rPr lang="es-MX" sz="2600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  <a:p>
            <a:pPr marL="914400" lvl="1" indent="-457200" eaLnBrk="1" hangingPunct="1">
              <a:lnSpc>
                <a:spcPct val="115000"/>
              </a:lnSpc>
              <a:spcBef>
                <a:spcPct val="60000"/>
              </a:spcBef>
              <a:buFontTx/>
              <a:buAutoNum type="arabicPeriod"/>
            </a:pPr>
            <a:r>
              <a:rPr lang="es-ES" sz="2600" dirty="0">
                <a:solidFill>
                  <a:schemeClr val="bg2">
                    <a:lumMod val="25000"/>
                  </a:schemeClr>
                </a:solidFill>
              </a:rPr>
              <a:t>Ejecutar el programa con la computadora.</a:t>
            </a:r>
          </a:p>
          <a:p>
            <a:pPr marL="533400" indent="-533400" eaLnBrk="1" hangingPunct="1"/>
            <a:endParaRPr lang="es-ES" sz="2600" dirty="0"/>
          </a:p>
          <a:p>
            <a:pPr marL="533400" indent="-533400" eaLnBrk="1" hangingPunct="1"/>
            <a:endParaRPr lang="es-ES" sz="2400" dirty="0"/>
          </a:p>
          <a:p>
            <a:pPr marL="533400" indent="-533400" eaLnBrk="1" hangingPunct="1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59576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446088" y="260350"/>
            <a:ext cx="8229600" cy="1143000"/>
          </a:xfrm>
        </p:spPr>
        <p:txBody>
          <a:bodyPr lIns="92075" tIns="46038" rIns="92075" bIns="46038"/>
          <a:lstStyle/>
          <a:p>
            <a:pPr eaLnBrk="1" hangingPunct="1">
              <a:defRPr/>
            </a:pPr>
            <a:r>
              <a:rPr lang="es-ES_tradnl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¿Qué es un programa?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11188" y="1628775"/>
            <a:ext cx="7993260" cy="2376289"/>
          </a:xfrm>
          <a:noFill/>
        </p:spPr>
        <p:txBody>
          <a:bodyPr lIns="92075" tIns="46038" rIns="92075" bIns="46038"/>
          <a:lstStyle/>
          <a:p>
            <a:pPr algn="just" eaLnBrk="1" hangingPunct="1">
              <a:lnSpc>
                <a:spcPct val="145000"/>
              </a:lnSpc>
            </a:pPr>
            <a:r>
              <a:rPr lang="es-ES_tradnl" sz="2400" dirty="0">
                <a:solidFill>
                  <a:schemeClr val="bg2">
                    <a:lumMod val="25000"/>
                  </a:schemeClr>
                </a:solidFill>
              </a:rPr>
              <a:t>Un programa es un conjunto de instrucciones escritas en un determinado </a:t>
            </a:r>
            <a:r>
              <a:rPr lang="es-ES_tradnl" sz="2400" b="1" dirty="0">
                <a:solidFill>
                  <a:schemeClr val="accent6">
                    <a:lumMod val="75000"/>
                  </a:schemeClr>
                </a:solidFill>
              </a:rPr>
              <a:t>lenguaje de programación</a:t>
            </a:r>
            <a:r>
              <a:rPr lang="es-ES_tradnl" sz="2400" dirty="0">
                <a:solidFill>
                  <a:schemeClr val="bg2">
                    <a:lumMod val="25000"/>
                  </a:schemeClr>
                </a:solidFill>
              </a:rPr>
              <a:t>, cuyo objetivo es </a:t>
            </a:r>
            <a:r>
              <a:rPr lang="es-ES_tradnl" sz="2400" b="1" dirty="0">
                <a:solidFill>
                  <a:schemeClr val="accent5">
                    <a:lumMod val="75000"/>
                  </a:schemeClr>
                </a:solidFill>
              </a:rPr>
              <a:t>instruir</a:t>
            </a:r>
            <a:r>
              <a:rPr lang="es-ES_tradnl" sz="24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s-ES_tradnl" sz="2400" b="1" dirty="0">
                <a:solidFill>
                  <a:schemeClr val="accent5">
                    <a:lumMod val="75000"/>
                  </a:schemeClr>
                </a:solidFill>
              </a:rPr>
              <a:t>a la computadora</a:t>
            </a:r>
            <a:r>
              <a:rPr lang="es-ES_tradnl" sz="24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s-ES_tradnl" sz="2400" dirty="0">
                <a:solidFill>
                  <a:schemeClr val="bg2">
                    <a:lumMod val="25000"/>
                  </a:schemeClr>
                </a:solidFill>
              </a:rPr>
              <a:t>para que lleve a cabo una función específica. 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3458058"/>
            <a:ext cx="3024336" cy="31289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50356356"/>
      </p:ext>
    </p:extLst>
  </p:cSld>
  <p:clrMapOvr>
    <a:masterClrMapping/>
  </p:clrMapOvr>
  <p:transition>
    <p:cover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 autoUpdateAnimBg="0" advAuto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/>
          <p:cNvSpPr>
            <a:spLocks noGrp="1" noChangeArrowheads="1"/>
          </p:cNvSpPr>
          <p:nvPr>
            <p:ph type="title"/>
          </p:nvPr>
        </p:nvSpPr>
        <p:spPr>
          <a:xfrm>
            <a:off x="395288" y="413792"/>
            <a:ext cx="8281168" cy="1143000"/>
          </a:xfrm>
        </p:spPr>
        <p:txBody>
          <a:bodyPr lIns="92075" tIns="46038" rIns="92075" bIns="46038">
            <a:normAutofit fontScale="90000"/>
          </a:bodyPr>
          <a:lstStyle/>
          <a:p>
            <a:pPr eaLnBrk="1" hangingPunct="1">
              <a:defRPr/>
            </a:pPr>
            <a:r>
              <a:rPr lang="es-ES_tradnl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 </a:t>
            </a:r>
            <a:r>
              <a:rPr lang="es-ES_tradnl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¿Qué se requiere para escribir un programa?</a:t>
            </a:r>
          </a:p>
        </p:txBody>
      </p:sp>
      <p:sp>
        <p:nvSpPr>
          <p:cNvPr id="890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11560" y="1958341"/>
            <a:ext cx="8064896" cy="1245507"/>
          </a:xfrm>
        </p:spPr>
        <p:txBody>
          <a:bodyPr lIns="92075" tIns="46038" rIns="92075" bIns="46038">
            <a:normAutofit/>
          </a:bodyPr>
          <a:lstStyle/>
          <a:p>
            <a:pPr algn="just" eaLnBrk="1" hangingPunct="1">
              <a:lnSpc>
                <a:spcPct val="105000"/>
              </a:lnSpc>
              <a:spcAft>
                <a:spcPts val="600"/>
              </a:spcAft>
              <a:defRPr/>
            </a:pPr>
            <a:r>
              <a:rPr lang="es-ES_tradnl" sz="2400" b="1" dirty="0">
                <a:solidFill>
                  <a:schemeClr val="accent6">
                    <a:lumMod val="75000"/>
                  </a:schemeClr>
                </a:solidFill>
              </a:rPr>
              <a:t>Un </a:t>
            </a:r>
            <a:r>
              <a:rPr lang="es-ES_tradnl" sz="24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editor</a:t>
            </a:r>
            <a:r>
              <a:rPr lang="es-ES_tradnl" sz="2400" b="1" dirty="0">
                <a:solidFill>
                  <a:schemeClr val="accent6">
                    <a:lumMod val="75000"/>
                  </a:schemeClr>
                </a:solidFill>
              </a:rPr>
              <a:t>: </a:t>
            </a:r>
            <a:r>
              <a:rPr lang="es-ES_tradnl" sz="2400" dirty="0">
                <a:solidFill>
                  <a:schemeClr val="bg2">
                    <a:lumMod val="25000"/>
                  </a:schemeClr>
                </a:solidFill>
              </a:rPr>
              <a:t>Es una herramienta de software que facilita la escritura de programas. Es un software parecido a un “procesador de palabras”.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6A335E9-B863-40F4-966B-DE5597E95E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8160" y="4842284"/>
            <a:ext cx="4791695" cy="1575048"/>
          </a:xfrm>
          <a:prstGeom prst="rect">
            <a:avLst/>
          </a:prstGeom>
        </p:spPr>
      </p:pic>
      <p:sp>
        <p:nvSpPr>
          <p:cNvPr id="5" name="Rectangle 3">
            <a:extLst>
              <a:ext uri="{FF2B5EF4-FFF2-40B4-BE49-F238E27FC236}">
                <a16:creationId xmlns:a16="http://schemas.microsoft.com/office/drawing/2014/main" id="{9C446808-D349-41FC-B996-C47845BFFC5D}"/>
              </a:ext>
            </a:extLst>
          </p:cNvPr>
          <p:cNvSpPr txBox="1">
            <a:spLocks noChangeArrowheads="1"/>
          </p:cNvSpPr>
          <p:nvPr/>
        </p:nvSpPr>
        <p:spPr>
          <a:xfrm>
            <a:off x="611560" y="3320988"/>
            <a:ext cx="8064896" cy="1404156"/>
          </a:xfrm>
          <a:prstGeom prst="rect">
            <a:avLst/>
          </a:prstGeom>
        </p:spPr>
        <p:txBody>
          <a:bodyPr vert="horz" lIns="92075" tIns="46038" rIns="92075" bIns="46038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05000"/>
              </a:lnSpc>
              <a:spcAft>
                <a:spcPts val="600"/>
              </a:spcAft>
              <a:defRPr/>
            </a:pPr>
            <a:r>
              <a:rPr lang="es-ES_tradnl" sz="2400" b="1" dirty="0">
                <a:solidFill>
                  <a:schemeClr val="accent6">
                    <a:lumMod val="75000"/>
                  </a:schemeClr>
                </a:solidFill>
              </a:rPr>
              <a:t>Un </a:t>
            </a:r>
            <a:r>
              <a:rPr lang="es-ES_tradnl" sz="24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compilador:</a:t>
            </a:r>
            <a:r>
              <a:rPr lang="es-ES_tradnl" sz="24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s-ES_tradnl" sz="2400" dirty="0">
                <a:solidFill>
                  <a:schemeClr val="bg2">
                    <a:lumMod val="25000"/>
                  </a:schemeClr>
                </a:solidFill>
              </a:rPr>
              <a:t>Es una herramienta que traduce un programa escrito en un lenguaje de programación (código fuente) al lenguaje máquina.</a:t>
            </a:r>
          </a:p>
        </p:txBody>
      </p:sp>
    </p:spTree>
    <p:extLst>
      <p:ext uri="{BB962C8B-B14F-4D97-AF65-F5344CB8AC3E}">
        <p14:creationId xmlns:p14="http://schemas.microsoft.com/office/powerpoint/2010/main" val="1199498173"/>
      </p:ext>
    </p:extLst>
  </p:cSld>
  <p:clrMapOvr>
    <a:masterClrMapping/>
  </p:clrMapOvr>
  <p:transition>
    <p:cover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90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90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091" grpId="0" build="p" autoUpdateAnimBg="0"/>
      <p:bldP spid="5" grpId="0" build="p" autoUpdateAnimBg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14"/>
          <p:cNvSpPr txBox="1"/>
          <p:nvPr/>
        </p:nvSpPr>
        <p:spPr>
          <a:xfrm>
            <a:off x="1001139" y="476672"/>
            <a:ext cx="7444105" cy="85788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algn="ctr"/>
            <a:r>
              <a:rPr sz="44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Lenguaje de programación</a:t>
            </a: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defPPr>
              <a:defRPr lang="es-MX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400"/>
            <a:fld id="{81D60167-4931-47E6-BA6A-407CBD079E47}" type="slidenum">
              <a:rPr lang="es-MX" sz="1200" spc="-10" smtClean="0">
                <a:solidFill>
                  <a:srgbClr val="18BAD4"/>
                </a:solidFill>
                <a:latin typeface="Calibri"/>
                <a:cs typeface="Calibri"/>
              </a:rPr>
              <a:pPr marL="25400"/>
              <a:t>11</a:t>
            </a:fld>
            <a:endParaRPr sz="12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25630" y="1415059"/>
            <a:ext cx="7850826" cy="251799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marR="12700" algn="ctr">
              <a:lnSpc>
                <a:spcPts val="3000"/>
              </a:lnSpc>
            </a:pPr>
            <a:r>
              <a:rPr sz="2000" b="1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Es</a:t>
            </a:r>
            <a:r>
              <a:rPr sz="2000" b="1" spc="-10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un</a:t>
            </a:r>
            <a:r>
              <a:rPr sz="2000" b="1" spc="-5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conjunto</a:t>
            </a:r>
            <a:r>
              <a:rPr sz="2000" b="1" spc="-5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spc="-15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de</a:t>
            </a:r>
            <a:r>
              <a:rPr sz="2000" b="1" spc="-5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spc="-10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re</a:t>
            </a:r>
            <a:r>
              <a:rPr sz="2000" b="1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glas</a:t>
            </a:r>
            <a:r>
              <a:rPr sz="2000" b="1" spc="-15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para</a:t>
            </a:r>
            <a:r>
              <a:rPr sz="2000" b="1" spc="-5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spc="-15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esc</a:t>
            </a:r>
            <a:r>
              <a:rPr sz="2000" b="1" spc="-5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r</a:t>
            </a:r>
            <a:r>
              <a:rPr sz="2000" b="1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ibir</a:t>
            </a:r>
            <a:r>
              <a:rPr sz="2000" b="1" spc="-10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instruc</a:t>
            </a:r>
            <a:r>
              <a:rPr sz="2000" b="1" spc="5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c</a:t>
            </a:r>
            <a:r>
              <a:rPr sz="2000" b="1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iones</a:t>
            </a:r>
            <a:r>
              <a:rPr sz="2000" b="1" spc="-15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 en</a:t>
            </a:r>
            <a:r>
              <a:rPr sz="2000" b="1" spc="-5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un lenguaje que</a:t>
            </a:r>
            <a:r>
              <a:rPr sz="2000" b="1" spc="-5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la</a:t>
            </a:r>
            <a:r>
              <a:rPr sz="2000" b="1" spc="-15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computad</a:t>
            </a:r>
            <a:r>
              <a:rPr sz="2000" b="1" spc="-20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o</a:t>
            </a:r>
            <a:r>
              <a:rPr sz="2000" b="1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ra</a:t>
            </a:r>
            <a:r>
              <a:rPr sz="2000" b="1" spc="-10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pueda</a:t>
            </a:r>
            <a:r>
              <a:rPr sz="2000" b="1" spc="-5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entende</a:t>
            </a:r>
            <a:r>
              <a:rPr sz="2000" b="1" spc="10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r</a:t>
            </a:r>
            <a:r>
              <a:rPr sz="2000" b="1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.</a:t>
            </a:r>
            <a:r>
              <a:rPr sz="2000" b="1" spc="-10" dirty="0">
                <a:solidFill>
                  <a:schemeClr val="accent3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endParaRPr lang="es-MX" sz="2000" b="1" spc="-10" dirty="0">
              <a:solidFill>
                <a:schemeClr val="accent3">
                  <a:lumMod val="75000"/>
                </a:schemeClr>
              </a:solidFill>
              <a:latin typeface="Calibri"/>
              <a:cs typeface="Calibri"/>
            </a:endParaRPr>
          </a:p>
          <a:p>
            <a:pPr marL="12700" marR="12700" algn="just">
              <a:lnSpc>
                <a:spcPts val="3000"/>
              </a:lnSpc>
            </a:pPr>
            <a:endParaRPr lang="es-MX" sz="2000" spc="-10" dirty="0">
              <a:solidFill>
                <a:schemeClr val="bg2">
                  <a:lumMod val="25000"/>
                </a:schemeClr>
              </a:solidFill>
              <a:latin typeface="Calibri"/>
              <a:cs typeface="Calibri"/>
            </a:endParaRPr>
          </a:p>
          <a:p>
            <a:pPr marL="12700" marR="12700" algn="just">
              <a:lnSpc>
                <a:spcPts val="3000"/>
              </a:lnSpc>
            </a:pPr>
            <a:r>
              <a:rPr sz="200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Hay </a:t>
            </a:r>
            <a:r>
              <a:rPr lang="es-MX" sz="2000" b="1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l</a:t>
            </a:r>
            <a:r>
              <a:rPr sz="2000" b="1" dirty="0" err="1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enguaj</a:t>
            </a:r>
            <a:r>
              <a:rPr sz="2000" b="1" spc="-15" dirty="0" err="1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es</a:t>
            </a:r>
            <a:r>
              <a:rPr lang="es-MX" sz="2000" b="1" spc="-1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spc="-1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de alto </a:t>
            </a:r>
            <a:r>
              <a:rPr sz="2000" b="1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nivel</a:t>
            </a:r>
            <a:r>
              <a:rPr sz="2000" b="1" spc="1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com</a:t>
            </a:r>
            <a:r>
              <a:rPr sz="2000" spc="-5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o</a:t>
            </a:r>
            <a:r>
              <a:rPr sz="2000" spc="-1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:</a:t>
            </a:r>
            <a:r>
              <a:rPr sz="2000" spc="-25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spc="-10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C</a:t>
            </a:r>
            <a:r>
              <a:rPr sz="2000" b="1" spc="-1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,</a:t>
            </a:r>
            <a:r>
              <a:rPr sz="2000" b="1" spc="-10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C</a:t>
            </a:r>
            <a:r>
              <a:rPr sz="2000" b="1" spc="5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+</a:t>
            </a:r>
            <a:r>
              <a:rPr sz="2000" b="1" spc="-10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+</a:t>
            </a:r>
            <a:r>
              <a:rPr sz="2000" b="1" spc="-1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,</a:t>
            </a:r>
            <a:r>
              <a:rPr sz="2000" b="1" spc="-10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 Basic</a:t>
            </a:r>
            <a:r>
              <a:rPr sz="2000" b="1" spc="-1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,</a:t>
            </a:r>
            <a:r>
              <a:rPr lang="es-MX" sz="2000" b="1" spc="-1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spc="-15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Python</a:t>
            </a:r>
            <a:r>
              <a:rPr sz="2000" spc="-15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,</a:t>
            </a:r>
            <a:r>
              <a:rPr sz="2000" spc="-1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 et</a:t>
            </a:r>
            <a:r>
              <a:rPr sz="2000" spc="-5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c</a:t>
            </a:r>
            <a:r>
              <a:rPr sz="200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.</a:t>
            </a:r>
            <a:r>
              <a:rPr sz="2000" spc="-15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 </a:t>
            </a:r>
            <a:r>
              <a:rPr sz="2000" dirty="0" err="1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Éstos</a:t>
            </a:r>
            <a:r>
              <a:rPr lang="es-MX" sz="200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 </a:t>
            </a:r>
            <a:r>
              <a:rPr sz="2000" dirty="0" err="1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requie</a:t>
            </a:r>
            <a:r>
              <a:rPr sz="2000" spc="5" dirty="0" err="1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r</a:t>
            </a:r>
            <a:r>
              <a:rPr sz="2000" dirty="0" err="1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en</a:t>
            </a:r>
            <a:r>
              <a:rPr sz="200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 </a:t>
            </a:r>
            <a:r>
              <a:rPr sz="2000" dirty="0" err="1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compilarse</a:t>
            </a:r>
            <a:r>
              <a:rPr sz="2000" spc="-25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 </a:t>
            </a:r>
            <a:r>
              <a:rPr lang="es-MX" sz="200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y hay </a:t>
            </a:r>
            <a:r>
              <a:rPr lang="es-MX" sz="2000" b="1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lenguajes de bajo</a:t>
            </a:r>
            <a:r>
              <a:rPr sz="2000" b="1" spc="-1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nivel </a:t>
            </a:r>
            <a:r>
              <a:rPr sz="200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com</a:t>
            </a:r>
            <a:r>
              <a:rPr sz="2000" spc="-5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o</a:t>
            </a:r>
            <a:r>
              <a:rPr sz="2000" spc="-1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:</a:t>
            </a:r>
            <a:r>
              <a:rPr sz="2000" spc="-25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spc="-15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ensam</a:t>
            </a:r>
            <a:r>
              <a:rPr sz="2000" b="1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bladores</a:t>
            </a:r>
            <a:r>
              <a:rPr sz="2000" b="1" spc="5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 </a:t>
            </a:r>
            <a:r>
              <a:rPr sz="2000" spc="-15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y</a:t>
            </a:r>
            <a:r>
              <a:rPr sz="2000" b="1" spc="-1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m</a:t>
            </a:r>
            <a:r>
              <a:rPr lang="es-MX" sz="2000" b="1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á</a:t>
            </a:r>
            <a:r>
              <a:rPr sz="2000" b="1" dirty="0" err="1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quina</a:t>
            </a:r>
            <a:r>
              <a:rPr sz="200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.</a:t>
            </a:r>
            <a:r>
              <a:rPr sz="2000" spc="-25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 </a:t>
            </a:r>
            <a:r>
              <a:rPr sz="2000" spc="-15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No</a:t>
            </a:r>
            <a:r>
              <a:rPr sz="2000" spc="-1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 re</a:t>
            </a:r>
            <a:r>
              <a:rPr sz="200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quier</a:t>
            </a:r>
            <a:r>
              <a:rPr sz="2000" spc="1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e</a:t>
            </a:r>
            <a:r>
              <a:rPr sz="200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n compila</a:t>
            </a:r>
            <a:r>
              <a:rPr sz="2000" spc="5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r</a:t>
            </a:r>
            <a:r>
              <a:rPr sz="2000" spc="-1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se</a:t>
            </a:r>
            <a:r>
              <a:rPr sz="2000" dirty="0">
                <a:solidFill>
                  <a:schemeClr val="bg2">
                    <a:lumMod val="25000"/>
                  </a:schemeClr>
                </a:solidFill>
                <a:latin typeface="Calibri"/>
                <a:cs typeface="Calibri"/>
              </a:rPr>
              <a:t>.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A0FAB87E-0EB7-4C92-A65E-6DE87149A4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1557" y="3652978"/>
            <a:ext cx="5169389" cy="3205022"/>
          </a:xfrm>
          <a:prstGeom prst="rect">
            <a:avLst/>
          </a:prstGeom>
        </p:spPr>
      </p:pic>
      <p:sp>
        <p:nvSpPr>
          <p:cNvPr id="19" name="object 15">
            <a:extLst>
              <a:ext uri="{FF2B5EF4-FFF2-40B4-BE49-F238E27FC236}">
                <a16:creationId xmlns:a16="http://schemas.microsoft.com/office/drawing/2014/main" id="{FE0283E3-F238-42DA-AB27-E3223F5D9618}"/>
              </a:ext>
            </a:extLst>
          </p:cNvPr>
          <p:cNvSpPr txBox="1"/>
          <p:nvPr/>
        </p:nvSpPr>
        <p:spPr>
          <a:xfrm>
            <a:off x="1619672" y="4720226"/>
            <a:ext cx="1667293" cy="84895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marR="12700" algn="ctr"/>
            <a:r>
              <a:rPr lang="es-MX" sz="2000" b="1" dirty="0">
                <a:solidFill>
                  <a:schemeClr val="accent6">
                    <a:lumMod val="75000"/>
                  </a:schemeClr>
                </a:solidFill>
                <a:cs typeface="Times New Roman" panose="02020603050405020304" pitchFamily="18" charset="0"/>
              </a:rPr>
              <a:t>Los 10 mejores lenguajes de programación</a:t>
            </a:r>
            <a:endParaRPr sz="2000" b="1" dirty="0">
              <a:solidFill>
                <a:schemeClr val="accent6">
                  <a:lumMod val="75000"/>
                </a:schemeClr>
              </a:solidFill>
              <a:cs typeface="Times New Roman" panose="02020603050405020304" pitchFamily="18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14"/>
          <p:cNvSpPr txBox="1"/>
          <p:nvPr/>
        </p:nvSpPr>
        <p:spPr>
          <a:xfrm>
            <a:off x="1001139" y="476672"/>
            <a:ext cx="7444105" cy="85788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algn="ctr"/>
            <a:r>
              <a:rPr lang="es-ES" sz="44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10 principales usos de Python</a:t>
            </a:r>
            <a:endParaRPr sz="4400" b="1" dirty="0">
              <a:solidFill>
                <a:schemeClr val="accent4">
                  <a:lumMod val="50000"/>
                </a:schemeClr>
              </a:solidFill>
              <a:effectLst>
                <a:outerShdw blurRad="38100" dist="38100" dir="2700000" algn="tl">
                  <a:srgbClr val="C0C0C0"/>
                </a:outerShdw>
              </a:effectLst>
              <a:latin typeface="Dom Casual" charset="0"/>
              <a:ea typeface="+mj-ea"/>
              <a:cs typeface="+mj-cs"/>
            </a:endParaRP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A0FAB87E-0EB7-4C92-A65E-6DE87149A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708920"/>
            <a:ext cx="4394176" cy="2724390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2DD8E417-FB5E-4185-A827-16FAE88A2139}"/>
              </a:ext>
            </a:extLst>
          </p:cNvPr>
          <p:cNvSpPr txBox="1"/>
          <p:nvPr/>
        </p:nvSpPr>
        <p:spPr>
          <a:xfrm>
            <a:off x="1001139" y="1467657"/>
            <a:ext cx="4867005" cy="4204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es-ES" i="0" dirty="0">
                <a:solidFill>
                  <a:srgbClr val="444444"/>
                </a:solidFill>
                <a:effectLst/>
              </a:rPr>
              <a:t>Desarrollo web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es-ES" i="0" dirty="0">
                <a:solidFill>
                  <a:srgbClr val="444444"/>
                </a:solidFill>
                <a:effectLst/>
              </a:rPr>
              <a:t>Ciencia de datos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es-ES" i="0" dirty="0">
                <a:solidFill>
                  <a:srgbClr val="444444"/>
                </a:solidFill>
                <a:effectLst/>
              </a:rPr>
              <a:t>Inteligencia artificial y aprendizaje automático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es-ES" i="0" dirty="0">
                <a:solidFill>
                  <a:srgbClr val="444444"/>
                </a:solidFill>
                <a:effectLst/>
              </a:rPr>
              <a:t>Aplicaciones empresariales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es-ES" i="0" dirty="0">
                <a:solidFill>
                  <a:srgbClr val="444444"/>
                </a:solidFill>
                <a:effectLst/>
              </a:rPr>
              <a:t>Sector educativo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es-ES" i="0" dirty="0">
                <a:solidFill>
                  <a:srgbClr val="444444"/>
                </a:solidFill>
                <a:effectLst/>
              </a:rPr>
              <a:t>Aplicaciones de web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es-ES" i="0" dirty="0">
                <a:solidFill>
                  <a:srgbClr val="444444"/>
                </a:solidFill>
                <a:effectLst/>
              </a:rPr>
              <a:t>Desarrollo de juegos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es-ES" i="0" dirty="0">
                <a:solidFill>
                  <a:srgbClr val="444444"/>
                </a:solidFill>
                <a:effectLst/>
              </a:rPr>
              <a:t>Desarrollo de software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es-ES" i="0" dirty="0">
                <a:solidFill>
                  <a:srgbClr val="444444"/>
                </a:solidFill>
                <a:effectLst/>
              </a:rPr>
              <a:t>Interfaz gráfica de usuario (GUI) </a:t>
            </a:r>
            <a:endParaRPr lang="es-ES" i="0" dirty="0">
              <a:solidFill>
                <a:srgbClr val="768894"/>
              </a:solidFill>
              <a:effectLst/>
            </a:endParaRP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es-ES" i="0" dirty="0">
                <a:solidFill>
                  <a:srgbClr val="444444"/>
                </a:solidFill>
                <a:effectLst/>
              </a:rPr>
              <a:t>Sistemas operativos</a:t>
            </a:r>
          </a:p>
        </p:txBody>
      </p:sp>
    </p:spTree>
    <p:extLst>
      <p:ext uri="{BB962C8B-B14F-4D97-AF65-F5344CB8AC3E}">
        <p14:creationId xmlns:p14="http://schemas.microsoft.com/office/powerpoint/2010/main" val="36471661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8BED20AC-D995-48A6-8D8D-2D85442330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608" y="3929607"/>
            <a:ext cx="7264065" cy="2924045"/>
          </a:xfrm>
          <a:prstGeom prst="rect">
            <a:avLst/>
          </a:prstGeom>
        </p:spPr>
      </p:pic>
      <p:sp>
        <p:nvSpPr>
          <p:cNvPr id="98306" name="Rectangle 2">
            <a:extLst>
              <a:ext uri="{FF2B5EF4-FFF2-40B4-BE49-F238E27FC236}">
                <a16:creationId xmlns:a16="http://schemas.microsoft.com/office/drawing/2014/main" id="{92BD4BB5-B183-40E9-984A-B5438D49E20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682" y="188640"/>
            <a:ext cx="9371324" cy="855190"/>
          </a:xfrm>
          <a:noFill/>
          <a:ln/>
        </p:spPr>
        <p:txBody>
          <a:bodyPr lIns="92075" tIns="46038" rIns="92075" bIns="46038">
            <a:noAutofit/>
          </a:bodyPr>
          <a:lstStyle/>
          <a:p>
            <a:r>
              <a:rPr lang="es-ES_tradnl" altLang="es-MX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Lenguajes compilados e interpretados</a:t>
            </a:r>
          </a:p>
        </p:txBody>
      </p:sp>
      <p:sp>
        <p:nvSpPr>
          <p:cNvPr id="98310" name="Rectangle 6">
            <a:extLst>
              <a:ext uri="{FF2B5EF4-FFF2-40B4-BE49-F238E27FC236}">
                <a16:creationId xmlns:a16="http://schemas.microsoft.com/office/drawing/2014/main" id="{61641422-D59F-44A6-A648-059A3061FC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12673" y="2204864"/>
            <a:ext cx="8325933" cy="1908200"/>
          </a:xfrm>
          <a:noFill/>
          <a:ln/>
        </p:spPr>
        <p:txBody>
          <a:bodyPr lIns="92075" tIns="46038" rIns="92075" bIns="46038">
            <a:normAutofit/>
          </a:bodyPr>
          <a:lstStyle/>
          <a:p>
            <a:pPr algn="just">
              <a:lnSpc>
                <a:spcPct val="125000"/>
              </a:lnSpc>
            </a:pPr>
            <a:r>
              <a:rPr lang="es-MX" altLang="es-MX" sz="2000" dirty="0">
                <a:solidFill>
                  <a:schemeClr val="bg2">
                    <a:lumMod val="25000"/>
                  </a:schemeClr>
                </a:solidFill>
              </a:rPr>
              <a:t>Un </a:t>
            </a:r>
            <a:r>
              <a:rPr lang="es-MX" altLang="es-MX" sz="2000" b="1" dirty="0">
                <a:solidFill>
                  <a:schemeClr val="accent6">
                    <a:lumMod val="75000"/>
                  </a:schemeClr>
                </a:solidFill>
              </a:rPr>
              <a:t>programa interpretado</a:t>
            </a:r>
            <a:r>
              <a:rPr lang="es-MX" altLang="es-MX" sz="20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s-MX" altLang="es-MX" sz="2000" dirty="0">
                <a:solidFill>
                  <a:schemeClr val="bg2">
                    <a:lumMod val="25000"/>
                  </a:schemeClr>
                </a:solidFill>
              </a:rPr>
              <a:t>se traduce y ejecuta instrucción por instrucción. </a:t>
            </a:r>
            <a:r>
              <a:rPr lang="es-MX" altLang="es-MX" sz="2000" b="1" dirty="0">
                <a:solidFill>
                  <a:schemeClr val="accent5">
                    <a:lumMod val="75000"/>
                  </a:schemeClr>
                </a:solidFill>
              </a:rPr>
              <a:t>Java, JavaScript, Python y Ruby</a:t>
            </a:r>
            <a:r>
              <a:rPr lang="es-MX" altLang="es-MX" sz="2000" dirty="0">
                <a:solidFill>
                  <a:schemeClr val="bg2">
                    <a:lumMod val="25000"/>
                  </a:schemeClr>
                </a:solidFill>
              </a:rPr>
              <a:t> son lenguajes interpretados. </a:t>
            </a:r>
            <a:endParaRPr lang="es-ES_tradnl" altLang="es-MX" sz="2000" dirty="0">
              <a:solidFill>
                <a:schemeClr val="bg2">
                  <a:lumMod val="25000"/>
                </a:schemeClr>
              </a:solidFill>
            </a:endParaRPr>
          </a:p>
          <a:p>
            <a:pPr algn="just">
              <a:lnSpc>
                <a:spcPct val="125000"/>
              </a:lnSpc>
            </a:pPr>
            <a:r>
              <a:rPr lang="es-MX" altLang="es-MX" sz="2000" dirty="0">
                <a:solidFill>
                  <a:schemeClr val="bg2">
                    <a:lumMod val="25000"/>
                  </a:schemeClr>
                </a:solidFill>
              </a:rPr>
              <a:t>Un </a:t>
            </a:r>
            <a:r>
              <a:rPr lang="es-MX" altLang="es-MX" sz="2000" b="1" dirty="0">
                <a:solidFill>
                  <a:schemeClr val="accent6">
                    <a:lumMod val="75000"/>
                  </a:schemeClr>
                </a:solidFill>
              </a:rPr>
              <a:t>programa compilado</a:t>
            </a:r>
            <a:r>
              <a:rPr lang="es-MX" altLang="es-MX" sz="20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s-MX" altLang="es-MX" sz="2000" dirty="0">
                <a:solidFill>
                  <a:schemeClr val="bg2">
                    <a:lumMod val="25000"/>
                  </a:schemeClr>
                </a:solidFill>
              </a:rPr>
              <a:t>se traduce completamente y posteriormente se ejecuta. </a:t>
            </a:r>
            <a:r>
              <a:rPr lang="es-MX" altLang="es-MX" sz="2000" b="1" dirty="0">
                <a:solidFill>
                  <a:schemeClr val="accent5">
                    <a:lumMod val="75000"/>
                  </a:schemeClr>
                </a:solidFill>
              </a:rPr>
              <a:t>C, C++ y </a:t>
            </a:r>
            <a:r>
              <a:rPr lang="es-MX" altLang="es-MX" sz="2000" b="1" dirty="0" err="1">
                <a:solidFill>
                  <a:schemeClr val="accent5">
                    <a:lumMod val="75000"/>
                  </a:schemeClr>
                </a:solidFill>
              </a:rPr>
              <a:t>Go</a:t>
            </a:r>
            <a:r>
              <a:rPr lang="es-MX" altLang="es-MX" sz="20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s-MX" altLang="es-MX" sz="2000" dirty="0">
                <a:solidFill>
                  <a:schemeClr val="bg2">
                    <a:lumMod val="25000"/>
                  </a:schemeClr>
                </a:solidFill>
              </a:rPr>
              <a:t>son lenguajes compilados.</a:t>
            </a:r>
            <a:endParaRPr lang="es-ES_tradnl" altLang="es-MX" sz="2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E124B613-E7FF-4865-89B3-DFDCFB2DC8F7}"/>
              </a:ext>
            </a:extLst>
          </p:cNvPr>
          <p:cNvSpPr txBox="1">
            <a:spLocks noChangeArrowheads="1"/>
          </p:cNvSpPr>
          <p:nvPr/>
        </p:nvSpPr>
        <p:spPr>
          <a:xfrm>
            <a:off x="521451" y="1179216"/>
            <a:ext cx="8110537" cy="1007914"/>
          </a:xfrm>
          <a:prstGeom prst="rect">
            <a:avLst/>
          </a:prstGeom>
          <a:noFill/>
          <a:ln/>
        </p:spPr>
        <p:txBody>
          <a:bodyPr vert="horz" lIns="92075" tIns="46038" rIns="92075" bIns="46038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25000"/>
              </a:lnSpc>
              <a:buFont typeface="Arial" pitchFamily="34" charset="0"/>
              <a:buNone/>
            </a:pPr>
            <a:r>
              <a:rPr lang="es-MX" sz="2000" dirty="0">
                <a:solidFill>
                  <a:schemeClr val="accent3">
                    <a:lumMod val="75000"/>
                  </a:schemeClr>
                </a:solidFill>
              </a:rPr>
              <a:t>Tanto </a:t>
            </a:r>
            <a:r>
              <a:rPr lang="es-MX" sz="2000" b="1" dirty="0">
                <a:solidFill>
                  <a:schemeClr val="accent3">
                    <a:lumMod val="75000"/>
                  </a:schemeClr>
                </a:solidFill>
              </a:rPr>
              <a:t>compiladores</a:t>
            </a:r>
            <a:r>
              <a:rPr lang="es-MX" sz="2000" dirty="0">
                <a:solidFill>
                  <a:schemeClr val="accent3">
                    <a:lumMod val="75000"/>
                  </a:schemeClr>
                </a:solidFill>
              </a:rPr>
              <a:t> como </a:t>
            </a:r>
            <a:r>
              <a:rPr lang="es-MX" sz="2000" b="1" dirty="0">
                <a:solidFill>
                  <a:schemeClr val="accent3">
                    <a:lumMod val="75000"/>
                  </a:schemeClr>
                </a:solidFill>
              </a:rPr>
              <a:t>interpretadores</a:t>
            </a:r>
            <a:r>
              <a:rPr lang="es-MX" sz="2000" dirty="0">
                <a:solidFill>
                  <a:schemeClr val="accent3">
                    <a:lumMod val="75000"/>
                  </a:schemeClr>
                </a:solidFill>
              </a:rPr>
              <a:t> son programas que convierten el código que escribes a </a:t>
            </a:r>
            <a:r>
              <a:rPr lang="es-MX" sz="2000" b="1" dirty="0">
                <a:solidFill>
                  <a:schemeClr val="accent3">
                    <a:lumMod val="75000"/>
                  </a:schemeClr>
                </a:solidFill>
              </a:rPr>
              <a:t>lenguaje de máquina</a:t>
            </a:r>
            <a:r>
              <a:rPr lang="es-MX" sz="2000" dirty="0">
                <a:solidFill>
                  <a:schemeClr val="accent3">
                    <a:lumMod val="75000"/>
                  </a:schemeClr>
                </a:solidFill>
              </a:rPr>
              <a:t>.</a:t>
            </a:r>
            <a:endParaRPr lang="es-ES_tradnl" altLang="es-MX" sz="2000" dirty="0">
              <a:solidFill>
                <a:schemeClr val="accent3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3945670"/>
      </p:ext>
    </p:extLst>
  </p:cSld>
  <p:clrMapOvr>
    <a:masterClrMapping/>
  </p:clrMapOvr>
  <p:transition>
    <p:cover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83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83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83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83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310" grpId="0" build="p" autoUpdateAnimBg="0"/>
      <p:bldP spid="4" grpId="0" build="p" autoUpdateAnimBg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13" name="Rectangle 37">
            <a:extLst>
              <a:ext uri="{FF2B5EF4-FFF2-40B4-BE49-F238E27FC236}">
                <a16:creationId xmlns:a16="http://schemas.microsoft.com/office/drawing/2014/main" id="{610CBAC9-C4C5-44A2-B35E-0D4414A8A2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8313" y="5805488"/>
            <a:ext cx="2590800" cy="10525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MX"/>
          </a:p>
        </p:txBody>
      </p:sp>
      <p:sp>
        <p:nvSpPr>
          <p:cNvPr id="101378" name="Rectangle 2">
            <a:extLst>
              <a:ext uri="{FF2B5EF4-FFF2-40B4-BE49-F238E27FC236}">
                <a16:creationId xmlns:a16="http://schemas.microsoft.com/office/drawing/2014/main" id="{A847F3F4-B26C-4C5A-BD59-11D0661DCF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  <a:ln/>
        </p:spPr>
        <p:txBody>
          <a:bodyPr lIns="92075" tIns="46038" rIns="92075" bIns="46038">
            <a:noAutofit/>
          </a:bodyPr>
          <a:lstStyle/>
          <a:p>
            <a:r>
              <a:rPr lang="es-ES_tradnl" altLang="es-MX" b="1" dirty="0">
                <a:solidFill>
                  <a:srgbClr val="00206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Programa interpretado vs. programa compilado</a:t>
            </a:r>
          </a:p>
        </p:txBody>
      </p:sp>
      <p:graphicFrame>
        <p:nvGraphicFramePr>
          <p:cNvPr id="101414" name="Group 38">
            <a:extLst>
              <a:ext uri="{FF2B5EF4-FFF2-40B4-BE49-F238E27FC236}">
                <a16:creationId xmlns:a16="http://schemas.microsoft.com/office/drawing/2014/main" id="{6902816D-75F4-4DDC-8754-CB4CC269BE5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25322296"/>
              </p:ext>
            </p:extLst>
          </p:nvPr>
        </p:nvGraphicFramePr>
        <p:xfrm>
          <a:off x="395288" y="1930400"/>
          <a:ext cx="8641208" cy="3875088"/>
        </p:xfrm>
        <a:graphic>
          <a:graphicData uri="http://schemas.openxmlformats.org/drawingml/2006/table">
            <a:tbl>
              <a:tblPr/>
              <a:tblGrid>
                <a:gridCol w="4320728">
                  <a:extLst>
                    <a:ext uri="{9D8B030D-6E8A-4147-A177-3AD203B41FA5}">
                      <a16:colId xmlns:a16="http://schemas.microsoft.com/office/drawing/2014/main" val="3239797100"/>
                    </a:ext>
                  </a:extLst>
                </a:gridCol>
                <a:gridCol w="4320480">
                  <a:extLst>
                    <a:ext uri="{9D8B030D-6E8A-4147-A177-3AD203B41FA5}">
                      <a16:colId xmlns:a16="http://schemas.microsoft.com/office/drawing/2014/main" val="46453209"/>
                    </a:ext>
                  </a:extLst>
                </a:gridCol>
              </a:tblGrid>
              <a:tr h="541591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Un </a:t>
                      </a:r>
                      <a:r>
                        <a:rPr kumimoji="0" lang="es-MX" altLang="es-MX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programa interpretado</a:t>
                      </a:r>
                      <a:r>
                        <a:rPr kumimoji="0" lang="es-MX" altLang="es-MX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: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Un </a:t>
                      </a:r>
                      <a:r>
                        <a:rPr kumimoji="0" lang="es-MX" altLang="es-MX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programa compilado</a:t>
                      </a:r>
                      <a:r>
                        <a:rPr kumimoji="0" lang="es-MX" altLang="es-MX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: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7524282"/>
                  </a:ext>
                </a:extLst>
              </a:tr>
              <a:tr h="1299444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latin typeface="+mn-lt"/>
                        </a:rPr>
                        <a:t>Traduce a lenguaje máquina </a:t>
                      </a:r>
                      <a:r>
                        <a:rPr kumimoji="0" lang="es-MX" altLang="es-MX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instrucción por instrucción </a:t>
                      </a:r>
                      <a:r>
                        <a:rPr kumimoji="0" lang="es-MX" altLang="es-MX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latin typeface="+mn-lt"/>
                        </a:rPr>
                        <a:t>y las va ejecutando (mientras traduce ejecuta)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latin typeface="+mn-lt"/>
                        </a:rPr>
                        <a:t>Traduce a lenguaje máquina </a:t>
                      </a:r>
                      <a:r>
                        <a:rPr kumimoji="0" lang="es-MX" altLang="es-MX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todo el programa</a:t>
                      </a:r>
                      <a:r>
                        <a:rPr kumimoji="0" lang="es-MX" altLang="es-MX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latin typeface="+mn-lt"/>
                        </a:rPr>
                        <a:t>, pero no lo ejecuta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2122163"/>
                  </a:ext>
                </a:extLst>
              </a:tr>
              <a:tr h="693237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latin typeface="+mn-lt"/>
                        </a:rPr>
                        <a:t>No genera un archivo ejecutable (*.exe)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latin typeface="+mn-lt"/>
                        </a:rPr>
                        <a:t>Genera un archivo ejecutable (*.exe)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7411292"/>
                  </a:ext>
                </a:extLst>
              </a:tr>
              <a:tr h="1340816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latin typeface="+mn-lt"/>
                        </a:rPr>
                        <a:t>Si lo quieres volver a ejecutar necesitas que el intérprete lo vuelva a traducir y ejecutar instrucción por instrucción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latin typeface="+mn-lt"/>
                        </a:rPr>
                        <a:t>Si lo quieres ejecutar basta invocar al archivo ejecutable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altLang="es-MX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88285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2141463"/>
      </p:ext>
    </p:extLst>
  </p:cSld>
  <p:clrMapOvr>
    <a:masterClrMapping/>
  </p:clrMapOvr>
  <p:transition>
    <p:cover dir="r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>
            <a:extLst>
              <a:ext uri="{FF2B5EF4-FFF2-40B4-BE49-F238E27FC236}">
                <a16:creationId xmlns:a16="http://schemas.microsoft.com/office/drawing/2014/main" id="{524FE585-CA21-4414-B3E0-2B858BD8E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7700" y="5761038"/>
            <a:ext cx="2590800" cy="10525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MX"/>
          </a:p>
        </p:txBody>
      </p:sp>
      <p:sp>
        <p:nvSpPr>
          <p:cNvPr id="109571" name="Rectangle 3">
            <a:extLst>
              <a:ext uri="{FF2B5EF4-FFF2-40B4-BE49-F238E27FC236}">
                <a16:creationId xmlns:a16="http://schemas.microsoft.com/office/drawing/2014/main" id="{9BC1E2CF-9BB2-41D7-A6D2-D5998589CD49}"/>
              </a:ext>
            </a:extLst>
          </p:cNvPr>
          <p:cNvSpPr>
            <a:spLocks noGrp="1" noChangeArrowheads="1"/>
          </p:cNvSpPr>
          <p:nvPr>
            <p:ph type="title" sz="quarter"/>
          </p:nvPr>
        </p:nvSpPr>
        <p:spPr>
          <a:xfrm>
            <a:off x="4284663" y="0"/>
            <a:ext cx="4932362" cy="1484313"/>
          </a:xfrm>
          <a:noFill/>
          <a:ln/>
        </p:spPr>
        <p:txBody>
          <a:bodyPr lIns="92075" tIns="46038" rIns="92075" bIns="46038"/>
          <a:lstStyle/>
          <a:p>
            <a:r>
              <a:rPr lang="es-ES_tradnl" altLang="es-MX" sz="3600" b="1" dirty="0">
                <a:solidFill>
                  <a:srgbClr val="002060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Programa </a:t>
            </a:r>
            <a:br>
              <a:rPr lang="es-ES_tradnl" altLang="es-MX" sz="3600" b="1" dirty="0">
                <a:solidFill>
                  <a:srgbClr val="002060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</a:br>
            <a:r>
              <a:rPr lang="es-ES_tradnl" altLang="es-MX" sz="3600" b="1" dirty="0">
                <a:solidFill>
                  <a:srgbClr val="002060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compilado</a:t>
            </a:r>
          </a:p>
        </p:txBody>
      </p:sp>
      <p:pic>
        <p:nvPicPr>
          <p:cNvPr id="109573" name="Picture 5" descr="floppydisk">
            <a:extLst>
              <a:ext uri="{FF2B5EF4-FFF2-40B4-BE49-F238E27FC236}">
                <a16:creationId xmlns:a16="http://schemas.microsoft.com/office/drawing/2014/main" id="{506651AA-038E-424A-A2F0-92C33AF43DA5}"/>
              </a:ext>
            </a:extLst>
          </p:cNvPr>
          <p:cNvPicPr>
            <a:picLocks noGrp="1" noChangeAspect="1" noChangeArrowheads="1" noCrop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4388" y="3860800"/>
            <a:ext cx="952500" cy="9525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9575" name="Picture 7" descr="document_on">
            <a:extLst>
              <a:ext uri="{FF2B5EF4-FFF2-40B4-BE49-F238E27FC236}">
                <a16:creationId xmlns:a16="http://schemas.microsoft.com/office/drawing/2014/main" id="{D7C5FD35-E383-4F76-ACB0-492F4145CE0E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547813" y="1412875"/>
            <a:ext cx="1368425" cy="13684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9576" name="Picture 8" descr="test">
            <a:extLst>
              <a:ext uri="{FF2B5EF4-FFF2-40B4-BE49-F238E27FC236}">
                <a16:creationId xmlns:a16="http://schemas.microsoft.com/office/drawing/2014/main" id="{BBA202EA-BA8A-458F-8D7D-1B7B6A1C40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650" y="4724400"/>
            <a:ext cx="827088" cy="936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9577" name="Picture 9" descr="welcome">
            <a:extLst>
              <a:ext uri="{FF2B5EF4-FFF2-40B4-BE49-F238E27FC236}">
                <a16:creationId xmlns:a16="http://schemas.microsoft.com/office/drawing/2014/main" id="{58F32ECC-31AF-49B3-BC77-2D84D36E8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413" y="4437063"/>
            <a:ext cx="1179512" cy="1223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9578" name="Picture 10" descr="test4">
            <a:extLst>
              <a:ext uri="{FF2B5EF4-FFF2-40B4-BE49-F238E27FC236}">
                <a16:creationId xmlns:a16="http://schemas.microsoft.com/office/drawing/2014/main" id="{7C21CA3B-7888-41D1-96B5-DF249DFEC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025" y="2492375"/>
            <a:ext cx="1439863" cy="112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9579" name="Picture 11" descr="test6">
            <a:extLst>
              <a:ext uri="{FF2B5EF4-FFF2-40B4-BE49-F238E27FC236}">
                <a16:creationId xmlns:a16="http://schemas.microsoft.com/office/drawing/2014/main" id="{823C938F-5291-4201-A6A5-F70B38E65E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875" y="3068638"/>
            <a:ext cx="1223963" cy="127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580" name="Text Box 12">
            <a:extLst>
              <a:ext uri="{FF2B5EF4-FFF2-40B4-BE49-F238E27FC236}">
                <a16:creationId xmlns:a16="http://schemas.microsoft.com/office/drawing/2014/main" id="{1D1FF5FF-FA65-499D-A268-804A2EBA7E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773238"/>
            <a:ext cx="183515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s-MX" altLang="es-MX" sz="1800" b="1" dirty="0">
                <a:latin typeface="Arial" panose="020B0604020202020204" pitchFamily="34" charset="0"/>
              </a:rPr>
              <a:t>Programa</a:t>
            </a:r>
            <a:r>
              <a:rPr lang="es-MX" altLang="es-MX" sz="1800" dirty="0">
                <a:latin typeface="Arial" panose="020B0604020202020204" pitchFamily="34" charset="0"/>
              </a:rPr>
              <a:t> (Código fuente)</a:t>
            </a:r>
          </a:p>
        </p:txBody>
      </p:sp>
      <p:sp>
        <p:nvSpPr>
          <p:cNvPr id="109581" name="Text Box 13">
            <a:extLst>
              <a:ext uri="{FF2B5EF4-FFF2-40B4-BE49-F238E27FC236}">
                <a16:creationId xmlns:a16="http://schemas.microsoft.com/office/drawing/2014/main" id="{93FF725B-31EF-4812-BC3F-17F322C21E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2988" y="3429000"/>
            <a:ext cx="133191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s-MX" altLang="es-MX" sz="1800" b="1">
                <a:latin typeface="Arial" panose="020B0604020202020204" pitchFamily="34" charset="0"/>
              </a:rPr>
              <a:t>Intérprete</a:t>
            </a:r>
            <a:endParaRPr lang="es-MX" altLang="es-MX" sz="1800">
              <a:latin typeface="Arial" panose="020B0604020202020204" pitchFamily="34" charset="0"/>
            </a:endParaRPr>
          </a:p>
        </p:txBody>
      </p:sp>
      <p:sp>
        <p:nvSpPr>
          <p:cNvPr id="109582" name="Line 14">
            <a:extLst>
              <a:ext uri="{FF2B5EF4-FFF2-40B4-BE49-F238E27FC236}">
                <a16:creationId xmlns:a16="http://schemas.microsoft.com/office/drawing/2014/main" id="{ED4D8248-7A91-42FF-923C-52E2BBAAAC86}"/>
              </a:ext>
            </a:extLst>
          </p:cNvPr>
          <p:cNvSpPr>
            <a:spLocks noChangeShapeType="1"/>
          </p:cNvSpPr>
          <p:nvPr/>
        </p:nvSpPr>
        <p:spPr bwMode="auto">
          <a:xfrm>
            <a:off x="2124075" y="2636838"/>
            <a:ext cx="0" cy="646112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MX"/>
          </a:p>
        </p:txBody>
      </p:sp>
      <p:sp>
        <p:nvSpPr>
          <p:cNvPr id="109583" name="Line 15">
            <a:extLst>
              <a:ext uri="{FF2B5EF4-FFF2-40B4-BE49-F238E27FC236}">
                <a16:creationId xmlns:a16="http://schemas.microsoft.com/office/drawing/2014/main" id="{89A6BDC4-9DE9-42E9-825B-A1EE5EADEBB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403350" y="4005263"/>
            <a:ext cx="576263" cy="576262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MX"/>
          </a:p>
        </p:txBody>
      </p:sp>
      <p:sp>
        <p:nvSpPr>
          <p:cNvPr id="109584" name="Line 16">
            <a:extLst>
              <a:ext uri="{FF2B5EF4-FFF2-40B4-BE49-F238E27FC236}">
                <a16:creationId xmlns:a16="http://schemas.microsoft.com/office/drawing/2014/main" id="{2D2D096D-22FB-4F81-B644-7BBBC1D92257}"/>
              </a:ext>
            </a:extLst>
          </p:cNvPr>
          <p:cNvSpPr>
            <a:spLocks noChangeShapeType="1"/>
          </p:cNvSpPr>
          <p:nvPr/>
        </p:nvSpPr>
        <p:spPr bwMode="auto">
          <a:xfrm>
            <a:off x="1979613" y="4005263"/>
            <a:ext cx="720725" cy="503237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MX"/>
          </a:p>
        </p:txBody>
      </p:sp>
      <p:sp>
        <p:nvSpPr>
          <p:cNvPr id="109585" name="Text Box 17">
            <a:extLst>
              <a:ext uri="{FF2B5EF4-FFF2-40B4-BE49-F238E27FC236}">
                <a16:creationId xmlns:a16="http://schemas.microsoft.com/office/drawing/2014/main" id="{34C6F9AE-C5B0-4E9A-B7FC-CA8A5A8276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750" y="5588000"/>
            <a:ext cx="187166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s-MX" altLang="es-MX" sz="1800" b="1">
                <a:latin typeface="Arial" panose="020B0604020202020204" pitchFamily="34" charset="0"/>
              </a:rPr>
              <a:t>Traduce     </a:t>
            </a:r>
            <a:r>
              <a:rPr lang="es-MX" altLang="es-MX" sz="1800">
                <a:latin typeface="Arial" panose="020B0604020202020204" pitchFamily="34" charset="0"/>
              </a:rPr>
              <a:t> y</a:t>
            </a:r>
          </a:p>
        </p:txBody>
      </p:sp>
      <p:sp>
        <p:nvSpPr>
          <p:cNvPr id="109586" name="Text Box 18">
            <a:extLst>
              <a:ext uri="{FF2B5EF4-FFF2-40B4-BE49-F238E27FC236}">
                <a16:creationId xmlns:a16="http://schemas.microsoft.com/office/drawing/2014/main" id="{195576B2-2B04-45EC-819E-057878DAB1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76488" y="5589588"/>
            <a:ext cx="1331912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s-MX" altLang="es-MX" sz="1800" b="1">
                <a:latin typeface="Arial" panose="020B0604020202020204" pitchFamily="34" charset="0"/>
              </a:rPr>
              <a:t>Ejecuta</a:t>
            </a:r>
            <a:endParaRPr lang="es-MX" altLang="es-MX" sz="1800">
              <a:latin typeface="Arial" panose="020B0604020202020204" pitchFamily="34" charset="0"/>
            </a:endParaRPr>
          </a:p>
        </p:txBody>
      </p:sp>
      <p:sp>
        <p:nvSpPr>
          <p:cNvPr id="109587" name="Text Box 19">
            <a:extLst>
              <a:ext uri="{FF2B5EF4-FFF2-40B4-BE49-F238E27FC236}">
                <a16:creationId xmlns:a16="http://schemas.microsoft.com/office/drawing/2014/main" id="{E919A082-6C2F-4AD8-BBA3-45898479BE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949950"/>
            <a:ext cx="45720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s-MX" altLang="es-MX" sz="1800">
                <a:latin typeface="Arial" panose="020B0604020202020204" pitchFamily="34" charset="0"/>
              </a:rPr>
              <a:t>Instrucción por instrucción del programa</a:t>
            </a:r>
          </a:p>
        </p:txBody>
      </p:sp>
      <p:sp>
        <p:nvSpPr>
          <p:cNvPr id="109588" name="Rectangle 20">
            <a:extLst>
              <a:ext uri="{FF2B5EF4-FFF2-40B4-BE49-F238E27FC236}">
                <a16:creationId xmlns:a16="http://schemas.microsoft.com/office/drawing/2014/main" id="{E146F216-83E3-41D3-BC32-52DF8BA493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40313" y="5083175"/>
            <a:ext cx="2590800" cy="105251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MX"/>
          </a:p>
        </p:txBody>
      </p:sp>
      <p:pic>
        <p:nvPicPr>
          <p:cNvPr id="109589" name="Picture 21" descr="document_on">
            <a:extLst>
              <a:ext uri="{FF2B5EF4-FFF2-40B4-BE49-F238E27FC236}">
                <a16:creationId xmlns:a16="http://schemas.microsoft.com/office/drawing/2014/main" id="{793B7E11-EF11-498B-BD32-767AEEA510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9813" y="1196975"/>
            <a:ext cx="1368425" cy="1368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9591" name="Picture 23" descr="welcome">
            <a:extLst>
              <a:ext uri="{FF2B5EF4-FFF2-40B4-BE49-F238E27FC236}">
                <a16:creationId xmlns:a16="http://schemas.microsoft.com/office/drawing/2014/main" id="{827D9629-FAA2-4998-B224-77A3B569C0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5825" y="5634038"/>
            <a:ext cx="1179513" cy="1223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593" name="Text Box 25">
            <a:extLst>
              <a:ext uri="{FF2B5EF4-FFF2-40B4-BE49-F238E27FC236}">
                <a16:creationId xmlns:a16="http://schemas.microsoft.com/office/drawing/2014/main" id="{2948A807-2E73-459E-A89A-5008F352ED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56100" y="1484313"/>
            <a:ext cx="20510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s-MX" altLang="es-MX" sz="1800" b="1" dirty="0">
                <a:latin typeface="Arial" panose="020B0604020202020204" pitchFamily="34" charset="0"/>
              </a:rPr>
              <a:t>Programa</a:t>
            </a:r>
            <a:r>
              <a:rPr lang="es-MX" altLang="es-MX" sz="1800" dirty="0">
                <a:latin typeface="Arial" panose="020B0604020202020204" pitchFamily="34" charset="0"/>
              </a:rPr>
              <a:t> (Código fuente)</a:t>
            </a:r>
          </a:p>
        </p:txBody>
      </p:sp>
      <p:sp>
        <p:nvSpPr>
          <p:cNvPr id="109594" name="Text Box 26">
            <a:extLst>
              <a:ext uri="{FF2B5EF4-FFF2-40B4-BE49-F238E27FC236}">
                <a16:creationId xmlns:a16="http://schemas.microsoft.com/office/drawing/2014/main" id="{BFC83DDB-F3F2-4A78-AAC8-C9366F5191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94313" y="2997200"/>
            <a:ext cx="165417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s-MX" altLang="es-MX" sz="1800" b="1">
                <a:latin typeface="Arial" panose="020B0604020202020204" pitchFamily="34" charset="0"/>
              </a:rPr>
              <a:t>Compilador</a:t>
            </a:r>
            <a:endParaRPr lang="es-MX" altLang="es-MX" sz="1800">
              <a:latin typeface="Arial" panose="020B0604020202020204" pitchFamily="34" charset="0"/>
            </a:endParaRPr>
          </a:p>
        </p:txBody>
      </p:sp>
      <p:sp>
        <p:nvSpPr>
          <p:cNvPr id="109595" name="Line 27">
            <a:extLst>
              <a:ext uri="{FF2B5EF4-FFF2-40B4-BE49-F238E27FC236}">
                <a16:creationId xmlns:a16="http://schemas.microsoft.com/office/drawing/2014/main" id="{E5764FAC-DB28-4C3E-B736-273CC713071D}"/>
              </a:ext>
            </a:extLst>
          </p:cNvPr>
          <p:cNvSpPr>
            <a:spLocks noChangeShapeType="1"/>
          </p:cNvSpPr>
          <p:nvPr/>
        </p:nvSpPr>
        <p:spPr bwMode="auto">
          <a:xfrm>
            <a:off x="6696075" y="2349500"/>
            <a:ext cx="0" cy="574675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MX"/>
          </a:p>
        </p:txBody>
      </p:sp>
      <p:sp>
        <p:nvSpPr>
          <p:cNvPr id="109597" name="Line 29">
            <a:extLst>
              <a:ext uri="{FF2B5EF4-FFF2-40B4-BE49-F238E27FC236}">
                <a16:creationId xmlns:a16="http://schemas.microsoft.com/office/drawing/2014/main" id="{68574463-F72D-4149-8DE5-0D8D7AE1CC1E}"/>
              </a:ext>
            </a:extLst>
          </p:cNvPr>
          <p:cNvSpPr>
            <a:spLocks noChangeShapeType="1"/>
          </p:cNvSpPr>
          <p:nvPr/>
        </p:nvSpPr>
        <p:spPr bwMode="auto">
          <a:xfrm>
            <a:off x="7740650" y="5373688"/>
            <a:ext cx="0" cy="43180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MX"/>
          </a:p>
        </p:txBody>
      </p:sp>
      <p:sp>
        <p:nvSpPr>
          <p:cNvPr id="109598" name="Text Box 30">
            <a:extLst>
              <a:ext uri="{FF2B5EF4-FFF2-40B4-BE49-F238E27FC236}">
                <a16:creationId xmlns:a16="http://schemas.microsoft.com/office/drawing/2014/main" id="{B12245A0-20AA-4732-AD3D-EC0AAD504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76825" y="4652963"/>
            <a:ext cx="1223963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s-MX" altLang="es-MX" sz="1800" b="1">
                <a:latin typeface="Arial" panose="020B0604020202020204" pitchFamily="34" charset="0"/>
              </a:rPr>
              <a:t>Traduce </a:t>
            </a:r>
            <a:r>
              <a:rPr lang="es-MX" altLang="es-MX" sz="1800">
                <a:latin typeface="Arial" panose="020B0604020202020204" pitchFamily="34" charset="0"/>
              </a:rPr>
              <a:t>todo el programa</a:t>
            </a:r>
          </a:p>
        </p:txBody>
      </p:sp>
      <p:sp>
        <p:nvSpPr>
          <p:cNvPr id="109599" name="Text Box 31">
            <a:extLst>
              <a:ext uri="{FF2B5EF4-FFF2-40B4-BE49-F238E27FC236}">
                <a16:creationId xmlns:a16="http://schemas.microsoft.com/office/drawing/2014/main" id="{8BCE4C0C-CA21-47C3-9214-25E7FF3C71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48375" y="5949950"/>
            <a:ext cx="13319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s-MX" altLang="es-MX" sz="1800" b="1">
                <a:latin typeface="Arial" panose="020B0604020202020204" pitchFamily="34" charset="0"/>
              </a:rPr>
              <a:t>Ejecuta</a:t>
            </a:r>
            <a:endParaRPr lang="es-MX" altLang="es-MX" sz="1800">
              <a:latin typeface="Arial" panose="020B0604020202020204" pitchFamily="34" charset="0"/>
            </a:endParaRPr>
          </a:p>
        </p:txBody>
      </p:sp>
      <p:pic>
        <p:nvPicPr>
          <p:cNvPr id="109601" name="Picture 33" descr="test">
            <a:extLst>
              <a:ext uri="{FF2B5EF4-FFF2-40B4-BE49-F238E27FC236}">
                <a16:creationId xmlns:a16="http://schemas.microsoft.com/office/drawing/2014/main" id="{DD746C29-E81F-4387-97F1-F7C193E98B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725" y="3787775"/>
            <a:ext cx="827088" cy="936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603" name="Text Box 35">
            <a:extLst>
              <a:ext uri="{FF2B5EF4-FFF2-40B4-BE49-F238E27FC236}">
                <a16:creationId xmlns:a16="http://schemas.microsoft.com/office/drawing/2014/main" id="{B6E92B09-87EF-410F-81E7-A426DCA1D0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99200" y="4791075"/>
            <a:ext cx="6492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s-MX" altLang="es-MX" sz="1800">
                <a:latin typeface="Arial" panose="020B0604020202020204" pitchFamily="34" charset="0"/>
              </a:rPr>
              <a:t>y</a:t>
            </a:r>
          </a:p>
        </p:txBody>
      </p:sp>
      <p:sp>
        <p:nvSpPr>
          <p:cNvPr id="109604" name="Text Box 36">
            <a:extLst>
              <a:ext uri="{FF2B5EF4-FFF2-40B4-BE49-F238E27FC236}">
                <a16:creationId xmlns:a16="http://schemas.microsoft.com/office/drawing/2014/main" id="{8801B12B-7A0F-45C3-B9DA-A19D686D3E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8125" y="4732338"/>
            <a:ext cx="2339975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s-MX" altLang="es-MX" sz="1800" b="1">
                <a:latin typeface="Arial" panose="020B0604020202020204" pitchFamily="34" charset="0"/>
              </a:rPr>
              <a:t>Genera archivo ejecutable (*.exe)</a:t>
            </a:r>
            <a:endParaRPr lang="es-MX" altLang="es-MX" sz="1800">
              <a:latin typeface="Arial" panose="020B0604020202020204" pitchFamily="34" charset="0"/>
            </a:endParaRPr>
          </a:p>
        </p:txBody>
      </p:sp>
      <p:sp>
        <p:nvSpPr>
          <p:cNvPr id="109605" name="Line 37">
            <a:extLst>
              <a:ext uri="{FF2B5EF4-FFF2-40B4-BE49-F238E27FC236}">
                <a16:creationId xmlns:a16="http://schemas.microsoft.com/office/drawing/2014/main" id="{1CBF91C6-A462-446F-AAC6-8BF478E7AD3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83300" y="3500438"/>
            <a:ext cx="576263" cy="576262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MX"/>
          </a:p>
        </p:txBody>
      </p:sp>
      <p:sp>
        <p:nvSpPr>
          <p:cNvPr id="109606" name="Line 38">
            <a:extLst>
              <a:ext uri="{FF2B5EF4-FFF2-40B4-BE49-F238E27FC236}">
                <a16:creationId xmlns:a16="http://schemas.microsoft.com/office/drawing/2014/main" id="{3BDEC567-C9B6-4F39-A142-57D49376F797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3500438"/>
            <a:ext cx="720725" cy="503237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MX"/>
          </a:p>
        </p:txBody>
      </p:sp>
      <p:sp>
        <p:nvSpPr>
          <p:cNvPr id="109607" name="Rectangle 39">
            <a:extLst>
              <a:ext uri="{FF2B5EF4-FFF2-40B4-BE49-F238E27FC236}">
                <a16:creationId xmlns:a16="http://schemas.microsoft.com/office/drawing/2014/main" id="{7ECD933B-46F5-4599-9D5B-276CE6B0DC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8313" y="188913"/>
            <a:ext cx="5184776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ctr"/>
          <a:lstStyle>
            <a:lvl1pPr algn="ctr">
              <a:defRPr sz="44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algn="ctr">
              <a:defRPr sz="4400">
                <a:solidFill>
                  <a:schemeClr val="tx2"/>
                </a:solidFill>
                <a:latin typeface="Arial" panose="020B0604020202020204" pitchFamily="34" charset="0"/>
              </a:defRPr>
            </a:lvl2pPr>
            <a:lvl3pPr algn="ctr">
              <a:defRPr sz="4400">
                <a:solidFill>
                  <a:schemeClr val="tx2"/>
                </a:solidFill>
                <a:latin typeface="Arial" panose="020B0604020202020204" pitchFamily="34" charset="0"/>
              </a:defRPr>
            </a:lvl3pPr>
            <a:lvl4pPr algn="ctr">
              <a:defRPr sz="4400">
                <a:solidFill>
                  <a:schemeClr val="tx2"/>
                </a:solidFill>
                <a:latin typeface="Arial" panose="020B0604020202020204" pitchFamily="34" charset="0"/>
              </a:defRPr>
            </a:lvl4pPr>
            <a:lvl5pPr algn="ctr">
              <a:defRPr sz="4400">
                <a:solidFill>
                  <a:schemeClr val="tx2"/>
                </a:solidFill>
                <a:latin typeface="Arial" panose="020B0604020202020204" pitchFamily="34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anose="020B0604020202020204" pitchFamily="34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anose="020B0604020202020204" pitchFamily="34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anose="020B0604020202020204" pitchFamily="34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anose="020B0604020202020204" pitchFamily="34" charset="0"/>
              </a:defRPr>
            </a:lvl9pPr>
          </a:lstStyle>
          <a:p>
            <a:r>
              <a:rPr lang="es-ES_tradnl" altLang="es-MX" sz="3600" b="1" dirty="0">
                <a:solidFill>
                  <a:srgbClr val="002060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Programa </a:t>
            </a:r>
            <a:br>
              <a:rPr lang="es-ES_tradnl" altLang="es-MX" sz="3600" b="1" dirty="0">
                <a:solidFill>
                  <a:srgbClr val="002060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</a:br>
            <a:r>
              <a:rPr lang="es-ES_tradnl" altLang="es-MX" sz="3600" b="1" dirty="0">
                <a:solidFill>
                  <a:srgbClr val="002060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interpretado</a:t>
            </a:r>
          </a:p>
        </p:txBody>
      </p:sp>
    </p:spTree>
    <p:extLst>
      <p:ext uri="{BB962C8B-B14F-4D97-AF65-F5344CB8AC3E}">
        <p14:creationId xmlns:p14="http://schemas.microsoft.com/office/powerpoint/2010/main" val="4284285530"/>
      </p:ext>
    </p:extLst>
  </p:cSld>
  <p:clrMapOvr>
    <a:masterClrMapping/>
  </p:clrMapOvr>
  <p:transition>
    <p:cover dir="r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ext Box 2066"/>
          <p:cNvSpPr txBox="1">
            <a:spLocks noChangeArrowheads="1"/>
          </p:cNvSpPr>
          <p:nvPr/>
        </p:nvSpPr>
        <p:spPr bwMode="auto">
          <a:xfrm>
            <a:off x="981075" y="1700808"/>
            <a:ext cx="7181850" cy="11318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762000" eaLnBrk="0" hangingPunct="0">
              <a:defRPr sz="16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defTabSz="762000" eaLnBrk="0" hangingPunct="0">
              <a:defRPr sz="16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defTabSz="762000" eaLnBrk="0" hangingPunct="0">
              <a:defRPr sz="16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defTabSz="762000" eaLnBrk="0" hangingPunct="0">
              <a:defRPr sz="16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defTabSz="762000" eaLnBrk="0" hangingPunct="0">
              <a:defRPr sz="16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7620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Usa </a:t>
            </a:r>
            <a:r>
              <a:rPr lang="es-ES" sz="2400" b="1" dirty="0" err="1">
                <a:solidFill>
                  <a:schemeClr val="accent6">
                    <a:lumMod val="75000"/>
                  </a:schemeClr>
                </a:solidFill>
              </a:rPr>
              <a:t>Thonny</a:t>
            </a: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 y escribe un programa en </a:t>
            </a:r>
            <a:r>
              <a:rPr lang="es-ES" sz="2400" b="1" dirty="0">
                <a:solidFill>
                  <a:schemeClr val="accent6">
                    <a:lumMod val="75000"/>
                  </a:schemeClr>
                </a:solidFill>
              </a:rPr>
              <a:t>Python</a:t>
            </a:r>
            <a:r>
              <a:rPr lang="es-ES" sz="2400" dirty="0">
                <a:solidFill>
                  <a:schemeClr val="bg2">
                    <a:lumMod val="25000"/>
                  </a:schemeClr>
                </a:solidFill>
              </a:rPr>
              <a:t> que despliegue los siguientes mensajes: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611560" y="176387"/>
            <a:ext cx="7254806" cy="154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ctr"/>
          <a:lstStyle/>
          <a:p>
            <a:pPr algn="ctr" eaLnBrk="0" hangingPunct="0">
              <a:defRPr/>
            </a:pPr>
            <a:r>
              <a:rPr lang="es-ES_tradnl" sz="4400" b="1" dirty="0">
                <a:solidFill>
                  <a:srgbClr val="0070C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Actividad Grupal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848F9A5-B6F0-4C98-A06F-E18C20A909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118" y="2954580"/>
            <a:ext cx="7535540" cy="1728192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6" name="Imagen 15" descr="Imagen que contiene transporte, rueda&#10;&#10;Descripción generada automáticamente">
            <a:extLst>
              <a:ext uri="{FF2B5EF4-FFF2-40B4-BE49-F238E27FC236}">
                <a16:creationId xmlns:a16="http://schemas.microsoft.com/office/drawing/2014/main" id="{14B008E3-3B0D-4A93-8F78-AD57012B6C3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224" y="4437112"/>
            <a:ext cx="2359495" cy="1872208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517580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>
            <a:spLocks noChangeArrowheads="1"/>
          </p:cNvSpPr>
          <p:nvPr/>
        </p:nvSpPr>
        <p:spPr bwMode="auto">
          <a:xfrm>
            <a:off x="855705" y="45135"/>
            <a:ext cx="7254806" cy="154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ctr"/>
          <a:lstStyle/>
          <a:p>
            <a:pPr algn="ctr" eaLnBrk="0" hangingPunct="0">
              <a:defRPr/>
            </a:pPr>
            <a:r>
              <a:rPr lang="es-ES_tradnl" sz="44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Solución</a:t>
            </a:r>
          </a:p>
        </p:txBody>
      </p:sp>
      <p:pic>
        <p:nvPicPr>
          <p:cNvPr id="7" name="1 Imagen">
            <a:extLst>
              <a:ext uri="{FF2B5EF4-FFF2-40B4-BE49-F238E27FC236}">
                <a16:creationId xmlns:a16="http://schemas.microsoft.com/office/drawing/2014/main" id="{11B4B610-15F4-4D9E-A4D8-69EC6B708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6415" y="77792"/>
            <a:ext cx="1728192" cy="1603861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9C72AF72-B4A1-DD10-75F7-0D249D836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983" y="1914313"/>
            <a:ext cx="7108033" cy="3542876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E22303F7-A6D4-4681-A65F-9556A9AE871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8494" y="5157192"/>
            <a:ext cx="855044" cy="855044"/>
          </a:xfrm>
          <a:prstGeom prst="rect">
            <a:avLst/>
          </a:prstGeom>
          <a:effectLst>
            <a:outerShdw blurRad="50800" dist="50800" dir="5400000" algn="ctr" rotWithShape="0">
              <a:schemeClr val="bg1">
                <a:lumMod val="85000"/>
              </a:schemeClr>
            </a:outerShdw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18242530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 txBox="1">
            <a:spLocks noChangeArrowheads="1"/>
          </p:cNvSpPr>
          <p:nvPr/>
        </p:nvSpPr>
        <p:spPr>
          <a:xfrm>
            <a:off x="395536" y="701823"/>
            <a:ext cx="8014344" cy="1143001"/>
          </a:xfrm>
          <a:prstGeom prst="rect">
            <a:avLst/>
          </a:prstGeom>
        </p:spPr>
        <p:txBody>
          <a:bodyPr lIns="92075" tIns="46038" rIns="92075" bIns="46038"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 </a:t>
            </a:r>
            <a:r>
              <a:rPr lang="es-ES_tradnl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Secuencias de escape</a:t>
            </a:r>
          </a:p>
        </p:txBody>
      </p:sp>
      <p:graphicFrame>
        <p:nvGraphicFramePr>
          <p:cNvPr id="2" name="1 Tabla"/>
          <p:cNvGraphicFramePr>
            <a:graphicFrameLocks noGrp="1"/>
          </p:cNvGraphicFramePr>
          <p:nvPr/>
        </p:nvGraphicFramePr>
        <p:xfrm>
          <a:off x="1475656" y="2276872"/>
          <a:ext cx="6096000" cy="2376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92088">
                <a:tc>
                  <a:txBody>
                    <a:bodyPr/>
                    <a:lstStyle/>
                    <a:p>
                      <a:pPr algn="ctr"/>
                      <a:r>
                        <a:rPr lang="es-MX" sz="2400" dirty="0"/>
                        <a:t>Secuencia</a:t>
                      </a:r>
                    </a:p>
                  </a:txBody>
                  <a:tcPr anchor="ctr"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2400" dirty="0"/>
                        <a:t>Nombre</a:t>
                      </a:r>
                    </a:p>
                  </a:txBody>
                  <a:tcPr anchor="ctr"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ctr"/>
                      <a:r>
                        <a:rPr lang="es-MX" sz="2400" b="1" dirty="0"/>
                        <a:t>\n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2400" dirty="0"/>
                        <a:t>Salto</a:t>
                      </a:r>
                      <a:r>
                        <a:rPr lang="es-MX" sz="2400" baseline="0" dirty="0"/>
                        <a:t>  de línea</a:t>
                      </a:r>
                      <a:endParaRPr lang="es-MX" sz="24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ctr"/>
                      <a:r>
                        <a:rPr lang="es-MX" sz="2400" b="1" dirty="0"/>
                        <a:t>\t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2400" dirty="0"/>
                        <a:t>Tabulación horizontal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48604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object 38"/>
          <p:cNvSpPr txBox="1"/>
          <p:nvPr/>
        </p:nvSpPr>
        <p:spPr>
          <a:xfrm>
            <a:off x="1907704" y="548680"/>
            <a:ext cx="5599642" cy="125793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algn="ctr"/>
            <a:r>
              <a:rPr lang="es-MX" sz="44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rPr>
              <a:t>Comentarios en Python</a:t>
            </a:r>
          </a:p>
        </p:txBody>
      </p:sp>
      <p:sp>
        <p:nvSpPr>
          <p:cNvPr id="40" name="object 40"/>
          <p:cNvSpPr txBox="1">
            <a:spLocks noGrp="1"/>
          </p:cNvSpPr>
          <p:nvPr>
            <p:ph type="sldNum" sz="quarter" idx="7"/>
          </p:nvPr>
        </p:nvSpPr>
        <p:spPr>
          <a:xfrm>
            <a:off x="79756" y="4869179"/>
            <a:ext cx="206248" cy="2032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defPPr>
              <a:defRPr lang="es-MX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400"/>
            <a:fld id="{81D60167-4931-47E6-BA6A-407CBD079E47}" type="slidenum">
              <a:rPr lang="es-MX" sz="1200" spc="-10" smtClean="0">
                <a:solidFill>
                  <a:srgbClr val="18BAD4"/>
                </a:solidFill>
                <a:latin typeface="Calibri"/>
                <a:cs typeface="Calibri"/>
              </a:rPr>
              <a:pPr marL="25400"/>
              <a:t>19</a:t>
            </a:fld>
            <a:endParaRPr sz="1200">
              <a:latin typeface="Calibri"/>
              <a:cs typeface="Calibri"/>
            </a:endParaRP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DB0A9327-5906-44BC-AD58-2C6D76954B77}"/>
              </a:ext>
            </a:extLst>
          </p:cNvPr>
          <p:cNvSpPr txBox="1"/>
          <p:nvPr/>
        </p:nvSpPr>
        <p:spPr>
          <a:xfrm>
            <a:off x="1475656" y="1585237"/>
            <a:ext cx="7076980" cy="338554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MX" sz="2400" b="1" dirty="0">
                <a:solidFill>
                  <a:schemeClr val="accent6">
                    <a:lumMod val="75000"/>
                  </a:schemeClr>
                </a:solidFill>
              </a:rPr>
              <a:t># Este es un comentario en Python de una sola línea</a:t>
            </a:r>
          </a:p>
          <a:p>
            <a:pPr algn="just"/>
            <a:r>
              <a:rPr lang="es-MX" sz="2400" b="1" dirty="0">
                <a:solidFill>
                  <a:schemeClr val="accent6">
                    <a:lumMod val="75000"/>
                  </a:schemeClr>
                </a:solidFill>
              </a:rPr>
              <a:t> </a:t>
            </a:r>
          </a:p>
          <a:p>
            <a:pPr algn="just"/>
            <a:r>
              <a:rPr lang="es-MX" sz="2400" b="1" dirty="0">
                <a:solidFill>
                  <a:schemeClr val="accent6">
                    <a:lumMod val="75000"/>
                  </a:schemeClr>
                </a:solidFill>
              </a:rPr>
              <a:t># Este es otro comentario en Python</a:t>
            </a:r>
          </a:p>
          <a:p>
            <a:pPr algn="just"/>
            <a:r>
              <a:rPr lang="es-MX" sz="2400" b="1" dirty="0">
                <a:solidFill>
                  <a:schemeClr val="accent6">
                    <a:lumMod val="75000"/>
                  </a:schemeClr>
                </a:solidFill>
              </a:rPr>
              <a:t># aunque lo hemos escrito en dos líneas</a:t>
            </a:r>
          </a:p>
          <a:p>
            <a:pPr algn="just"/>
            <a:r>
              <a:rPr lang="es-MX" sz="2400" b="1" dirty="0">
                <a:solidFill>
                  <a:schemeClr val="accent6">
                    <a:lumMod val="75000"/>
                  </a:schemeClr>
                </a:solidFill>
              </a:rPr>
              <a:t> </a:t>
            </a:r>
          </a:p>
          <a:p>
            <a:pPr algn="just"/>
            <a:r>
              <a:rPr lang="es-MX" sz="2400" b="1" dirty="0">
                <a:solidFill>
                  <a:schemeClr val="accent5">
                    <a:lumMod val="75000"/>
                  </a:schemeClr>
                </a:solidFill>
              </a:rPr>
              <a:t>""" Este es un comentario multilínea. La</a:t>
            </a:r>
          </a:p>
          <a:p>
            <a:pPr algn="just"/>
            <a:r>
              <a:rPr lang="es-MX" sz="2400" b="1" dirty="0">
                <a:solidFill>
                  <a:schemeClr val="accent5">
                    <a:lumMod val="75000"/>
                  </a:schemeClr>
                </a:solidFill>
              </a:rPr>
              <a:t>siguiente parte realiza una serie</a:t>
            </a:r>
          </a:p>
          <a:p>
            <a:pPr algn="just"/>
            <a:r>
              <a:rPr lang="es-MX" sz="2400" b="1" dirty="0">
                <a:solidFill>
                  <a:schemeClr val="accent5">
                    <a:lumMod val="75000"/>
                  </a:schemeClr>
                </a:solidFill>
              </a:rPr>
              <a:t>de cosas muy interesantes """</a:t>
            </a:r>
          </a:p>
          <a:p>
            <a:endParaRPr lang="es-MX" sz="1000" dirty="0"/>
          </a:p>
        </p:txBody>
      </p:sp>
      <p:pic>
        <p:nvPicPr>
          <p:cNvPr id="39" name="Imagen 38">
            <a:extLst>
              <a:ext uri="{FF2B5EF4-FFF2-40B4-BE49-F238E27FC236}">
                <a16:creationId xmlns:a16="http://schemas.microsoft.com/office/drawing/2014/main" id="{D4842E8A-D733-4630-9333-CA93F304ED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813" y="4581128"/>
            <a:ext cx="3410886" cy="1886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4371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18931" y="4978146"/>
            <a:ext cx="684276" cy="59436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15468" y="1035558"/>
            <a:ext cx="1089660" cy="943355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0" y="1704595"/>
            <a:ext cx="550164" cy="585215"/>
          </a:xfrm>
          <a:custGeom>
            <a:avLst/>
            <a:gdLst/>
            <a:ahLst/>
            <a:cxnLst/>
            <a:rect l="l" t="t" r="r" b="b"/>
            <a:pathLst>
              <a:path w="550164" h="585215">
                <a:moveTo>
                  <a:pt x="0" y="507832"/>
                </a:moveTo>
                <a:lnTo>
                  <a:pt x="44383" y="585215"/>
                </a:lnTo>
                <a:lnTo>
                  <a:pt x="382333" y="585215"/>
                </a:lnTo>
                <a:lnTo>
                  <a:pt x="550164" y="292607"/>
                </a:lnTo>
                <a:lnTo>
                  <a:pt x="382333" y="0"/>
                </a:lnTo>
                <a:lnTo>
                  <a:pt x="44383" y="0"/>
                </a:lnTo>
                <a:lnTo>
                  <a:pt x="0" y="77383"/>
                </a:lnTo>
              </a:path>
            </a:pathLst>
          </a:custGeom>
          <a:ln w="9144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20" y="2018538"/>
            <a:ext cx="353567" cy="306324"/>
          </a:xfrm>
          <a:custGeom>
            <a:avLst/>
            <a:gdLst/>
            <a:ahLst/>
            <a:cxnLst/>
            <a:rect l="l" t="t" r="r" b="b"/>
            <a:pathLst>
              <a:path w="353568" h="306324">
                <a:moveTo>
                  <a:pt x="265722" y="0"/>
                </a:moveTo>
                <a:lnTo>
                  <a:pt x="87845" y="0"/>
                </a:lnTo>
                <a:lnTo>
                  <a:pt x="0" y="153162"/>
                </a:lnTo>
                <a:lnTo>
                  <a:pt x="87845" y="306324"/>
                </a:lnTo>
                <a:lnTo>
                  <a:pt x="265722" y="306324"/>
                </a:lnTo>
                <a:lnTo>
                  <a:pt x="353567" y="153162"/>
                </a:lnTo>
                <a:lnTo>
                  <a:pt x="265722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208533" y="857251"/>
            <a:ext cx="673607" cy="452627"/>
          </a:xfrm>
          <a:custGeom>
            <a:avLst/>
            <a:gdLst/>
            <a:ahLst/>
            <a:cxnLst/>
            <a:rect l="l" t="t" r="r" b="b"/>
            <a:pathLst>
              <a:path w="673607" h="452627">
                <a:moveTo>
                  <a:pt x="0" y="160781"/>
                </a:moveTo>
                <a:lnTo>
                  <a:pt x="167386" y="452627"/>
                </a:lnTo>
                <a:lnTo>
                  <a:pt x="506222" y="452627"/>
                </a:lnTo>
                <a:lnTo>
                  <a:pt x="673607" y="160781"/>
                </a:lnTo>
                <a:lnTo>
                  <a:pt x="581393" y="0"/>
                </a:lnTo>
              </a:path>
            </a:pathLst>
          </a:custGeom>
          <a:ln w="76200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208532" y="857251"/>
            <a:ext cx="92214" cy="160781"/>
          </a:xfrm>
          <a:custGeom>
            <a:avLst/>
            <a:gdLst/>
            <a:ahLst/>
            <a:cxnLst/>
            <a:rect l="l" t="t" r="r" b="b"/>
            <a:pathLst>
              <a:path w="92214" h="160781">
                <a:moveTo>
                  <a:pt x="92214" y="0"/>
                </a:moveTo>
                <a:lnTo>
                  <a:pt x="0" y="160781"/>
                </a:lnTo>
              </a:path>
            </a:pathLst>
          </a:custGeom>
          <a:ln w="76199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48411" y="907542"/>
            <a:ext cx="294132" cy="254508"/>
          </a:xfrm>
          <a:custGeom>
            <a:avLst/>
            <a:gdLst/>
            <a:ahLst/>
            <a:cxnLst/>
            <a:rect l="l" t="t" r="r" b="b"/>
            <a:pathLst>
              <a:path w="294131" h="254508">
                <a:moveTo>
                  <a:pt x="221145" y="0"/>
                </a:moveTo>
                <a:lnTo>
                  <a:pt x="72986" y="0"/>
                </a:lnTo>
                <a:lnTo>
                  <a:pt x="0" y="127254"/>
                </a:lnTo>
                <a:lnTo>
                  <a:pt x="72986" y="254508"/>
                </a:lnTo>
                <a:lnTo>
                  <a:pt x="221145" y="254508"/>
                </a:lnTo>
                <a:lnTo>
                  <a:pt x="294132" y="127254"/>
                </a:lnTo>
                <a:lnTo>
                  <a:pt x="221145" y="0"/>
                </a:lnTo>
                <a:close/>
              </a:path>
            </a:pathLst>
          </a:custGeom>
          <a:solidFill>
            <a:srgbClr val="00E0C5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763000" y="5578602"/>
            <a:ext cx="381000" cy="234696"/>
          </a:xfrm>
          <a:custGeom>
            <a:avLst/>
            <a:gdLst/>
            <a:ahLst/>
            <a:cxnLst/>
            <a:rect l="l" t="t" r="r" b="b"/>
            <a:pathLst>
              <a:path w="381000" h="234696">
                <a:moveTo>
                  <a:pt x="0" y="0"/>
                </a:moveTo>
                <a:lnTo>
                  <a:pt x="134620" y="234696"/>
                </a:lnTo>
                <a:lnTo>
                  <a:pt x="381000" y="234696"/>
                </a:lnTo>
              </a:path>
            </a:pathLst>
          </a:custGeom>
          <a:ln w="9144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8763000" y="5343906"/>
            <a:ext cx="381000" cy="234695"/>
          </a:xfrm>
          <a:custGeom>
            <a:avLst/>
            <a:gdLst/>
            <a:ahLst/>
            <a:cxnLst/>
            <a:rect l="l" t="t" r="r" b="b"/>
            <a:pathLst>
              <a:path w="381000" h="234696">
                <a:moveTo>
                  <a:pt x="381000" y="0"/>
                </a:moveTo>
                <a:lnTo>
                  <a:pt x="134620" y="0"/>
                </a:lnTo>
                <a:lnTo>
                  <a:pt x="0" y="234696"/>
                </a:lnTo>
              </a:path>
            </a:pathLst>
          </a:custGeom>
          <a:ln w="9144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8523731" y="5598414"/>
            <a:ext cx="283464" cy="245364"/>
          </a:xfrm>
          <a:custGeom>
            <a:avLst/>
            <a:gdLst/>
            <a:ahLst/>
            <a:cxnLst/>
            <a:rect l="l" t="t" r="r" b="b"/>
            <a:pathLst>
              <a:path w="283464" h="245363">
                <a:moveTo>
                  <a:pt x="213106" y="0"/>
                </a:moveTo>
                <a:lnTo>
                  <a:pt x="70358" y="0"/>
                </a:lnTo>
                <a:lnTo>
                  <a:pt x="0" y="122682"/>
                </a:lnTo>
                <a:lnTo>
                  <a:pt x="70358" y="245364"/>
                </a:lnTo>
                <a:lnTo>
                  <a:pt x="213106" y="245364"/>
                </a:lnTo>
                <a:lnTo>
                  <a:pt x="283464" y="122682"/>
                </a:lnTo>
                <a:lnTo>
                  <a:pt x="213106" y="0"/>
                </a:lnTo>
                <a:close/>
              </a:path>
            </a:pathLst>
          </a:custGeom>
          <a:solidFill>
            <a:srgbClr val="3192E0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8322565" y="4485894"/>
            <a:ext cx="542543" cy="469392"/>
          </a:xfrm>
          <a:custGeom>
            <a:avLst/>
            <a:gdLst/>
            <a:ahLst/>
            <a:cxnLst/>
            <a:rect l="l" t="t" r="r" b="b"/>
            <a:pathLst>
              <a:path w="542543" h="469392">
                <a:moveTo>
                  <a:pt x="407924" y="0"/>
                </a:moveTo>
                <a:lnTo>
                  <a:pt x="134619" y="0"/>
                </a:lnTo>
                <a:lnTo>
                  <a:pt x="0" y="234695"/>
                </a:lnTo>
                <a:lnTo>
                  <a:pt x="134619" y="469391"/>
                </a:lnTo>
                <a:lnTo>
                  <a:pt x="407924" y="469391"/>
                </a:lnTo>
                <a:lnTo>
                  <a:pt x="542543" y="234695"/>
                </a:lnTo>
                <a:lnTo>
                  <a:pt x="407924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8763761" y="4867655"/>
            <a:ext cx="237744" cy="205740"/>
          </a:xfrm>
          <a:custGeom>
            <a:avLst/>
            <a:gdLst/>
            <a:ahLst/>
            <a:cxnLst/>
            <a:rect l="l" t="t" r="r" b="b"/>
            <a:pathLst>
              <a:path w="237744" h="205739">
                <a:moveTo>
                  <a:pt x="0" y="102870"/>
                </a:moveTo>
                <a:lnTo>
                  <a:pt x="59055" y="205740"/>
                </a:lnTo>
                <a:lnTo>
                  <a:pt x="178689" y="205740"/>
                </a:lnTo>
                <a:lnTo>
                  <a:pt x="237744" y="102870"/>
                </a:lnTo>
                <a:lnTo>
                  <a:pt x="178689" y="0"/>
                </a:lnTo>
                <a:lnTo>
                  <a:pt x="59055" y="0"/>
                </a:lnTo>
                <a:lnTo>
                  <a:pt x="0" y="102870"/>
                </a:lnTo>
                <a:close/>
              </a:path>
            </a:pathLst>
          </a:custGeom>
          <a:ln w="19811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09827" y="1533905"/>
            <a:ext cx="2142744" cy="1856232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3232150" y="1996821"/>
            <a:ext cx="3932138" cy="128333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8000" b="1" dirty="0">
                <a:solidFill>
                  <a:srgbClr val="002060"/>
                </a:solidFill>
                <a:latin typeface="Calibri"/>
                <a:cs typeface="Calibri"/>
              </a:rPr>
              <a:t>Gracias</a:t>
            </a:r>
          </a:p>
        </p:txBody>
      </p:sp>
      <p:sp>
        <p:nvSpPr>
          <p:cNvPr id="16" name="object 16"/>
          <p:cNvSpPr/>
          <p:nvPr/>
        </p:nvSpPr>
        <p:spPr>
          <a:xfrm>
            <a:off x="1591055" y="2070353"/>
            <a:ext cx="780288" cy="778764"/>
          </a:xfrm>
          <a:custGeom>
            <a:avLst/>
            <a:gdLst/>
            <a:ahLst/>
            <a:cxnLst/>
            <a:rect l="l" t="t" r="r" b="b"/>
            <a:pathLst>
              <a:path w="780288" h="778764">
                <a:moveTo>
                  <a:pt x="410082" y="0"/>
                </a:moveTo>
                <a:lnTo>
                  <a:pt x="370205" y="0"/>
                </a:lnTo>
                <a:lnTo>
                  <a:pt x="311657" y="7493"/>
                </a:lnTo>
                <a:lnTo>
                  <a:pt x="274193" y="17525"/>
                </a:lnTo>
                <a:lnTo>
                  <a:pt x="255524" y="23622"/>
                </a:lnTo>
                <a:lnTo>
                  <a:pt x="220599" y="38608"/>
                </a:lnTo>
                <a:lnTo>
                  <a:pt x="204469" y="47371"/>
                </a:lnTo>
                <a:lnTo>
                  <a:pt x="188213" y="56007"/>
                </a:lnTo>
                <a:lnTo>
                  <a:pt x="142112" y="88392"/>
                </a:lnTo>
                <a:lnTo>
                  <a:pt x="100964" y="128143"/>
                </a:lnTo>
                <a:lnTo>
                  <a:pt x="66039" y="171704"/>
                </a:lnTo>
                <a:lnTo>
                  <a:pt x="38735" y="220218"/>
                </a:lnTo>
                <a:lnTo>
                  <a:pt x="17399" y="273685"/>
                </a:lnTo>
                <a:lnTo>
                  <a:pt x="7493" y="311023"/>
                </a:lnTo>
                <a:lnTo>
                  <a:pt x="2540" y="349631"/>
                </a:lnTo>
                <a:lnTo>
                  <a:pt x="0" y="369570"/>
                </a:lnTo>
                <a:lnTo>
                  <a:pt x="0" y="409321"/>
                </a:lnTo>
                <a:lnTo>
                  <a:pt x="2540" y="429260"/>
                </a:lnTo>
                <a:lnTo>
                  <a:pt x="4953" y="449072"/>
                </a:lnTo>
                <a:lnTo>
                  <a:pt x="17399" y="505079"/>
                </a:lnTo>
                <a:lnTo>
                  <a:pt x="38735" y="558546"/>
                </a:lnTo>
                <a:lnTo>
                  <a:pt x="66039" y="607060"/>
                </a:lnTo>
                <a:lnTo>
                  <a:pt x="100964" y="650621"/>
                </a:lnTo>
                <a:lnTo>
                  <a:pt x="128396" y="677926"/>
                </a:lnTo>
                <a:lnTo>
                  <a:pt x="172085" y="712851"/>
                </a:lnTo>
                <a:lnTo>
                  <a:pt x="220599" y="740156"/>
                </a:lnTo>
                <a:lnTo>
                  <a:pt x="274193" y="761365"/>
                </a:lnTo>
                <a:lnTo>
                  <a:pt x="311657" y="771271"/>
                </a:lnTo>
                <a:lnTo>
                  <a:pt x="370205" y="778764"/>
                </a:lnTo>
                <a:lnTo>
                  <a:pt x="410082" y="778764"/>
                </a:lnTo>
                <a:lnTo>
                  <a:pt x="449961" y="773811"/>
                </a:lnTo>
                <a:lnTo>
                  <a:pt x="506094" y="761365"/>
                </a:lnTo>
                <a:lnTo>
                  <a:pt x="559562" y="740156"/>
                </a:lnTo>
                <a:lnTo>
                  <a:pt x="608202" y="712851"/>
                </a:lnTo>
                <a:lnTo>
                  <a:pt x="651891" y="677926"/>
                </a:lnTo>
                <a:lnTo>
                  <a:pt x="679323" y="650621"/>
                </a:lnTo>
                <a:lnTo>
                  <a:pt x="682664" y="646938"/>
                </a:lnTo>
                <a:lnTo>
                  <a:pt x="390144" y="646938"/>
                </a:lnTo>
                <a:lnTo>
                  <a:pt x="361442" y="645668"/>
                </a:lnTo>
                <a:lnTo>
                  <a:pt x="306705" y="634492"/>
                </a:lnTo>
                <a:lnTo>
                  <a:pt x="254254" y="613283"/>
                </a:lnTo>
                <a:lnTo>
                  <a:pt x="206882" y="582168"/>
                </a:lnTo>
                <a:lnTo>
                  <a:pt x="183261" y="558546"/>
                </a:lnTo>
                <a:lnTo>
                  <a:pt x="180720" y="554863"/>
                </a:lnTo>
                <a:lnTo>
                  <a:pt x="179450" y="549910"/>
                </a:lnTo>
                <a:lnTo>
                  <a:pt x="178307" y="544830"/>
                </a:lnTo>
                <a:lnTo>
                  <a:pt x="179450" y="541147"/>
                </a:lnTo>
                <a:lnTo>
                  <a:pt x="180720" y="536194"/>
                </a:lnTo>
                <a:lnTo>
                  <a:pt x="203200" y="520065"/>
                </a:lnTo>
                <a:lnTo>
                  <a:pt x="757766" y="520065"/>
                </a:lnTo>
                <a:lnTo>
                  <a:pt x="762762" y="505079"/>
                </a:lnTo>
                <a:lnTo>
                  <a:pt x="767842" y="486410"/>
                </a:lnTo>
                <a:lnTo>
                  <a:pt x="772794" y="467741"/>
                </a:lnTo>
                <a:lnTo>
                  <a:pt x="775335" y="449072"/>
                </a:lnTo>
                <a:lnTo>
                  <a:pt x="775938" y="444119"/>
                </a:lnTo>
                <a:lnTo>
                  <a:pt x="230631" y="444119"/>
                </a:lnTo>
                <a:lnTo>
                  <a:pt x="221869" y="442849"/>
                </a:lnTo>
                <a:lnTo>
                  <a:pt x="189483" y="414274"/>
                </a:lnTo>
                <a:lnTo>
                  <a:pt x="185800" y="395605"/>
                </a:lnTo>
                <a:lnTo>
                  <a:pt x="186944" y="385699"/>
                </a:lnTo>
                <a:lnTo>
                  <a:pt x="213106" y="350774"/>
                </a:lnTo>
                <a:lnTo>
                  <a:pt x="230631" y="347091"/>
                </a:lnTo>
                <a:lnTo>
                  <a:pt x="777440" y="347091"/>
                </a:lnTo>
                <a:lnTo>
                  <a:pt x="775335" y="329692"/>
                </a:lnTo>
                <a:lnTo>
                  <a:pt x="762762" y="273685"/>
                </a:lnTo>
                <a:lnTo>
                  <a:pt x="741552" y="220218"/>
                </a:lnTo>
                <a:lnTo>
                  <a:pt x="714248" y="171704"/>
                </a:lnTo>
                <a:lnTo>
                  <a:pt x="679323" y="128143"/>
                </a:lnTo>
                <a:lnTo>
                  <a:pt x="651891" y="100837"/>
                </a:lnTo>
                <a:lnTo>
                  <a:pt x="608202" y="65912"/>
                </a:lnTo>
                <a:lnTo>
                  <a:pt x="559562" y="38608"/>
                </a:lnTo>
                <a:lnTo>
                  <a:pt x="506094" y="17525"/>
                </a:lnTo>
                <a:lnTo>
                  <a:pt x="468630" y="7493"/>
                </a:lnTo>
                <a:lnTo>
                  <a:pt x="410082" y="0"/>
                </a:lnTo>
                <a:close/>
              </a:path>
              <a:path w="780288" h="778764">
                <a:moveTo>
                  <a:pt x="757766" y="520065"/>
                </a:moveTo>
                <a:lnTo>
                  <a:pt x="577088" y="520065"/>
                </a:lnTo>
                <a:lnTo>
                  <a:pt x="582041" y="521208"/>
                </a:lnTo>
                <a:lnTo>
                  <a:pt x="585851" y="522478"/>
                </a:lnTo>
                <a:lnTo>
                  <a:pt x="600710" y="541147"/>
                </a:lnTo>
                <a:lnTo>
                  <a:pt x="601980" y="544830"/>
                </a:lnTo>
                <a:lnTo>
                  <a:pt x="600710" y="549910"/>
                </a:lnTo>
                <a:lnTo>
                  <a:pt x="599567" y="554863"/>
                </a:lnTo>
                <a:lnTo>
                  <a:pt x="597026" y="558546"/>
                </a:lnTo>
                <a:lnTo>
                  <a:pt x="550926" y="599694"/>
                </a:lnTo>
                <a:lnTo>
                  <a:pt x="501142" y="625729"/>
                </a:lnTo>
                <a:lnTo>
                  <a:pt x="447420" y="641858"/>
                </a:lnTo>
                <a:lnTo>
                  <a:pt x="390144" y="646938"/>
                </a:lnTo>
                <a:lnTo>
                  <a:pt x="682664" y="646938"/>
                </a:lnTo>
                <a:lnTo>
                  <a:pt x="714248" y="607060"/>
                </a:lnTo>
                <a:lnTo>
                  <a:pt x="741552" y="558546"/>
                </a:lnTo>
                <a:lnTo>
                  <a:pt x="756538" y="523748"/>
                </a:lnTo>
                <a:lnTo>
                  <a:pt x="757766" y="520065"/>
                </a:lnTo>
                <a:close/>
              </a:path>
              <a:path w="780288" h="778764">
                <a:moveTo>
                  <a:pt x="577088" y="520065"/>
                </a:moveTo>
                <a:lnTo>
                  <a:pt x="203200" y="520065"/>
                </a:lnTo>
                <a:lnTo>
                  <a:pt x="208152" y="521208"/>
                </a:lnTo>
                <a:lnTo>
                  <a:pt x="213106" y="522478"/>
                </a:lnTo>
                <a:lnTo>
                  <a:pt x="216916" y="525018"/>
                </a:lnTo>
                <a:lnTo>
                  <a:pt x="220599" y="527431"/>
                </a:lnTo>
                <a:lnTo>
                  <a:pt x="239394" y="543687"/>
                </a:lnTo>
                <a:lnTo>
                  <a:pt x="278002" y="569849"/>
                </a:lnTo>
                <a:lnTo>
                  <a:pt x="320294" y="587248"/>
                </a:lnTo>
                <a:lnTo>
                  <a:pt x="366521" y="595884"/>
                </a:lnTo>
                <a:lnTo>
                  <a:pt x="390144" y="597154"/>
                </a:lnTo>
                <a:lnTo>
                  <a:pt x="413766" y="595884"/>
                </a:lnTo>
                <a:lnTo>
                  <a:pt x="459994" y="587248"/>
                </a:lnTo>
                <a:lnTo>
                  <a:pt x="502285" y="569849"/>
                </a:lnTo>
                <a:lnTo>
                  <a:pt x="540893" y="543687"/>
                </a:lnTo>
                <a:lnTo>
                  <a:pt x="559562" y="527431"/>
                </a:lnTo>
                <a:lnTo>
                  <a:pt x="563371" y="525018"/>
                </a:lnTo>
                <a:lnTo>
                  <a:pt x="567182" y="522478"/>
                </a:lnTo>
                <a:lnTo>
                  <a:pt x="572135" y="521208"/>
                </a:lnTo>
                <a:lnTo>
                  <a:pt x="577088" y="520065"/>
                </a:lnTo>
                <a:close/>
              </a:path>
              <a:path w="780288" h="778764">
                <a:moveTo>
                  <a:pt x="549656" y="347091"/>
                </a:moveTo>
                <a:lnTo>
                  <a:pt x="230631" y="347091"/>
                </a:lnTo>
                <a:lnTo>
                  <a:pt x="239394" y="348361"/>
                </a:lnTo>
                <a:lnTo>
                  <a:pt x="248031" y="350774"/>
                </a:lnTo>
                <a:lnTo>
                  <a:pt x="255524" y="355854"/>
                </a:lnTo>
                <a:lnTo>
                  <a:pt x="263017" y="360807"/>
                </a:lnTo>
                <a:lnTo>
                  <a:pt x="267969" y="368300"/>
                </a:lnTo>
                <a:lnTo>
                  <a:pt x="271780" y="376936"/>
                </a:lnTo>
                <a:lnTo>
                  <a:pt x="274193" y="385699"/>
                </a:lnTo>
                <a:lnTo>
                  <a:pt x="275463" y="395605"/>
                </a:lnTo>
                <a:lnTo>
                  <a:pt x="274193" y="405638"/>
                </a:lnTo>
                <a:lnTo>
                  <a:pt x="248031" y="440436"/>
                </a:lnTo>
                <a:lnTo>
                  <a:pt x="230631" y="444119"/>
                </a:lnTo>
                <a:lnTo>
                  <a:pt x="549656" y="444119"/>
                </a:lnTo>
                <a:lnTo>
                  <a:pt x="512318" y="423037"/>
                </a:lnTo>
                <a:lnTo>
                  <a:pt x="504825" y="395605"/>
                </a:lnTo>
                <a:lnTo>
                  <a:pt x="506094" y="385699"/>
                </a:lnTo>
                <a:lnTo>
                  <a:pt x="508507" y="376936"/>
                </a:lnTo>
                <a:lnTo>
                  <a:pt x="512318" y="368300"/>
                </a:lnTo>
                <a:lnTo>
                  <a:pt x="517270" y="360807"/>
                </a:lnTo>
                <a:lnTo>
                  <a:pt x="524763" y="355854"/>
                </a:lnTo>
                <a:lnTo>
                  <a:pt x="532257" y="350774"/>
                </a:lnTo>
                <a:lnTo>
                  <a:pt x="540893" y="348361"/>
                </a:lnTo>
                <a:lnTo>
                  <a:pt x="549656" y="347091"/>
                </a:lnTo>
                <a:close/>
              </a:path>
              <a:path w="780288" h="778764">
                <a:moveTo>
                  <a:pt x="777440" y="347091"/>
                </a:moveTo>
                <a:lnTo>
                  <a:pt x="549656" y="347091"/>
                </a:lnTo>
                <a:lnTo>
                  <a:pt x="558419" y="348361"/>
                </a:lnTo>
                <a:lnTo>
                  <a:pt x="567182" y="350774"/>
                </a:lnTo>
                <a:lnTo>
                  <a:pt x="593344" y="385699"/>
                </a:lnTo>
                <a:lnTo>
                  <a:pt x="594487" y="395605"/>
                </a:lnTo>
                <a:lnTo>
                  <a:pt x="593344" y="405638"/>
                </a:lnTo>
                <a:lnTo>
                  <a:pt x="567182" y="440436"/>
                </a:lnTo>
                <a:lnTo>
                  <a:pt x="549656" y="444119"/>
                </a:lnTo>
                <a:lnTo>
                  <a:pt x="775938" y="444119"/>
                </a:lnTo>
                <a:lnTo>
                  <a:pt x="777748" y="429260"/>
                </a:lnTo>
                <a:lnTo>
                  <a:pt x="780288" y="409321"/>
                </a:lnTo>
                <a:lnTo>
                  <a:pt x="780288" y="369570"/>
                </a:lnTo>
                <a:lnTo>
                  <a:pt x="777748" y="349631"/>
                </a:lnTo>
                <a:lnTo>
                  <a:pt x="777440" y="347091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xfrm>
            <a:off x="79756" y="5726429"/>
            <a:ext cx="423163" cy="224029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 marL="25400"/>
            <a:fld id="{81D60167-4931-47E6-BA6A-407CBD079E47}" type="slidenum">
              <a:rPr spc="-10" dirty="0">
                <a:solidFill>
                  <a:srgbClr val="18BAD4"/>
                </a:solidFill>
                <a:latin typeface="Calibri"/>
                <a:cs typeface="Calibri"/>
              </a:rPr>
              <a:pPr marL="25400"/>
              <a:t>20</a:t>
            </a:fld>
            <a:endParaRPr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328</TotalTime>
  <Words>807</Words>
  <Application>Microsoft Office PowerPoint</Application>
  <PresentationFormat>Presentación en pantalla (4:3)</PresentationFormat>
  <Paragraphs>121</Paragraphs>
  <Slides>20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5" baseType="lpstr">
      <vt:lpstr>Arial</vt:lpstr>
      <vt:lpstr>Calibri</vt:lpstr>
      <vt:lpstr>Dom Casual</vt:lpstr>
      <vt:lpstr>Times New Roman</vt:lpstr>
      <vt:lpstr>Tema de Office</vt:lpstr>
      <vt:lpstr>TC 1037  Pensamiento algorítmico</vt:lpstr>
      <vt:lpstr>Algoritmos</vt:lpstr>
      <vt:lpstr>Algoritmos</vt:lpstr>
      <vt:lpstr>Presentación de PowerPoint</vt:lpstr>
      <vt:lpstr>Presentación de PowerPoint</vt:lpstr>
      <vt:lpstr>Algoritmos</vt:lpstr>
      <vt:lpstr>Algoritmos</vt:lpstr>
      <vt:lpstr>Algoritmos</vt:lpstr>
      <vt:lpstr> ¿Qué es un programa?</vt:lpstr>
      <vt:lpstr> ¿Qué se requiere para escribir un programa?</vt:lpstr>
      <vt:lpstr>Presentación de PowerPoint</vt:lpstr>
      <vt:lpstr>Presentación de PowerPoint</vt:lpstr>
      <vt:lpstr>Lenguajes compilados e interpretados</vt:lpstr>
      <vt:lpstr>Programa interpretado vs. programa compilado</vt:lpstr>
      <vt:lpstr>Programa  compilado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 1028 Pensamiento computacional para ingeniería</dc:title>
  <dc:creator>Lizethe Pérez Fuertes</dc:creator>
  <cp:lastModifiedBy>Lizethe Pérez Fuertes</cp:lastModifiedBy>
  <cp:revision>4</cp:revision>
  <dcterms:created xsi:type="dcterms:W3CDTF">2021-02-08T22:03:18Z</dcterms:created>
  <dcterms:modified xsi:type="dcterms:W3CDTF">2026-09-21T20:15:35Z</dcterms:modified>
</cp:coreProperties>
</file>