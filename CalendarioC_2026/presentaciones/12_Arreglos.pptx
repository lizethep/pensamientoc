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93" r:id="rId2"/>
    <p:sldId id="738" r:id="rId3"/>
    <p:sldId id="739" r:id="rId4"/>
    <p:sldId id="618" r:id="rId5"/>
    <p:sldId id="620" r:id="rId6"/>
    <p:sldId id="622" r:id="rId7"/>
    <p:sldId id="740" r:id="rId8"/>
    <p:sldId id="741" r:id="rId9"/>
    <p:sldId id="742" r:id="rId10"/>
    <p:sldId id="747" r:id="rId11"/>
    <p:sldId id="744" r:id="rId12"/>
    <p:sldId id="745" r:id="rId13"/>
    <p:sldId id="750" r:id="rId14"/>
    <p:sldId id="751" r:id="rId15"/>
    <p:sldId id="749" r:id="rId16"/>
    <p:sldId id="282" r:id="rId17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CC0066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00D28D-8C03-4421-A7A1-30AD6BC157F5}" v="28" dt="2026-08-31T22:32:44.8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623" autoAdjust="0"/>
    <p:restoredTop sz="94660"/>
  </p:normalViewPr>
  <p:slideViewPr>
    <p:cSldViewPr>
      <p:cViewPr varScale="1">
        <p:scale>
          <a:sx n="74" d="100"/>
          <a:sy n="74" d="100"/>
        </p:scale>
        <p:origin x="72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undo custSel addSld delSld modSld">
      <pc:chgData name="Lizethe Pérez Fuertes" userId="4ae9ef87-2a7d-42f8-8dfa-0a501a9e2ff4" providerId="ADAL" clId="{FDDD45CB-1330-4033-A842-3D2746AFF7C7}" dt="2026-08-31T22:32:47.925" v="956" actId="47"/>
      <pc:docMkLst>
        <pc:docMk/>
      </pc:docMkLst>
      <pc:sldChg chg="addSp delSp modSp mod">
        <pc:chgData name="Lizethe Pérez Fuertes" userId="4ae9ef87-2a7d-42f8-8dfa-0a501a9e2ff4" providerId="ADAL" clId="{FDDD45CB-1330-4033-A842-3D2746AFF7C7}" dt="2026-08-07T01:01:19.033" v="23" actId="20577"/>
        <pc:sldMkLst>
          <pc:docMk/>
          <pc:sldMk cId="542782376" sldId="293"/>
        </pc:sldMkLst>
        <pc:spChg chg="mod">
          <ac:chgData name="Lizethe Pérez Fuertes" userId="4ae9ef87-2a7d-42f8-8dfa-0a501a9e2ff4" providerId="ADAL" clId="{FDDD45CB-1330-4033-A842-3D2746AFF7C7}" dt="2026-08-07T01:01:19.033" v="23" actId="20577"/>
          <ac:spMkLst>
            <pc:docMk/>
            <pc:sldMk cId="542782376" sldId="293"/>
            <ac:spMk id="3" creationId="{00000000-0000-0000-0000-000000000000}"/>
          </ac:spMkLst>
        </pc:spChg>
        <pc:spChg chg="add mod">
          <ac:chgData name="Lizethe Pérez Fuertes" userId="4ae9ef87-2a7d-42f8-8dfa-0a501a9e2ff4" providerId="ADAL" clId="{FDDD45CB-1330-4033-A842-3D2746AFF7C7}" dt="2026-08-07T01:00:23.177" v="10" actId="1076"/>
          <ac:spMkLst>
            <pc:docMk/>
            <pc:sldMk cId="542782376" sldId="293"/>
            <ac:spMk id="4" creationId="{9C98727A-3C11-3B43-1951-4F12B883802A}"/>
          </ac:spMkLst>
        </pc:spChg>
      </pc:sldChg>
      <pc:sldChg chg="del">
        <pc:chgData name="Lizethe Pérez Fuertes" userId="4ae9ef87-2a7d-42f8-8dfa-0a501a9e2ff4" providerId="ADAL" clId="{FDDD45CB-1330-4033-A842-3D2746AFF7C7}" dt="2026-08-31T21:32:43.553" v="291" actId="47"/>
        <pc:sldMkLst>
          <pc:docMk/>
          <pc:sldMk cId="812640651" sldId="311"/>
        </pc:sldMkLst>
      </pc:sldChg>
      <pc:sldChg chg="del">
        <pc:chgData name="Lizethe Pérez Fuertes" userId="4ae9ef87-2a7d-42f8-8dfa-0a501a9e2ff4" providerId="ADAL" clId="{FDDD45CB-1330-4033-A842-3D2746AFF7C7}" dt="2026-08-31T21:32:43.553" v="291" actId="47"/>
        <pc:sldMkLst>
          <pc:docMk/>
          <pc:sldMk cId="3713659776" sldId="312"/>
        </pc:sldMkLst>
      </pc:sldChg>
      <pc:sldChg chg="del">
        <pc:chgData name="Lizethe Pérez Fuertes" userId="4ae9ef87-2a7d-42f8-8dfa-0a501a9e2ff4" providerId="ADAL" clId="{FDDD45CB-1330-4033-A842-3D2746AFF7C7}" dt="2026-08-31T21:32:43.553" v="291" actId="47"/>
        <pc:sldMkLst>
          <pc:docMk/>
          <pc:sldMk cId="579818040" sldId="314"/>
        </pc:sldMkLst>
      </pc:sldChg>
      <pc:sldChg chg="del">
        <pc:chgData name="Lizethe Pérez Fuertes" userId="4ae9ef87-2a7d-42f8-8dfa-0a501a9e2ff4" providerId="ADAL" clId="{FDDD45CB-1330-4033-A842-3D2746AFF7C7}" dt="2026-08-31T21:32:43.553" v="291" actId="47"/>
        <pc:sldMkLst>
          <pc:docMk/>
          <pc:sldMk cId="3769169060" sldId="326"/>
        </pc:sldMkLst>
      </pc:sldChg>
      <pc:sldChg chg="modSp mod">
        <pc:chgData name="Lizethe Pérez Fuertes" userId="4ae9ef87-2a7d-42f8-8dfa-0a501a9e2ff4" providerId="ADAL" clId="{FDDD45CB-1330-4033-A842-3D2746AFF7C7}" dt="2026-08-07T01:01:57.889" v="36" actId="20577"/>
        <pc:sldMkLst>
          <pc:docMk/>
          <pc:sldMk cId="4258578987" sldId="618"/>
        </pc:sldMkLst>
        <pc:spChg chg="mod">
          <ac:chgData name="Lizethe Pérez Fuertes" userId="4ae9ef87-2a7d-42f8-8dfa-0a501a9e2ff4" providerId="ADAL" clId="{FDDD45CB-1330-4033-A842-3D2746AFF7C7}" dt="2026-08-07T01:01:57.889" v="36" actId="20577"/>
          <ac:spMkLst>
            <pc:docMk/>
            <pc:sldMk cId="4258578987" sldId="618"/>
            <ac:spMk id="10" creationId="{28D7FAFF-9722-4D6A-9DE5-55FC738D0886}"/>
          </ac:spMkLst>
        </pc:spChg>
      </pc:sldChg>
      <pc:sldChg chg="modSp mod">
        <pc:chgData name="Lizethe Pérez Fuertes" userId="4ae9ef87-2a7d-42f8-8dfa-0a501a9e2ff4" providerId="ADAL" clId="{FDDD45CB-1330-4033-A842-3D2746AFF7C7}" dt="2026-08-07T01:03:19.553" v="64" actId="948"/>
        <pc:sldMkLst>
          <pc:docMk/>
          <pc:sldMk cId="658639050" sldId="620"/>
        </pc:sldMkLst>
        <pc:spChg chg="mod">
          <ac:chgData name="Lizethe Pérez Fuertes" userId="4ae9ef87-2a7d-42f8-8dfa-0a501a9e2ff4" providerId="ADAL" clId="{FDDD45CB-1330-4033-A842-3D2746AFF7C7}" dt="2026-08-07T01:03:19.553" v="64" actId="948"/>
          <ac:spMkLst>
            <pc:docMk/>
            <pc:sldMk cId="658639050" sldId="620"/>
            <ac:spMk id="10" creationId="{28D7FAFF-9722-4D6A-9DE5-55FC738D0886}"/>
          </ac:spMkLst>
        </pc:spChg>
      </pc:sldChg>
      <pc:sldChg chg="modSp del mod">
        <pc:chgData name="Lizethe Pérez Fuertes" userId="4ae9ef87-2a7d-42f8-8dfa-0a501a9e2ff4" providerId="ADAL" clId="{FDDD45CB-1330-4033-A842-3D2746AFF7C7}" dt="2026-08-31T21:32:22.573" v="290" actId="47"/>
        <pc:sldMkLst>
          <pc:docMk/>
          <pc:sldMk cId="725457009" sldId="736"/>
        </pc:sldMkLst>
      </pc:sldChg>
      <pc:sldChg chg="del">
        <pc:chgData name="Lizethe Pérez Fuertes" userId="4ae9ef87-2a7d-42f8-8dfa-0a501a9e2ff4" providerId="ADAL" clId="{FDDD45CB-1330-4033-A842-3D2746AFF7C7}" dt="2026-08-31T21:32:22.573" v="290" actId="47"/>
        <pc:sldMkLst>
          <pc:docMk/>
          <pc:sldMk cId="4069243242" sldId="737"/>
        </pc:sldMkLst>
      </pc:sldChg>
      <pc:sldChg chg="modSp del mod">
        <pc:chgData name="Lizethe Pérez Fuertes" userId="4ae9ef87-2a7d-42f8-8dfa-0a501a9e2ff4" providerId="ADAL" clId="{FDDD45CB-1330-4033-A842-3D2746AFF7C7}" dt="2026-08-31T21:32:43.553" v="291" actId="47"/>
        <pc:sldMkLst>
          <pc:docMk/>
          <pc:sldMk cId="1876627408" sldId="743"/>
        </pc:sldMkLst>
      </pc:sldChg>
      <pc:sldChg chg="del">
        <pc:chgData name="Lizethe Pérez Fuertes" userId="4ae9ef87-2a7d-42f8-8dfa-0a501a9e2ff4" providerId="ADAL" clId="{FDDD45CB-1330-4033-A842-3D2746AFF7C7}" dt="2026-08-31T21:32:43.553" v="291" actId="47"/>
        <pc:sldMkLst>
          <pc:docMk/>
          <pc:sldMk cId="1720024169" sldId="746"/>
        </pc:sldMkLst>
      </pc:sldChg>
      <pc:sldChg chg="addSp modSp add mod">
        <pc:chgData name="Lizethe Pérez Fuertes" userId="4ae9ef87-2a7d-42f8-8dfa-0a501a9e2ff4" providerId="ADAL" clId="{FDDD45CB-1330-4033-A842-3D2746AFF7C7}" dt="2026-08-31T21:30:48.273" v="289" actId="1076"/>
        <pc:sldMkLst>
          <pc:docMk/>
          <pc:sldMk cId="2425694241" sldId="747"/>
        </pc:sldMkLst>
        <pc:spChg chg="add mod">
          <ac:chgData name="Lizethe Pérez Fuertes" userId="4ae9ef87-2a7d-42f8-8dfa-0a501a9e2ff4" providerId="ADAL" clId="{FDDD45CB-1330-4033-A842-3D2746AFF7C7}" dt="2026-08-31T21:30:48.273" v="289" actId="1076"/>
          <ac:spMkLst>
            <pc:docMk/>
            <pc:sldMk cId="2425694241" sldId="747"/>
            <ac:spMk id="2" creationId="{F605C1CD-D258-A159-9D4D-9E9AE1A97D00}"/>
          </ac:spMkLst>
        </pc:spChg>
        <pc:spChg chg="mod">
          <ac:chgData name="Lizethe Pérez Fuertes" userId="4ae9ef87-2a7d-42f8-8dfa-0a501a9e2ff4" providerId="ADAL" clId="{FDDD45CB-1330-4033-A842-3D2746AFF7C7}" dt="2026-08-31T21:26:35.214" v="272" actId="6549"/>
          <ac:spMkLst>
            <pc:docMk/>
            <pc:sldMk cId="2425694241" sldId="747"/>
            <ac:spMk id="6" creationId="{896A7E84-01C0-2AA0-7FC2-F0B1A6FCEB2B}"/>
          </ac:spMkLst>
        </pc:spChg>
        <pc:spChg chg="mod">
          <ac:chgData name="Lizethe Pérez Fuertes" userId="4ae9ef87-2a7d-42f8-8dfa-0a501a9e2ff4" providerId="ADAL" clId="{FDDD45CB-1330-4033-A842-3D2746AFF7C7}" dt="2026-08-31T21:28:10.425" v="278" actId="6549"/>
          <ac:spMkLst>
            <pc:docMk/>
            <pc:sldMk cId="2425694241" sldId="747"/>
            <ac:spMk id="8" creationId="{CE88F026-3D85-5A05-2053-6A8564E42996}"/>
          </ac:spMkLst>
        </pc:spChg>
        <pc:spChg chg="mod">
          <ac:chgData name="Lizethe Pérez Fuertes" userId="4ae9ef87-2a7d-42f8-8dfa-0a501a9e2ff4" providerId="ADAL" clId="{FDDD45CB-1330-4033-A842-3D2746AFF7C7}" dt="2026-08-31T21:25:37.763" v="123" actId="6549"/>
          <ac:spMkLst>
            <pc:docMk/>
            <pc:sldMk cId="2425694241" sldId="747"/>
            <ac:spMk id="184324" creationId="{6C9E33A7-5023-ED97-215E-AF91B84CADB0}"/>
          </ac:spMkLst>
        </pc:spChg>
      </pc:sldChg>
      <pc:sldChg chg="addSp delSp modSp add del mod">
        <pc:chgData name="Lizethe Pérez Fuertes" userId="4ae9ef87-2a7d-42f8-8dfa-0a501a9e2ff4" providerId="ADAL" clId="{FDDD45CB-1330-4033-A842-3D2746AFF7C7}" dt="2026-08-31T22:32:47.925" v="956" actId="47"/>
        <pc:sldMkLst>
          <pc:docMk/>
          <pc:sldMk cId="2422921185" sldId="748"/>
        </pc:sldMkLst>
        <pc:spChg chg="mod">
          <ac:chgData name="Lizethe Pérez Fuertes" userId="4ae9ef87-2a7d-42f8-8dfa-0a501a9e2ff4" providerId="ADAL" clId="{FDDD45CB-1330-4033-A842-3D2746AFF7C7}" dt="2026-08-31T22:31:13.400" v="950" actId="113"/>
          <ac:spMkLst>
            <pc:docMk/>
            <pc:sldMk cId="2422921185" sldId="748"/>
            <ac:spMk id="6" creationId="{94971E60-CAAD-E7AC-EAC1-6B677D2B60BA}"/>
          </ac:spMkLst>
        </pc:spChg>
        <pc:spChg chg="del">
          <ac:chgData name="Lizethe Pérez Fuertes" userId="4ae9ef87-2a7d-42f8-8dfa-0a501a9e2ff4" providerId="ADAL" clId="{FDDD45CB-1330-4033-A842-3D2746AFF7C7}" dt="2026-08-31T21:38:45.356" v="357" actId="478"/>
          <ac:spMkLst>
            <pc:docMk/>
            <pc:sldMk cId="2422921185" sldId="748"/>
            <ac:spMk id="8" creationId="{AB13BC81-604D-983F-DF42-070F9120DA7B}"/>
          </ac:spMkLst>
        </pc:spChg>
        <pc:spChg chg="mod">
          <ac:chgData name="Lizethe Pérez Fuertes" userId="4ae9ef87-2a7d-42f8-8dfa-0a501a9e2ff4" providerId="ADAL" clId="{FDDD45CB-1330-4033-A842-3D2746AFF7C7}" dt="2026-08-31T22:27:28.770" v="721" actId="6549"/>
          <ac:spMkLst>
            <pc:docMk/>
            <pc:sldMk cId="2422921185" sldId="748"/>
            <ac:spMk id="184324" creationId="{E7653F53-FD9F-0FEB-C208-AA723F3E0A82}"/>
          </ac:spMkLst>
        </pc:spChg>
        <pc:picChg chg="add mod">
          <ac:chgData name="Lizethe Pérez Fuertes" userId="4ae9ef87-2a7d-42f8-8dfa-0a501a9e2ff4" providerId="ADAL" clId="{FDDD45CB-1330-4033-A842-3D2746AFF7C7}" dt="2026-08-31T22:32:05.492" v="954" actId="1076"/>
          <ac:picMkLst>
            <pc:docMk/>
            <pc:sldMk cId="2422921185" sldId="748"/>
            <ac:picMk id="3" creationId="{79DF0533-5813-F030-A48D-886859AF4CBA}"/>
          </ac:picMkLst>
        </pc:picChg>
      </pc:sldChg>
      <pc:sldChg chg="modSp add mod">
        <pc:chgData name="Lizethe Pérez Fuertes" userId="4ae9ef87-2a7d-42f8-8dfa-0a501a9e2ff4" providerId="ADAL" clId="{FDDD45CB-1330-4033-A842-3D2746AFF7C7}" dt="2026-08-31T21:48:32.387" v="581"/>
        <pc:sldMkLst>
          <pc:docMk/>
          <pc:sldMk cId="368498870" sldId="749"/>
        </pc:sldMkLst>
        <pc:spChg chg="mod">
          <ac:chgData name="Lizethe Pérez Fuertes" userId="4ae9ef87-2a7d-42f8-8dfa-0a501a9e2ff4" providerId="ADAL" clId="{FDDD45CB-1330-4033-A842-3D2746AFF7C7}" dt="2026-08-31T21:48:32.387" v="581"/>
          <ac:spMkLst>
            <pc:docMk/>
            <pc:sldMk cId="368498870" sldId="749"/>
            <ac:spMk id="6" creationId="{889C0DB6-5643-0CC3-1B61-326286C2F716}"/>
          </ac:spMkLst>
        </pc:spChg>
        <pc:spChg chg="mod">
          <ac:chgData name="Lizethe Pérez Fuertes" userId="4ae9ef87-2a7d-42f8-8dfa-0a501a9e2ff4" providerId="ADAL" clId="{FDDD45CB-1330-4033-A842-3D2746AFF7C7}" dt="2026-08-31T21:45:22.331" v="521" actId="6549"/>
          <ac:spMkLst>
            <pc:docMk/>
            <pc:sldMk cId="368498870" sldId="749"/>
            <ac:spMk id="184324" creationId="{BC5AE88A-0B1E-F193-CB98-07D2D8BF49E3}"/>
          </ac:spMkLst>
        </pc:spChg>
      </pc:sldChg>
      <pc:sldChg chg="modSp add mod">
        <pc:chgData name="Lizethe Pérez Fuertes" userId="4ae9ef87-2a7d-42f8-8dfa-0a501a9e2ff4" providerId="ADAL" clId="{FDDD45CB-1330-4033-A842-3D2746AFF7C7}" dt="2026-08-31T21:52:38.071" v="662" actId="1076"/>
        <pc:sldMkLst>
          <pc:docMk/>
          <pc:sldMk cId="188000247" sldId="750"/>
        </pc:sldMkLst>
        <pc:spChg chg="mod">
          <ac:chgData name="Lizethe Pérez Fuertes" userId="4ae9ef87-2a7d-42f8-8dfa-0a501a9e2ff4" providerId="ADAL" clId="{FDDD45CB-1330-4033-A842-3D2746AFF7C7}" dt="2026-08-31T21:52:38.071" v="662" actId="1076"/>
          <ac:spMkLst>
            <pc:docMk/>
            <pc:sldMk cId="188000247" sldId="750"/>
            <ac:spMk id="6" creationId="{A4E9B803-CD8F-4E2E-07BC-7E44F7941412}"/>
          </ac:spMkLst>
        </pc:spChg>
        <pc:spChg chg="mod">
          <ac:chgData name="Lizethe Pérez Fuertes" userId="4ae9ef87-2a7d-42f8-8dfa-0a501a9e2ff4" providerId="ADAL" clId="{FDDD45CB-1330-4033-A842-3D2746AFF7C7}" dt="2026-08-31T21:52:33.767" v="661" actId="1076"/>
          <ac:spMkLst>
            <pc:docMk/>
            <pc:sldMk cId="188000247" sldId="750"/>
            <ac:spMk id="184324" creationId="{025E7388-596A-2CA7-48B7-C62A821C7FCD}"/>
          </ac:spMkLst>
        </pc:spChg>
      </pc:sldChg>
      <pc:sldChg chg="add">
        <pc:chgData name="Lizethe Pérez Fuertes" userId="4ae9ef87-2a7d-42f8-8dfa-0a501a9e2ff4" providerId="ADAL" clId="{FDDD45CB-1330-4033-A842-3D2746AFF7C7}" dt="2026-08-31T22:32:44.871" v="955"/>
        <pc:sldMkLst>
          <pc:docMk/>
          <pc:sldMk cId="2576474863" sldId="75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721D5-655F-45D2-B717-3C4CD78C8568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B4312-99A1-4CE9-ACE7-4C62E9FD90E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59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3692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92436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61180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83067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44367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93477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88695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0152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2B7A5-48F3-CCCF-5EAD-2149EF23E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D026E89-E4AC-A2D9-B813-36C245380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C0398AE-7E3D-808C-C171-73E075E6C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59D5C25-DC79-861A-E88C-B8AF76C97A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684449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998464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653094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075C6-F8F9-4541-D2AD-A36F88320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A370A4E-0FB2-1828-5DD7-7A414E699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3629204-B982-819F-ACD7-840D6FE50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20C4A0-1FDF-4CD9-A941-B0C2709AD4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80553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4950B-B1C1-9315-4592-E76FE6002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9DB3CAD-66F8-787D-33FE-C825432F6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D574802-49D8-5030-30BF-D80B63062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17177B-1245-2D27-9218-4329C3C31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245829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959E3-4B5B-EDEA-2D73-F38012EEB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05DB73E-AB27-D9AB-6653-DE45C4E26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2295359-029D-1393-3A4F-6488E496E0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28A48E-5D3E-36C5-7E5F-E5844F0C34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08250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2164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1803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5571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354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72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123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7227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79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164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095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74278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531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3E716-CACC-4490-AD07-F24B6A68DE47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6466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2245323"/>
            <a:ext cx="7342584" cy="115212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Arreglos o vectores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065AA3B-D2DB-455A-A58C-00F9FA1E4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3654710"/>
            <a:ext cx="4824536" cy="218941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C98727A-3C11-3B43-1951-4F12B883802A}"/>
              </a:ext>
            </a:extLst>
          </p:cNvPr>
          <p:cNvSpPr txBox="1">
            <a:spLocks/>
          </p:cNvSpPr>
          <p:nvPr/>
        </p:nvSpPr>
        <p:spPr>
          <a:xfrm>
            <a:off x="933591" y="504260"/>
            <a:ext cx="7342584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1037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</a:p>
        </p:txBody>
      </p:sp>
    </p:spTree>
    <p:extLst>
      <p:ext uri="{BB962C8B-B14F-4D97-AF65-F5344CB8AC3E}">
        <p14:creationId xmlns:p14="http://schemas.microsoft.com/office/powerpoint/2010/main" val="542782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 vs arreglos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61860F-81EF-4231-BF44-B02011A80E07}"/>
              </a:ext>
            </a:extLst>
          </p:cNvPr>
          <p:cNvSpPr txBox="1"/>
          <p:nvPr/>
        </p:nvSpPr>
        <p:spPr>
          <a:xfrm>
            <a:off x="637320" y="1700809"/>
            <a:ext cx="7463072" cy="396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Los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arreglos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son estructuras de datos </a:t>
            </a:r>
            <a:r>
              <a:rPr lang="es-ES" sz="2000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estáticas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, ya que hay que declarar su tamaño antes de utilizarlos. 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 diferencia de los arreglos, las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listas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son estructuras de datos que pueden ir creciendo conforme se vaya requiriendo, por eso se considera que es una estructura de datos </a:t>
            </a:r>
            <a:r>
              <a:rPr lang="es-ES" sz="2000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dinámica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s-ES" sz="2000" dirty="0">
              <a:solidFill>
                <a:srgbClr val="212121"/>
              </a:solidFill>
              <a:latin typeface="Roboto" panose="020000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DB81707-D02D-4D1B-94D6-165F68D74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023" y="5013176"/>
            <a:ext cx="3301256" cy="110268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9F5BC31-19B3-4F8D-8C9C-BA1F232A6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065" y="4871186"/>
            <a:ext cx="3055621" cy="138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62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899592" y="476672"/>
            <a:ext cx="7663652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Tipos de datos de arreglos en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Numpy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FFC9F491-57F0-47E8-9956-0CF8D34FB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337218"/>
              </p:ext>
            </p:extLst>
          </p:nvPr>
        </p:nvGraphicFramePr>
        <p:xfrm>
          <a:off x="1465541" y="2276872"/>
          <a:ext cx="7097703" cy="2463360"/>
        </p:xfrm>
        <a:graphic>
          <a:graphicData uri="http://schemas.openxmlformats.org/drawingml/2006/table">
            <a:tbl>
              <a:tblPr/>
              <a:tblGrid>
                <a:gridCol w="3024336">
                  <a:extLst>
                    <a:ext uri="{9D8B030D-6E8A-4147-A177-3AD203B41FA5}">
                      <a16:colId xmlns:a16="http://schemas.microsoft.com/office/drawing/2014/main" val="3908321532"/>
                    </a:ext>
                  </a:extLst>
                </a:gridCol>
                <a:gridCol w="4073367">
                  <a:extLst>
                    <a:ext uri="{9D8B030D-6E8A-4147-A177-3AD203B41FA5}">
                      <a16:colId xmlns:a16="http://schemas.microsoft.com/office/drawing/2014/main" val="1146347972"/>
                    </a:ext>
                  </a:extLst>
                </a:gridCol>
              </a:tblGrid>
              <a:tr h="362077">
                <a:tc>
                  <a:txBody>
                    <a:bodyPr/>
                    <a:lstStyle/>
                    <a:p>
                      <a:pPr fontAlgn="ctr"/>
                      <a:r>
                        <a:rPr lang="es-MX" sz="1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Tipo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Descripción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477379"/>
                  </a:ext>
                </a:extLst>
              </a:tr>
              <a:tr h="362077">
                <a:tc>
                  <a:txBody>
                    <a:bodyPr/>
                    <a:lstStyle/>
                    <a:p>
                      <a:pPr fontAlgn="ctr"/>
                      <a:r>
                        <a:rPr lang="es-MX" sz="1800" dirty="0" err="1">
                          <a:effectLst/>
                        </a:rPr>
                        <a:t>bool</a:t>
                      </a:r>
                      <a:endParaRPr lang="es-MX" sz="1800" dirty="0">
                        <a:effectLst/>
                      </a:endParaRP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dirty="0">
                          <a:effectLst/>
                        </a:rPr>
                        <a:t>Booleano (True, False)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986763"/>
                  </a:ext>
                </a:extLst>
              </a:tr>
              <a:tr h="633635">
                <a:tc>
                  <a:txBody>
                    <a:bodyPr/>
                    <a:lstStyle/>
                    <a:p>
                      <a:pPr fontAlgn="ctr"/>
                      <a:r>
                        <a:rPr lang="es-MX" sz="1800">
                          <a:effectLst/>
                        </a:rPr>
                        <a:t>int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ES" sz="1800" dirty="0">
                          <a:effectLst/>
                        </a:rPr>
                        <a:t>Entero estándar (32 </a:t>
                      </a:r>
                      <a:r>
                        <a:rPr lang="es-ES" sz="1800" dirty="0" err="1">
                          <a:effectLst/>
                        </a:rPr>
                        <a:t>ó</a:t>
                      </a:r>
                      <a:r>
                        <a:rPr lang="es-ES" sz="1800" dirty="0">
                          <a:effectLst/>
                        </a:rPr>
                        <a:t> 64 </a:t>
                      </a:r>
                      <a:r>
                        <a:rPr lang="es-ES" sz="1800" dirty="0" err="1">
                          <a:effectLst/>
                        </a:rPr>
                        <a:t>segun</a:t>
                      </a:r>
                      <a:r>
                        <a:rPr lang="es-ES" sz="1800" dirty="0">
                          <a:effectLst/>
                        </a:rPr>
                        <a:t> la implementación)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465811"/>
                  </a:ext>
                </a:extLst>
              </a:tr>
              <a:tr h="362077">
                <a:tc>
                  <a:txBody>
                    <a:bodyPr/>
                    <a:lstStyle/>
                    <a:p>
                      <a:pPr fontAlgn="ctr"/>
                      <a:r>
                        <a:rPr lang="es-MX" sz="1800">
                          <a:effectLst/>
                        </a:rPr>
                        <a:t>float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dirty="0" err="1">
                          <a:effectLst/>
                        </a:rPr>
                        <a:t>Float</a:t>
                      </a:r>
                      <a:r>
                        <a:rPr lang="es-MX" sz="1800" dirty="0">
                          <a:effectLst/>
                        </a:rPr>
                        <a:t> estándar (doble precisión)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212501"/>
                  </a:ext>
                </a:extLst>
              </a:tr>
              <a:tr h="362077">
                <a:tc>
                  <a:txBody>
                    <a:bodyPr/>
                    <a:lstStyle/>
                    <a:p>
                      <a:pPr fontAlgn="ctr"/>
                      <a:r>
                        <a:rPr lang="es-MX" sz="1800">
                          <a:effectLst/>
                        </a:rPr>
                        <a:t>complex (complex128)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dirty="0">
                          <a:effectLst/>
                        </a:rPr>
                        <a:t>Números complejos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195559"/>
                  </a:ext>
                </a:extLst>
              </a:tr>
              <a:tr h="362077">
                <a:tc>
                  <a:txBody>
                    <a:bodyPr/>
                    <a:lstStyle/>
                    <a:p>
                      <a:pPr fontAlgn="ctr"/>
                      <a:r>
                        <a:rPr lang="es-MX" sz="1800">
                          <a:effectLst/>
                        </a:rPr>
                        <a:t>object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dirty="0">
                          <a:effectLst/>
                        </a:rPr>
                        <a:t>Objetos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004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9097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Módulo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Numpy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971600" y="1510885"/>
            <a:ext cx="7406480" cy="3091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Numpy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es un módulo de Python que proporciona estructuras de datos para manipulación eficiente de </a:t>
            </a:r>
            <a:r>
              <a:rPr lang="es-ES" sz="2000" b="1" i="0" dirty="0">
                <a:solidFill>
                  <a:schemeClr val="accent5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arreglos (vectores)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y </a:t>
            </a:r>
            <a:r>
              <a:rPr lang="es-ES" sz="2000" b="1" i="0" dirty="0">
                <a:solidFill>
                  <a:schemeClr val="accent5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matrices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. </a:t>
            </a:r>
          </a:p>
          <a:p>
            <a:pPr algn="just">
              <a:lnSpc>
                <a:spcPct val="150000"/>
              </a:lnSpc>
            </a:pPr>
            <a:endParaRPr lang="es-ES" sz="1200" dirty="0">
              <a:solidFill>
                <a:srgbClr val="212121"/>
              </a:solidFill>
              <a:latin typeface="Roboto" panose="020000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Para usar el módulo de 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Numpy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basta ejecutar la instrucción:</a:t>
            </a:r>
          </a:p>
          <a:p>
            <a:pPr algn="just">
              <a:lnSpc>
                <a:spcPct val="150000"/>
              </a:lnSpc>
            </a:pPr>
            <a:endParaRPr lang="es-ES" sz="2000" dirty="0">
              <a:solidFill>
                <a:srgbClr val="212121"/>
              </a:solidFill>
              <a:latin typeface="Roboto" panose="020000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FBE0C90-A4D8-4BF1-86E2-A6A27C599BB8}"/>
              </a:ext>
            </a:extLst>
          </p:cNvPr>
          <p:cNvSpPr txBox="1"/>
          <p:nvPr/>
        </p:nvSpPr>
        <p:spPr>
          <a:xfrm>
            <a:off x="971600" y="3448400"/>
            <a:ext cx="7920880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import</a:t>
            </a:r>
            <a:r>
              <a:rPr lang="es-E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</a:rPr>
              <a:t>numpy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E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 </a:t>
            </a:r>
            <a:r>
              <a:rPr lang="es-ES" sz="2400" b="1" dirty="0" err="1">
                <a:solidFill>
                  <a:srgbClr val="FF0000"/>
                </a:solidFill>
              </a:rPr>
              <a:t>np</a:t>
            </a:r>
            <a:r>
              <a:rPr lang="es-ES" sz="2400" b="1" i="0" dirty="0">
                <a:solidFill>
                  <a:srgbClr val="FF0000"/>
                </a:solidFill>
                <a:effectLst/>
              </a:rPr>
              <a:t> </a:t>
            </a:r>
            <a:endParaRPr lang="es-ES" sz="2400" b="1" dirty="0">
              <a:solidFill>
                <a:srgbClr val="FF000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61860F-81EF-4231-BF44-B02011A80E07}"/>
              </a:ext>
            </a:extLst>
          </p:cNvPr>
          <p:cNvSpPr txBox="1"/>
          <p:nvPr/>
        </p:nvSpPr>
        <p:spPr>
          <a:xfrm>
            <a:off x="946002" y="4392089"/>
            <a:ext cx="7406480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El objeto </a:t>
            </a:r>
            <a:r>
              <a:rPr lang="es-ES" sz="2000" b="1" i="0" dirty="0" err="1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np</a:t>
            </a:r>
            <a:r>
              <a:rPr lang="es-ES" sz="2000" b="1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lo utilizamos para invocar todas las funciones que proporciona el módulo.</a:t>
            </a:r>
          </a:p>
          <a:p>
            <a:pPr algn="just">
              <a:lnSpc>
                <a:spcPct val="150000"/>
              </a:lnSpc>
            </a:pPr>
            <a:endParaRPr lang="es-ES" sz="2000" dirty="0">
              <a:solidFill>
                <a:srgbClr val="212121"/>
              </a:solidFill>
              <a:latin typeface="Roboto" panose="020000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578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-17738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Objetos: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ndarray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11560" y="1125262"/>
            <a:ext cx="8064896" cy="527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La estructura más básica es un </a:t>
            </a:r>
            <a:r>
              <a:rPr lang="es-ES" sz="20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arreglo (vector)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, que podemos crear a partir de pasar una lista a la función </a:t>
            </a:r>
            <a:r>
              <a:rPr lang="es-ES" sz="2000" b="1" i="0" dirty="0">
                <a:solidFill>
                  <a:srgbClr val="FF0000"/>
                </a:solidFill>
                <a:effectLst/>
              </a:rPr>
              <a:t>array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:</a:t>
            </a:r>
          </a:p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arreglo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= </a:t>
            </a:r>
            <a:r>
              <a:rPr lang="es-ES" sz="2000" b="1" i="0" dirty="0" err="1">
                <a:solidFill>
                  <a:srgbClr val="FF0000"/>
                </a:solidFill>
                <a:effectLst/>
              </a:rPr>
              <a:t>np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r>
              <a:rPr lang="es-ES" sz="2000" b="1" i="0" dirty="0" err="1">
                <a:solidFill>
                  <a:srgbClr val="FF0000"/>
                </a:solidFill>
                <a:effectLst/>
              </a:rPr>
              <a:t>array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([1, 2, 3, 4])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 </a:t>
            </a:r>
            <a:r>
              <a:rPr lang="es-ES" sz="2000" b="1" dirty="0">
                <a:solidFill>
                  <a:schemeClr val="accent5">
                    <a:lumMod val="75000"/>
                  </a:schemeClr>
                </a:solidFill>
              </a:rPr>
              <a:t>arreglo (vector)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es un objeto de la clase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“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ndarray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”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Esta clase de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Numpy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maneja los arreglos en general. Un objeto de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ndarray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tiene los siguientes atributos: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ndim</a:t>
            </a:r>
            <a:endParaRPr lang="es-ES" sz="2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shape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size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itemsize</a:t>
            </a:r>
            <a:endParaRPr lang="es-ES" sz="2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dtype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639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68239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Agregar  elementos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E5AA9D-354E-4C31-88A9-A48B5A9BA280}"/>
              </a:ext>
            </a:extLst>
          </p:cNvPr>
          <p:cNvSpPr txBox="1"/>
          <p:nvPr/>
        </p:nvSpPr>
        <p:spPr>
          <a:xfrm>
            <a:off x="426368" y="1628800"/>
            <a:ext cx="8208912" cy="2291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Para </a:t>
            </a:r>
            <a:r>
              <a:rPr lang="es-MX" b="1" i="0" dirty="0">
                <a:solidFill>
                  <a:schemeClr val="accent5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agregar</a:t>
            </a:r>
            <a:r>
              <a:rPr lang="es-MX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elementos a un arreglo podemos usar la función </a:t>
            </a:r>
            <a:r>
              <a:rPr lang="es-MX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np.append</a:t>
            </a:r>
            <a:r>
              <a:rPr lang="es-MX" b="1" i="0" dirty="0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()</a:t>
            </a:r>
            <a:r>
              <a:rPr lang="es-MX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:</a:t>
            </a:r>
          </a:p>
          <a:p>
            <a:pPr lvl="1" algn="just" fontAlgn="base">
              <a:lnSpc>
                <a:spcPts val="2500"/>
              </a:lnSpc>
              <a:spcAft>
                <a:spcPts val="1200"/>
              </a:spcAft>
            </a:pPr>
            <a:r>
              <a:rPr lang="es-ES" b="1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np.append</a:t>
            </a: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(arreglo, vals)</a:t>
            </a:r>
          </a:p>
          <a:p>
            <a:pPr marL="742950" lvl="1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arreglo </a:t>
            </a:r>
            <a:r>
              <a:rPr lang="es-E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: </a:t>
            </a:r>
            <a:r>
              <a:rPr lang="es-ES" dirty="0">
                <a:solidFill>
                  <a:srgbClr val="212121"/>
                </a:solidFill>
                <a:latin typeface="Roboto" panose="02000000000000000000" pitchFamily="2" charset="0"/>
              </a:rPr>
              <a:t>E</a:t>
            </a:r>
            <a:r>
              <a:rPr lang="es-E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l arreglo base</a:t>
            </a:r>
          </a:p>
          <a:p>
            <a:pPr marL="742950" lvl="1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vals</a:t>
            </a:r>
            <a:r>
              <a:rPr lang="es-E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: El arreglo de valores a juntar</a:t>
            </a:r>
            <a:endParaRPr lang="es-MX" b="0" i="0" dirty="0">
              <a:solidFill>
                <a:srgbClr val="212121"/>
              </a:solidFill>
              <a:effectLst/>
              <a:latin typeface="Roboto" panose="02000000000000000000" pitchFamily="2" charset="0"/>
            </a:endParaRP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1023280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Obtener el elemento mínimo y máximo de un arreglo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979712" y="2132856"/>
            <a:ext cx="5688632" cy="242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0" i="0" dirty="0" err="1">
                <a:solidFill>
                  <a:srgbClr val="404247"/>
                </a:solidFill>
                <a:effectLst/>
              </a:rPr>
              <a:t>array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([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7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6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11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9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14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])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min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2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s-ES" sz="2000" b="0" i="0" dirty="0">
                <a:solidFill>
                  <a:srgbClr val="222222"/>
                </a:solidFill>
                <a:effectLst/>
              </a:rPr>
              <a:t>Lo mismo se puede repetir para el máximo</a:t>
            </a: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max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15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26567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Suma de elementos de un arreglo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907704" y="2996952"/>
            <a:ext cx="5688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0" i="0" dirty="0" err="1">
                <a:solidFill>
                  <a:srgbClr val="404247"/>
                </a:solidFill>
                <a:effectLst/>
              </a:rPr>
              <a:t>array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([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7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6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11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9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14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])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sum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81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8C6A2A-3851-43A1-80DA-5A41522B28E8}"/>
              </a:ext>
            </a:extLst>
          </p:cNvPr>
          <p:cNvSpPr txBox="1"/>
          <p:nvPr/>
        </p:nvSpPr>
        <p:spPr>
          <a:xfrm>
            <a:off x="647564" y="1668955"/>
            <a:ext cx="774086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</a:rPr>
              <a:t>numpy.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sum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() </a:t>
            </a:r>
            <a:r>
              <a:rPr lang="en-US" sz="2000" dirty="0">
                <a:solidFill>
                  <a:srgbClr val="000000"/>
                </a:solidFill>
              </a:rPr>
              <a:t>: La </a:t>
            </a:r>
            <a:r>
              <a:rPr lang="en-US" sz="2000" dirty="0" err="1">
                <a:solidFill>
                  <a:srgbClr val="000000"/>
                </a:solidFill>
              </a:rPr>
              <a:t>función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sum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regresa</a:t>
            </a:r>
            <a:r>
              <a:rPr lang="en-US" sz="2000" dirty="0">
                <a:solidFill>
                  <a:srgbClr val="000000"/>
                </a:solidFill>
              </a:rPr>
              <a:t> la </a:t>
            </a:r>
            <a:r>
              <a:rPr lang="en-US" sz="2000" dirty="0" err="1">
                <a:solidFill>
                  <a:srgbClr val="000000"/>
                </a:solidFill>
              </a:rPr>
              <a:t>suma</a:t>
            </a:r>
            <a:r>
              <a:rPr lang="en-US" sz="2000" dirty="0">
                <a:solidFill>
                  <a:srgbClr val="000000"/>
                </a:solidFill>
              </a:rPr>
              <a:t> de los </a:t>
            </a:r>
            <a:r>
              <a:rPr lang="en-US" sz="2000" dirty="0" err="1">
                <a:solidFill>
                  <a:srgbClr val="000000"/>
                </a:solidFill>
              </a:rPr>
              <a:t>elementos</a:t>
            </a:r>
            <a:r>
              <a:rPr lang="en-US" sz="2000" dirty="0">
                <a:solidFill>
                  <a:srgbClr val="000000"/>
                </a:solidFill>
              </a:rPr>
              <a:t> de un </a:t>
            </a:r>
            <a:r>
              <a:rPr lang="en-US" sz="2000" dirty="0" err="1">
                <a:solidFill>
                  <a:srgbClr val="000000"/>
                </a:solidFill>
              </a:rPr>
              <a:t>arreglo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48834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Promedio de un arreglo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907704" y="2996952"/>
            <a:ext cx="5688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0" i="0" dirty="0" err="1">
                <a:solidFill>
                  <a:srgbClr val="404247"/>
                </a:solidFill>
                <a:effectLst/>
              </a:rPr>
              <a:t>array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([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7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6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11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9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14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])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mean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9.0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8C6A2A-3851-43A1-80DA-5A41522B28E8}"/>
              </a:ext>
            </a:extLst>
          </p:cNvPr>
          <p:cNvSpPr txBox="1"/>
          <p:nvPr/>
        </p:nvSpPr>
        <p:spPr>
          <a:xfrm>
            <a:off x="647564" y="1668955"/>
            <a:ext cx="774086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</a:rPr>
              <a:t>numpy.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mean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() </a:t>
            </a:r>
            <a:r>
              <a:rPr lang="en-US" sz="2000" dirty="0">
                <a:solidFill>
                  <a:srgbClr val="000000"/>
                </a:solidFill>
              </a:rPr>
              <a:t>: La </a:t>
            </a:r>
            <a:r>
              <a:rPr lang="en-US" sz="2000" dirty="0" err="1">
                <a:solidFill>
                  <a:srgbClr val="000000"/>
                </a:solidFill>
              </a:rPr>
              <a:t>función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mean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regresa</a:t>
            </a:r>
            <a:r>
              <a:rPr lang="en-US" sz="2000" dirty="0">
                <a:solidFill>
                  <a:srgbClr val="000000"/>
                </a:solidFill>
              </a:rPr>
              <a:t> el </a:t>
            </a:r>
            <a:r>
              <a:rPr lang="en-US" sz="2000" dirty="0" err="1">
                <a:solidFill>
                  <a:srgbClr val="000000"/>
                </a:solidFill>
              </a:rPr>
              <a:t>promedio</a:t>
            </a:r>
            <a:r>
              <a:rPr lang="en-US" sz="2000" dirty="0">
                <a:solidFill>
                  <a:srgbClr val="000000"/>
                </a:solidFill>
              </a:rPr>
              <a:t> de los </a:t>
            </a:r>
            <a:r>
              <a:rPr lang="en-US" sz="2000" dirty="0" err="1">
                <a:solidFill>
                  <a:srgbClr val="000000"/>
                </a:solidFill>
              </a:rPr>
              <a:t>elementos</a:t>
            </a:r>
            <a:r>
              <a:rPr lang="en-US" sz="2000" dirty="0">
                <a:solidFill>
                  <a:srgbClr val="000000"/>
                </a:solidFill>
              </a:rPr>
              <a:t> de un </a:t>
            </a:r>
            <a:r>
              <a:rPr lang="en-US" sz="2000" dirty="0" err="1">
                <a:solidFill>
                  <a:srgbClr val="000000"/>
                </a:solidFill>
              </a:rPr>
              <a:t>arreglo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37126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66BB6-E127-034E-5C2C-38412B9F9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>
            <a:extLst>
              <a:ext uri="{FF2B5EF4-FFF2-40B4-BE49-F238E27FC236}">
                <a16:creationId xmlns:a16="http://schemas.microsoft.com/office/drawing/2014/main" id="{6C9E33A7-5023-ED97-215E-AF91B84CAD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Mediana de un arreglo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E88F026-3D85-5A05-2053-6A8564E42996}"/>
              </a:ext>
            </a:extLst>
          </p:cNvPr>
          <p:cNvSpPr txBox="1"/>
          <p:nvPr/>
        </p:nvSpPr>
        <p:spPr>
          <a:xfrm>
            <a:off x="1907704" y="2996952"/>
            <a:ext cx="5688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0" i="0" dirty="0" err="1">
                <a:solidFill>
                  <a:srgbClr val="404247"/>
                </a:solidFill>
                <a:effectLst/>
              </a:rPr>
              <a:t>array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([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7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6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11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9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14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])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median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9.0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96A7E84-01C0-2AA0-7FC2-F0B1A6FCEB2B}"/>
              </a:ext>
            </a:extLst>
          </p:cNvPr>
          <p:cNvSpPr txBox="1"/>
          <p:nvPr/>
        </p:nvSpPr>
        <p:spPr>
          <a:xfrm>
            <a:off x="647564" y="1668955"/>
            <a:ext cx="774086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</a:rPr>
              <a:t>numpy.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median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() </a:t>
            </a:r>
            <a:r>
              <a:rPr lang="en-US" sz="2000" dirty="0">
                <a:solidFill>
                  <a:srgbClr val="000000"/>
                </a:solidFill>
              </a:rPr>
              <a:t>: La </a:t>
            </a:r>
            <a:r>
              <a:rPr lang="en-US" sz="2000" dirty="0" err="1">
                <a:solidFill>
                  <a:srgbClr val="000000"/>
                </a:solidFill>
              </a:rPr>
              <a:t>función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median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regresa</a:t>
            </a:r>
            <a:r>
              <a:rPr lang="en-US" sz="2000" dirty="0">
                <a:solidFill>
                  <a:srgbClr val="000000"/>
                </a:solidFill>
              </a:rPr>
              <a:t> la </a:t>
            </a:r>
            <a:r>
              <a:rPr lang="en-US" sz="2000" dirty="0" err="1">
                <a:solidFill>
                  <a:srgbClr val="000000"/>
                </a:solidFill>
              </a:rPr>
              <a:t>mediana</a:t>
            </a:r>
            <a:r>
              <a:rPr lang="en-US" sz="2000" dirty="0">
                <a:solidFill>
                  <a:srgbClr val="000000"/>
                </a:solidFill>
              </a:rPr>
              <a:t> de los </a:t>
            </a:r>
            <a:r>
              <a:rPr lang="en-US" sz="2000" dirty="0" err="1">
                <a:solidFill>
                  <a:srgbClr val="000000"/>
                </a:solidFill>
              </a:rPr>
              <a:t>elementos</a:t>
            </a:r>
            <a:r>
              <a:rPr lang="en-US" sz="2000" dirty="0">
                <a:solidFill>
                  <a:srgbClr val="000000"/>
                </a:solidFill>
              </a:rPr>
              <a:t> de un </a:t>
            </a:r>
            <a:r>
              <a:rPr lang="en-US" sz="2000" dirty="0" err="1">
                <a:solidFill>
                  <a:srgbClr val="000000"/>
                </a:solidFill>
              </a:rPr>
              <a:t>arreglo</a:t>
            </a:r>
            <a:r>
              <a:rPr lang="en-US" sz="2000" dirty="0">
                <a:solidFill>
                  <a:srgbClr val="000000"/>
                </a:solidFill>
              </a:rPr>
              <a:t> (el valor central </a:t>
            </a:r>
            <a:r>
              <a:rPr lang="en-US" sz="2000" dirty="0" err="1">
                <a:solidFill>
                  <a:srgbClr val="000000"/>
                </a:solidFill>
              </a:rPr>
              <a:t>que</a:t>
            </a:r>
            <a:r>
              <a:rPr lang="en-US" sz="2000" dirty="0">
                <a:solidFill>
                  <a:srgbClr val="000000"/>
                </a:solidFill>
              </a:rPr>
              <a:t> divide la </a:t>
            </a:r>
            <a:r>
              <a:rPr lang="en-US" sz="2000" dirty="0" err="1">
                <a:solidFill>
                  <a:srgbClr val="000000"/>
                </a:solidFill>
              </a:rPr>
              <a:t>distribución</a:t>
            </a:r>
            <a:r>
              <a:rPr lang="en-US" sz="2000" dirty="0">
                <a:solidFill>
                  <a:srgbClr val="000000"/>
                </a:solidFill>
              </a:rPr>
              <a:t> al 50%)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605C1CD-D258-A159-9D4D-9E9AE1A97D00}"/>
              </a:ext>
            </a:extLst>
          </p:cNvPr>
          <p:cNvSpPr txBox="1"/>
          <p:nvPr/>
        </p:nvSpPr>
        <p:spPr>
          <a:xfrm>
            <a:off x="611560" y="4797152"/>
            <a:ext cx="7380820" cy="1162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1600" dirty="0"/>
              <a:t>La diferencia principal es que el </a:t>
            </a:r>
            <a:r>
              <a:rPr lang="es-MX" sz="1600" b="1" dirty="0"/>
              <a:t>promedio (o media)</a:t>
            </a:r>
            <a:r>
              <a:rPr lang="es-MX" sz="1600" dirty="0"/>
              <a:t> suma todos los valores y los divide entre el total de elementos, mientras que la </a:t>
            </a:r>
            <a:r>
              <a:rPr lang="es-MX" sz="1600" b="1" dirty="0"/>
              <a:t>mediana</a:t>
            </a:r>
            <a:r>
              <a:rPr lang="es-MX" sz="1600" dirty="0"/>
              <a:t> es el valor exacto que queda en el centro cuando ordenas los datos de menor a mayor.</a:t>
            </a:r>
          </a:p>
        </p:txBody>
      </p:sp>
    </p:spTree>
    <p:extLst>
      <p:ext uri="{BB962C8B-B14F-4D97-AF65-F5344CB8AC3E}">
        <p14:creationId xmlns:p14="http://schemas.microsoft.com/office/powerpoint/2010/main" val="2425694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Varianza de un arreglo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907704" y="2996952"/>
            <a:ext cx="5688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0" i="0" dirty="0" err="1">
                <a:solidFill>
                  <a:srgbClr val="404247"/>
                </a:solidFill>
                <a:effectLst/>
              </a:rPr>
              <a:t>array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([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7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6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11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9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14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])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var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16.89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8C6A2A-3851-43A1-80DA-5A41522B28E8}"/>
              </a:ext>
            </a:extLst>
          </p:cNvPr>
          <p:cNvSpPr txBox="1"/>
          <p:nvPr/>
        </p:nvSpPr>
        <p:spPr>
          <a:xfrm>
            <a:off x="647564" y="1668955"/>
            <a:ext cx="774086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</a:rPr>
              <a:t>numpy.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var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() </a:t>
            </a:r>
            <a:r>
              <a:rPr lang="en-US" sz="2000" dirty="0">
                <a:solidFill>
                  <a:srgbClr val="000000"/>
                </a:solidFill>
              </a:rPr>
              <a:t>: La </a:t>
            </a:r>
            <a:r>
              <a:rPr lang="en-US" sz="2000" dirty="0" err="1">
                <a:solidFill>
                  <a:srgbClr val="000000"/>
                </a:solidFill>
              </a:rPr>
              <a:t>función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var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regresa</a:t>
            </a:r>
            <a:r>
              <a:rPr lang="en-US" sz="2000" dirty="0">
                <a:solidFill>
                  <a:srgbClr val="000000"/>
                </a:solidFill>
              </a:rPr>
              <a:t> la </a:t>
            </a:r>
            <a:r>
              <a:rPr lang="en-US" sz="2000" dirty="0" err="1">
                <a:solidFill>
                  <a:srgbClr val="000000"/>
                </a:solidFill>
              </a:rPr>
              <a:t>varianza</a:t>
            </a:r>
            <a:r>
              <a:rPr lang="en-US" sz="2000" dirty="0">
                <a:solidFill>
                  <a:srgbClr val="000000"/>
                </a:solidFill>
              </a:rPr>
              <a:t> de un </a:t>
            </a:r>
            <a:r>
              <a:rPr lang="en-US" sz="2000" dirty="0" err="1">
                <a:solidFill>
                  <a:srgbClr val="000000"/>
                </a:solidFill>
              </a:rPr>
              <a:t>arreglo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540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Desviación estándar de un arreglo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907704" y="2996952"/>
            <a:ext cx="5688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0" i="0" dirty="0" err="1">
                <a:solidFill>
                  <a:srgbClr val="404247"/>
                </a:solidFill>
                <a:effectLst/>
              </a:rPr>
              <a:t>array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([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7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6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11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9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14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])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std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4.11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8C6A2A-3851-43A1-80DA-5A41522B28E8}"/>
              </a:ext>
            </a:extLst>
          </p:cNvPr>
          <p:cNvSpPr txBox="1"/>
          <p:nvPr/>
        </p:nvSpPr>
        <p:spPr>
          <a:xfrm>
            <a:off x="647564" y="1668955"/>
            <a:ext cx="774086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</a:rPr>
              <a:t>numpy.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std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() </a:t>
            </a:r>
            <a:r>
              <a:rPr lang="en-US" sz="2000" dirty="0">
                <a:solidFill>
                  <a:srgbClr val="000000"/>
                </a:solidFill>
              </a:rPr>
              <a:t>: La </a:t>
            </a:r>
            <a:r>
              <a:rPr lang="en-US" sz="2000" dirty="0" err="1">
                <a:solidFill>
                  <a:srgbClr val="000000"/>
                </a:solidFill>
              </a:rPr>
              <a:t>función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std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regresa</a:t>
            </a:r>
            <a:r>
              <a:rPr lang="en-US" sz="2000" dirty="0">
                <a:solidFill>
                  <a:srgbClr val="000000"/>
                </a:solidFill>
              </a:rPr>
              <a:t> la </a:t>
            </a:r>
            <a:r>
              <a:rPr lang="en-US" sz="2000" dirty="0" err="1">
                <a:solidFill>
                  <a:srgbClr val="000000"/>
                </a:solidFill>
              </a:rPr>
              <a:t>desviación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estándar</a:t>
            </a:r>
            <a:r>
              <a:rPr lang="en-US" sz="2000" dirty="0">
                <a:solidFill>
                  <a:srgbClr val="000000"/>
                </a:solidFill>
              </a:rPr>
              <a:t> de un </a:t>
            </a:r>
            <a:r>
              <a:rPr lang="en-US" sz="2000" dirty="0" err="1">
                <a:solidFill>
                  <a:srgbClr val="000000"/>
                </a:solidFill>
              </a:rPr>
              <a:t>arreglo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0040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815B7-07AD-B610-C4CA-A02C9CEB8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>
            <a:extLst>
              <a:ext uri="{FF2B5EF4-FFF2-40B4-BE49-F238E27FC236}">
                <a16:creationId xmlns:a16="http://schemas.microsoft.com/office/drawing/2014/main" id="{025E7388-596A-2CA7-48B7-C62A821C7F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2352" y="116632"/>
            <a:ext cx="8579296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Operaciones aritméticas con arreglos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4E9B803-CD8F-4E2E-07BC-7E44F7941412}"/>
              </a:ext>
            </a:extLst>
          </p:cNvPr>
          <p:cNvSpPr txBox="1"/>
          <p:nvPr/>
        </p:nvSpPr>
        <p:spPr>
          <a:xfrm>
            <a:off x="701570" y="1412776"/>
            <a:ext cx="7740860" cy="416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b="1" dirty="0" err="1">
                <a:solidFill>
                  <a:srgbClr val="066DA1"/>
                </a:solidFill>
              </a:rPr>
              <a:t>import</a:t>
            </a:r>
            <a:r>
              <a:rPr lang="es-ES" sz="2000" dirty="0">
                <a:solidFill>
                  <a:srgbClr val="000000"/>
                </a:solidFill>
              </a:rPr>
              <a:t> </a:t>
            </a:r>
            <a:r>
              <a:rPr lang="es-ES" sz="2000" dirty="0" err="1">
                <a:solidFill>
                  <a:srgbClr val="000000"/>
                </a:solidFill>
              </a:rPr>
              <a:t>numpy</a:t>
            </a:r>
            <a:r>
              <a:rPr lang="es-ES" sz="2000" dirty="0">
                <a:solidFill>
                  <a:srgbClr val="000000"/>
                </a:solidFill>
              </a:rPr>
              <a:t> </a:t>
            </a:r>
            <a:r>
              <a:rPr lang="es-ES" sz="2000" b="1" dirty="0">
                <a:solidFill>
                  <a:srgbClr val="066DA1"/>
                </a:solidFill>
              </a:rPr>
              <a:t>as</a:t>
            </a:r>
            <a:r>
              <a:rPr lang="es-ES" sz="2000" dirty="0">
                <a:solidFill>
                  <a:srgbClr val="000000"/>
                </a:solidFill>
              </a:rPr>
              <a:t> </a:t>
            </a:r>
            <a:r>
              <a:rPr lang="es-ES" sz="2000" dirty="0" err="1">
                <a:solidFill>
                  <a:srgbClr val="000000"/>
                </a:solidFill>
              </a:rPr>
              <a:t>np</a:t>
            </a:r>
            <a:endParaRPr lang="es-ES" sz="2000" dirty="0">
              <a:solidFill>
                <a:srgbClr val="AAAAAA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</a:rPr>
              <a:t>np.add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</a:rPr>
              <a:t>(a, b): </a:t>
            </a:r>
            <a:r>
              <a:rPr lang="es-MX" sz="2000" dirty="0"/>
              <a:t>Suma de arreglos.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</a:rPr>
              <a:t>np.subtract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</a:rPr>
              <a:t>(a, b): </a:t>
            </a:r>
            <a:r>
              <a:rPr lang="es-MX" sz="2000" dirty="0"/>
              <a:t>Resta de arreglos.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</a:rPr>
              <a:t>np.multiply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</a:rPr>
              <a:t>(a, b): </a:t>
            </a:r>
            <a:r>
              <a:rPr lang="es-MX" sz="2000" dirty="0"/>
              <a:t>Multiplicación elemento a elemento.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</a:rPr>
              <a:t>np.divide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</a:rPr>
              <a:t>(a, b): </a:t>
            </a:r>
            <a:r>
              <a:rPr lang="es-MX" sz="2000" dirty="0"/>
              <a:t>División (devuelve flotantes).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</a:rPr>
              <a:t>np.power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</a:rPr>
              <a:t>(a, b): </a:t>
            </a:r>
            <a:r>
              <a:rPr lang="es-MX" sz="2000" dirty="0"/>
              <a:t>Eleva los elementos del primer arreglo a la potencia del segundo.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8000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B54FF-AD4E-4983-4C29-2D054616D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>
            <a:extLst>
              <a:ext uri="{FF2B5EF4-FFF2-40B4-BE49-F238E27FC236}">
                <a16:creationId xmlns:a16="http://schemas.microsoft.com/office/drawing/2014/main" id="{E7653F53-FD9F-0FEB-C208-AA723F3E0A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116632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Suma de arreglos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4971E60-CAAD-E7AC-EAC1-6B677D2B60BA}"/>
              </a:ext>
            </a:extLst>
          </p:cNvPr>
          <p:cNvSpPr txBox="1"/>
          <p:nvPr/>
        </p:nvSpPr>
        <p:spPr>
          <a:xfrm>
            <a:off x="1043608" y="1156762"/>
            <a:ext cx="7740860" cy="5584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b="1" dirty="0" err="1">
                <a:solidFill>
                  <a:srgbClr val="066DA1"/>
                </a:solidFill>
              </a:rPr>
              <a:t>import</a:t>
            </a:r>
            <a:r>
              <a:rPr lang="es-ES" sz="2000" dirty="0">
                <a:solidFill>
                  <a:srgbClr val="000000"/>
                </a:solidFill>
              </a:rPr>
              <a:t> </a:t>
            </a:r>
            <a:r>
              <a:rPr lang="es-ES" sz="2000" dirty="0" err="1">
                <a:solidFill>
                  <a:srgbClr val="000000"/>
                </a:solidFill>
              </a:rPr>
              <a:t>numpy</a:t>
            </a:r>
            <a:r>
              <a:rPr lang="es-ES" sz="2000" dirty="0">
                <a:solidFill>
                  <a:srgbClr val="000000"/>
                </a:solidFill>
              </a:rPr>
              <a:t> </a:t>
            </a:r>
            <a:r>
              <a:rPr lang="es-ES" sz="2000" b="1" dirty="0">
                <a:solidFill>
                  <a:srgbClr val="066DA1"/>
                </a:solidFill>
              </a:rPr>
              <a:t>as</a:t>
            </a:r>
            <a:r>
              <a:rPr lang="es-ES" sz="2000" dirty="0">
                <a:solidFill>
                  <a:srgbClr val="000000"/>
                </a:solidFill>
              </a:rPr>
              <a:t> </a:t>
            </a:r>
            <a:r>
              <a:rPr lang="es-ES" sz="2000" dirty="0" err="1">
                <a:solidFill>
                  <a:srgbClr val="000000"/>
                </a:solidFill>
              </a:rPr>
              <a:t>np</a:t>
            </a:r>
            <a:endParaRPr lang="es-ES" sz="2000" dirty="0">
              <a:solidFill>
                <a:srgbClr val="AAAAAA"/>
              </a:solidFill>
            </a:endParaRPr>
          </a:p>
          <a:p>
            <a:pPr>
              <a:lnSpc>
                <a:spcPct val="150000"/>
              </a:lnSpc>
            </a:pPr>
            <a:r>
              <a:rPr lang="es-MX" sz="2000" dirty="0">
                <a:solidFill>
                  <a:srgbClr val="000000"/>
                </a:solidFill>
              </a:rPr>
              <a:t>arreglo1 = </a:t>
            </a:r>
            <a:r>
              <a:rPr lang="es-MX" sz="2000" dirty="0" err="1">
                <a:solidFill>
                  <a:srgbClr val="000000"/>
                </a:solidFill>
              </a:rPr>
              <a:t>np.array</a:t>
            </a:r>
            <a:r>
              <a:rPr lang="es-MX" sz="2000" dirty="0">
                <a:solidFill>
                  <a:srgbClr val="000000"/>
                </a:solidFill>
              </a:rPr>
              <a:t>([</a:t>
            </a:r>
            <a:r>
              <a:rPr lang="es-ES" sz="2000" dirty="0">
                <a:solidFill>
                  <a:srgbClr val="D53AA9"/>
                </a:solidFill>
              </a:rPr>
              <a:t>1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7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6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3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1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8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5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2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9</a:t>
            </a:r>
            <a:r>
              <a:rPr lang="es-MX" sz="2000" dirty="0">
                <a:solidFill>
                  <a:srgbClr val="000000"/>
                </a:solidFill>
              </a:rPr>
              <a:t>])</a:t>
            </a:r>
          </a:p>
          <a:p>
            <a:pPr>
              <a:lnSpc>
                <a:spcPct val="150000"/>
              </a:lnSpc>
            </a:pPr>
            <a:r>
              <a:rPr lang="es-MX" sz="2000" dirty="0">
                <a:solidFill>
                  <a:srgbClr val="000000"/>
                </a:solidFill>
              </a:rPr>
              <a:t>arreglo2 = </a:t>
            </a:r>
            <a:r>
              <a:rPr lang="es-MX" sz="2000" dirty="0" err="1">
                <a:solidFill>
                  <a:srgbClr val="000000"/>
                </a:solidFill>
              </a:rPr>
              <a:t>np.array</a:t>
            </a:r>
            <a:r>
              <a:rPr lang="es-MX" sz="2000" dirty="0">
                <a:solidFill>
                  <a:srgbClr val="000000"/>
                </a:solidFill>
              </a:rPr>
              <a:t>([</a:t>
            </a:r>
            <a:r>
              <a:rPr lang="es-ES" sz="2000" dirty="0">
                <a:solidFill>
                  <a:srgbClr val="D53AA9"/>
                </a:solidFill>
              </a:rPr>
              <a:t>3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6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8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4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2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9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1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5</a:t>
            </a:r>
            <a:r>
              <a:rPr lang="es-ES" sz="2000" dirty="0">
                <a:solidFill>
                  <a:srgbClr val="000000"/>
                </a:solidFill>
              </a:rPr>
              <a:t>, </a:t>
            </a:r>
            <a:r>
              <a:rPr lang="es-ES" sz="2000" dirty="0">
                <a:solidFill>
                  <a:srgbClr val="D53AA9"/>
                </a:solidFill>
              </a:rPr>
              <a:t>4</a:t>
            </a:r>
            <a:r>
              <a:rPr lang="es-MX" sz="2000" dirty="0">
                <a:solidFill>
                  <a:srgbClr val="000000"/>
                </a:solidFill>
              </a:rPr>
              <a:t>])</a:t>
            </a:r>
          </a:p>
          <a:p>
            <a:pPr>
              <a:lnSpc>
                <a:spcPct val="150000"/>
              </a:lnSpc>
            </a:pPr>
            <a:r>
              <a:rPr lang="es-MX" sz="2000" b="1" dirty="0">
                <a:solidFill>
                  <a:srgbClr val="000000"/>
                </a:solidFill>
              </a:rPr>
              <a:t>Opción 1: Usando el operador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</a:rPr>
              <a:t>+ </a:t>
            </a:r>
          </a:p>
          <a:p>
            <a:pPr lvl="1">
              <a:lnSpc>
                <a:spcPct val="150000"/>
              </a:lnSpc>
            </a:pPr>
            <a:r>
              <a:rPr lang="es-MX" sz="2000" dirty="0" err="1">
                <a:solidFill>
                  <a:srgbClr val="000000"/>
                </a:solidFill>
              </a:rPr>
              <a:t>arreglo_operador</a:t>
            </a:r>
            <a:r>
              <a:rPr lang="es-MX" sz="2000" dirty="0">
                <a:solidFill>
                  <a:srgbClr val="000000"/>
                </a:solidFill>
              </a:rPr>
              <a:t> = arreglo1 + arreglo2</a:t>
            </a:r>
          </a:p>
          <a:p>
            <a:pPr lvl="1">
              <a:lnSpc>
                <a:spcPct val="150000"/>
              </a:lnSpc>
            </a:pPr>
            <a:r>
              <a:rPr lang="es-MX" sz="2000" dirty="0" err="1">
                <a:solidFill>
                  <a:srgbClr val="000000"/>
                </a:solidFill>
              </a:rPr>
              <a:t>print</a:t>
            </a:r>
            <a:r>
              <a:rPr lang="es-MX" sz="2000" dirty="0">
                <a:solidFill>
                  <a:srgbClr val="000000"/>
                </a:solidFill>
              </a:rPr>
              <a:t>("Resultado con '+':", </a:t>
            </a:r>
            <a:r>
              <a:rPr lang="es-MX" sz="2000" dirty="0" err="1">
                <a:solidFill>
                  <a:srgbClr val="000000"/>
                </a:solidFill>
              </a:rPr>
              <a:t>arreglo_operador</a:t>
            </a:r>
            <a:r>
              <a:rPr lang="es-MX" sz="2000" dirty="0">
                <a:solidFill>
                  <a:srgbClr val="000000"/>
                </a:solidFill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s-MX" sz="2000" dirty="0">
                <a:solidFill>
                  <a:srgbClr val="888888"/>
                </a:solidFill>
              </a:rPr>
              <a:t>#Se obtiene: [ 4 13 14  7  3 17  6  7 13]</a:t>
            </a:r>
          </a:p>
          <a:p>
            <a:pPr>
              <a:lnSpc>
                <a:spcPct val="150000"/>
              </a:lnSpc>
            </a:pPr>
            <a:r>
              <a:rPr lang="es-MX" sz="2000" b="1" dirty="0">
                <a:solidFill>
                  <a:srgbClr val="000000"/>
                </a:solidFill>
              </a:rPr>
              <a:t>Opción 2: Usando la función explícita </a:t>
            </a: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</a:rPr>
              <a:t>np.add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</a:rPr>
              <a:t>()</a:t>
            </a:r>
          </a:p>
          <a:p>
            <a:pPr lvl="1">
              <a:lnSpc>
                <a:spcPct val="150000"/>
              </a:lnSpc>
            </a:pPr>
            <a:r>
              <a:rPr lang="es-MX" sz="2000" dirty="0" err="1">
                <a:solidFill>
                  <a:srgbClr val="000000"/>
                </a:solidFill>
              </a:rPr>
              <a:t>arreglo_funcion</a:t>
            </a:r>
            <a:r>
              <a:rPr lang="es-MX" sz="2000" dirty="0">
                <a:solidFill>
                  <a:srgbClr val="000000"/>
                </a:solidFill>
              </a:rPr>
              <a:t> = </a:t>
            </a:r>
            <a:r>
              <a:rPr lang="es-MX" sz="2000" dirty="0" err="1">
                <a:solidFill>
                  <a:srgbClr val="000000"/>
                </a:solidFill>
              </a:rPr>
              <a:t>np.add</a:t>
            </a:r>
            <a:r>
              <a:rPr lang="es-MX" sz="2000" dirty="0">
                <a:solidFill>
                  <a:srgbClr val="000000"/>
                </a:solidFill>
              </a:rPr>
              <a:t>(arreglo1, arreglo2)</a:t>
            </a:r>
          </a:p>
          <a:p>
            <a:pPr lvl="1">
              <a:lnSpc>
                <a:spcPct val="150000"/>
              </a:lnSpc>
            </a:pPr>
            <a:r>
              <a:rPr lang="es-MX" sz="2000" dirty="0" err="1">
                <a:solidFill>
                  <a:srgbClr val="000000"/>
                </a:solidFill>
              </a:rPr>
              <a:t>print</a:t>
            </a:r>
            <a:r>
              <a:rPr lang="es-MX" sz="2000" dirty="0">
                <a:solidFill>
                  <a:srgbClr val="000000"/>
                </a:solidFill>
              </a:rPr>
              <a:t>("Resultado con '</a:t>
            </a:r>
            <a:r>
              <a:rPr lang="es-MX" sz="2000" dirty="0" err="1">
                <a:solidFill>
                  <a:srgbClr val="000000"/>
                </a:solidFill>
              </a:rPr>
              <a:t>np.add</a:t>
            </a:r>
            <a:r>
              <a:rPr lang="es-MX" sz="2000" dirty="0">
                <a:solidFill>
                  <a:srgbClr val="000000"/>
                </a:solidFill>
              </a:rPr>
              <a:t>()':", </a:t>
            </a:r>
            <a:r>
              <a:rPr lang="es-MX" sz="2000" dirty="0" err="1">
                <a:solidFill>
                  <a:srgbClr val="000000"/>
                </a:solidFill>
              </a:rPr>
              <a:t>arreglo_funcion</a:t>
            </a:r>
            <a:r>
              <a:rPr lang="es-MX" sz="2000" dirty="0">
                <a:solidFill>
                  <a:srgbClr val="000000"/>
                </a:solidFill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s-MX" sz="2000" dirty="0">
                <a:solidFill>
                  <a:srgbClr val="888888"/>
                </a:solidFill>
              </a:rPr>
              <a:t>#Se obtiene: [ 4 13 14  7  3 17  6  7 13]</a:t>
            </a:r>
          </a:p>
          <a:p>
            <a:pPr>
              <a:lnSpc>
                <a:spcPct val="150000"/>
              </a:lnSpc>
            </a:pP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76474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1830E-CC26-03F5-6E55-61A85B6B2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>
            <a:extLst>
              <a:ext uri="{FF2B5EF4-FFF2-40B4-BE49-F238E27FC236}">
                <a16:creationId xmlns:a16="http://schemas.microsoft.com/office/drawing/2014/main" id="{BC5AE88A-0B1E-F193-CB98-07D2D8BF49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116632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Resta de arreglos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89C0DB6-5643-0CC3-1B61-326286C2F716}"/>
              </a:ext>
            </a:extLst>
          </p:cNvPr>
          <p:cNvSpPr txBox="1"/>
          <p:nvPr/>
        </p:nvSpPr>
        <p:spPr>
          <a:xfrm>
            <a:off x="1043608" y="1156762"/>
            <a:ext cx="7740860" cy="5584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b="1" dirty="0" err="1">
                <a:solidFill>
                  <a:srgbClr val="066DA1"/>
                </a:solidFill>
              </a:rPr>
              <a:t>import</a:t>
            </a:r>
            <a:r>
              <a:rPr lang="es-ES" sz="2000" dirty="0">
                <a:solidFill>
                  <a:srgbClr val="000000"/>
                </a:solidFill>
              </a:rPr>
              <a:t> </a:t>
            </a:r>
            <a:r>
              <a:rPr lang="es-ES" sz="2000" dirty="0" err="1">
                <a:solidFill>
                  <a:srgbClr val="000000"/>
                </a:solidFill>
              </a:rPr>
              <a:t>numpy</a:t>
            </a:r>
            <a:r>
              <a:rPr lang="es-ES" sz="2000" dirty="0">
                <a:solidFill>
                  <a:srgbClr val="000000"/>
                </a:solidFill>
              </a:rPr>
              <a:t> </a:t>
            </a:r>
            <a:r>
              <a:rPr lang="es-ES" sz="2000" b="1" dirty="0">
                <a:solidFill>
                  <a:srgbClr val="066DA1"/>
                </a:solidFill>
              </a:rPr>
              <a:t>as</a:t>
            </a:r>
            <a:r>
              <a:rPr lang="es-ES" sz="2000" dirty="0">
                <a:solidFill>
                  <a:srgbClr val="000000"/>
                </a:solidFill>
              </a:rPr>
              <a:t> </a:t>
            </a:r>
            <a:r>
              <a:rPr lang="es-ES" sz="2000" dirty="0" err="1">
                <a:solidFill>
                  <a:srgbClr val="000000"/>
                </a:solidFill>
              </a:rPr>
              <a:t>np</a:t>
            </a:r>
            <a:endParaRPr lang="es-ES" sz="2000" dirty="0">
              <a:solidFill>
                <a:srgbClr val="AAAAAA"/>
              </a:solidFill>
            </a:endParaRPr>
          </a:p>
          <a:p>
            <a:pPr>
              <a:lnSpc>
                <a:spcPct val="150000"/>
              </a:lnSpc>
            </a:pPr>
            <a:r>
              <a:rPr lang="es-MX" sz="2000" dirty="0">
                <a:solidFill>
                  <a:srgbClr val="000000"/>
                </a:solidFill>
              </a:rPr>
              <a:t>arreglo1 = </a:t>
            </a:r>
            <a:r>
              <a:rPr lang="es-MX" sz="2000" dirty="0" err="1">
                <a:solidFill>
                  <a:srgbClr val="000000"/>
                </a:solidFill>
              </a:rPr>
              <a:t>np.array</a:t>
            </a:r>
            <a:r>
              <a:rPr lang="es-MX" sz="2000" dirty="0">
                <a:solidFill>
                  <a:srgbClr val="000000"/>
                </a:solidFill>
              </a:rPr>
              <a:t>([</a:t>
            </a:r>
            <a:r>
              <a:rPr lang="es-MX" sz="2000" dirty="0">
                <a:solidFill>
                  <a:srgbClr val="D60093"/>
                </a:solidFill>
              </a:rPr>
              <a:t>50, 45, 40, 35, 30, 25, 20, 15, 10, 5</a:t>
            </a:r>
            <a:r>
              <a:rPr lang="es-MX" sz="2000" dirty="0"/>
              <a:t>]</a:t>
            </a:r>
            <a:r>
              <a:rPr lang="es-MX" sz="2000" dirty="0">
                <a:solidFill>
                  <a:srgbClr val="000000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s-MX" sz="2000" dirty="0">
                <a:solidFill>
                  <a:srgbClr val="000000"/>
                </a:solidFill>
              </a:rPr>
              <a:t>arreglo2 = </a:t>
            </a:r>
            <a:r>
              <a:rPr lang="es-MX" sz="2000" dirty="0" err="1">
                <a:solidFill>
                  <a:srgbClr val="000000"/>
                </a:solidFill>
              </a:rPr>
              <a:t>np.array</a:t>
            </a:r>
            <a:r>
              <a:rPr lang="es-MX" sz="2000" dirty="0">
                <a:solidFill>
                  <a:srgbClr val="000000"/>
                </a:solidFill>
              </a:rPr>
              <a:t>([</a:t>
            </a:r>
            <a:r>
              <a:rPr lang="es-MX" sz="2000" dirty="0">
                <a:solidFill>
                  <a:srgbClr val="D60093"/>
                </a:solidFill>
              </a:rPr>
              <a:t>5, 5, 10, 10, 15, 15, 20, 20, 25, 25</a:t>
            </a:r>
            <a:r>
              <a:rPr lang="es-MX" sz="2000" dirty="0"/>
              <a:t>])</a:t>
            </a:r>
            <a:endParaRPr lang="es-MX" sz="20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s-MX" sz="2000" b="1" dirty="0">
                <a:solidFill>
                  <a:srgbClr val="000000"/>
                </a:solidFill>
              </a:rPr>
              <a:t>Opción 1: Usando el operador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</a:rPr>
              <a:t>- </a:t>
            </a:r>
          </a:p>
          <a:p>
            <a:pPr lvl="1">
              <a:lnSpc>
                <a:spcPct val="150000"/>
              </a:lnSpc>
            </a:pPr>
            <a:r>
              <a:rPr lang="es-MX" sz="2000" dirty="0" err="1">
                <a:solidFill>
                  <a:srgbClr val="000000"/>
                </a:solidFill>
              </a:rPr>
              <a:t>arreglo_operador</a:t>
            </a:r>
            <a:r>
              <a:rPr lang="es-MX" sz="2000" dirty="0">
                <a:solidFill>
                  <a:srgbClr val="000000"/>
                </a:solidFill>
              </a:rPr>
              <a:t> = arreglo1 - arreglo2</a:t>
            </a:r>
          </a:p>
          <a:p>
            <a:pPr lvl="1">
              <a:lnSpc>
                <a:spcPct val="150000"/>
              </a:lnSpc>
            </a:pPr>
            <a:r>
              <a:rPr lang="es-MX" sz="2000" dirty="0" err="1">
                <a:solidFill>
                  <a:srgbClr val="000000"/>
                </a:solidFill>
              </a:rPr>
              <a:t>print</a:t>
            </a:r>
            <a:r>
              <a:rPr lang="es-MX" sz="2000" dirty="0">
                <a:solidFill>
                  <a:srgbClr val="000000"/>
                </a:solidFill>
              </a:rPr>
              <a:t>("Resultado con '-':", </a:t>
            </a:r>
            <a:r>
              <a:rPr lang="es-MX" sz="2000" dirty="0" err="1">
                <a:solidFill>
                  <a:srgbClr val="000000"/>
                </a:solidFill>
              </a:rPr>
              <a:t>arreglo_operador</a:t>
            </a:r>
            <a:r>
              <a:rPr lang="es-MX" sz="2000" dirty="0">
                <a:solidFill>
                  <a:srgbClr val="000000"/>
                </a:solidFill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s-MX" sz="2000" dirty="0">
                <a:solidFill>
                  <a:srgbClr val="888888"/>
                </a:solidFill>
              </a:rPr>
              <a:t>#Se obtiene: [ 45  40  30  25  15  10   0  -5 -15 -20]</a:t>
            </a:r>
          </a:p>
          <a:p>
            <a:pPr>
              <a:lnSpc>
                <a:spcPct val="150000"/>
              </a:lnSpc>
            </a:pPr>
            <a:r>
              <a:rPr lang="es-MX" sz="2000" b="1" dirty="0">
                <a:solidFill>
                  <a:srgbClr val="000000"/>
                </a:solidFill>
              </a:rPr>
              <a:t>Opción 2: Usando la función explícita </a:t>
            </a: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</a:rPr>
              <a:t>np.subtract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</a:rPr>
              <a:t>()</a:t>
            </a:r>
          </a:p>
          <a:p>
            <a:pPr lvl="1">
              <a:lnSpc>
                <a:spcPct val="150000"/>
              </a:lnSpc>
            </a:pPr>
            <a:r>
              <a:rPr lang="es-MX" sz="2000" dirty="0" err="1">
                <a:solidFill>
                  <a:srgbClr val="000000"/>
                </a:solidFill>
              </a:rPr>
              <a:t>arreglo_funcion</a:t>
            </a:r>
            <a:r>
              <a:rPr lang="es-MX" sz="2000" dirty="0">
                <a:solidFill>
                  <a:srgbClr val="000000"/>
                </a:solidFill>
              </a:rPr>
              <a:t> = </a:t>
            </a:r>
            <a:r>
              <a:rPr lang="es-MX" sz="2000" b="1" dirty="0" err="1">
                <a:solidFill>
                  <a:srgbClr val="000000"/>
                </a:solidFill>
              </a:rPr>
              <a:t>np.subtract</a:t>
            </a:r>
            <a:r>
              <a:rPr lang="es-MX" sz="2000" dirty="0">
                <a:solidFill>
                  <a:srgbClr val="000000"/>
                </a:solidFill>
              </a:rPr>
              <a:t>(arreglo1, arreglo2)</a:t>
            </a:r>
          </a:p>
          <a:p>
            <a:pPr lvl="1">
              <a:lnSpc>
                <a:spcPct val="150000"/>
              </a:lnSpc>
            </a:pPr>
            <a:r>
              <a:rPr lang="es-MX" sz="2000" dirty="0" err="1">
                <a:solidFill>
                  <a:srgbClr val="000000"/>
                </a:solidFill>
              </a:rPr>
              <a:t>print</a:t>
            </a:r>
            <a:r>
              <a:rPr lang="es-MX" sz="2000" dirty="0">
                <a:solidFill>
                  <a:srgbClr val="000000"/>
                </a:solidFill>
              </a:rPr>
              <a:t>("Resultado con ‘</a:t>
            </a:r>
            <a:r>
              <a:rPr lang="es-MX" sz="2000" dirty="0" err="1">
                <a:solidFill>
                  <a:srgbClr val="000000"/>
                </a:solidFill>
              </a:rPr>
              <a:t>np.subtract</a:t>
            </a:r>
            <a:r>
              <a:rPr lang="es-MX" sz="2000" dirty="0">
                <a:solidFill>
                  <a:srgbClr val="000000"/>
                </a:solidFill>
              </a:rPr>
              <a:t>()':", </a:t>
            </a:r>
            <a:r>
              <a:rPr lang="es-MX" sz="2000" dirty="0" err="1">
                <a:solidFill>
                  <a:srgbClr val="000000"/>
                </a:solidFill>
              </a:rPr>
              <a:t>arreglo_funcion</a:t>
            </a:r>
            <a:r>
              <a:rPr lang="es-MX" sz="2000" dirty="0">
                <a:solidFill>
                  <a:srgbClr val="000000"/>
                </a:solidFill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s-MX" sz="2000" dirty="0">
                <a:solidFill>
                  <a:srgbClr val="888888"/>
                </a:solidFill>
              </a:rPr>
              <a:t>#Se obtiene: [ 45  40  30  25  15  10   0  -5 -15 -20]</a:t>
            </a:r>
          </a:p>
          <a:p>
            <a:pPr>
              <a:lnSpc>
                <a:spcPct val="150000"/>
              </a:lnSpc>
            </a:pP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8498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5726429"/>
            <a:ext cx="423163" cy="2240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5400"/>
            <a:fld id="{81D60167-4931-47E6-BA6A-407CBD079E47}" type="slidenum">
              <a:rPr spc="-10" dirty="0">
                <a:solidFill>
                  <a:srgbClr val="18BAD4"/>
                </a:solidFill>
                <a:latin typeface="Calibri"/>
                <a:cs typeface="Calibri"/>
              </a:rPr>
              <a:pPr marL="25400"/>
              <a:t>16</a:t>
            </a:fld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10384</TotalTime>
  <Words>1090</Words>
  <Application>Microsoft Office PowerPoint</Application>
  <PresentationFormat>Presentación en pantalla (4:3)</PresentationFormat>
  <Paragraphs>118</Paragraphs>
  <Slides>16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Calibri</vt:lpstr>
      <vt:lpstr>Dom Casual</vt:lpstr>
      <vt:lpstr>inherit</vt:lpstr>
      <vt:lpstr>Roboto</vt:lpstr>
      <vt:lpstr>Tema de Office</vt:lpstr>
      <vt:lpstr>Presentación de PowerPoint</vt:lpstr>
      <vt:lpstr>Listas vs arreglos</vt:lpstr>
      <vt:lpstr>Tipos de datos de arreglos en Numpy</vt:lpstr>
      <vt:lpstr>Módulo Numpy</vt:lpstr>
      <vt:lpstr>Objetos: ndarray</vt:lpstr>
      <vt:lpstr>Agregar  elementos</vt:lpstr>
      <vt:lpstr>Obtener el elemento mínimo y máximo de un arreglo</vt:lpstr>
      <vt:lpstr>Suma de elementos de un arreglo</vt:lpstr>
      <vt:lpstr>Promedio de un arreglo</vt:lpstr>
      <vt:lpstr>Mediana de un arreglo</vt:lpstr>
      <vt:lpstr>Varianza de un arreglo</vt:lpstr>
      <vt:lpstr>Desviación estándar de un arreglo</vt:lpstr>
      <vt:lpstr>Operaciones aritméticas con arreglos</vt:lpstr>
      <vt:lpstr>Suma de arreglos</vt:lpstr>
      <vt:lpstr>Resta de arreglos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313</cp:revision>
  <dcterms:created xsi:type="dcterms:W3CDTF">2013-06-24T20:15:42Z</dcterms:created>
  <dcterms:modified xsi:type="dcterms:W3CDTF">2026-08-31T22:32:49Z</dcterms:modified>
</cp:coreProperties>
</file>