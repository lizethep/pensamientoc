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3" r:id="rId2"/>
    <p:sldId id="259" r:id="rId3"/>
    <p:sldId id="261" r:id="rId4"/>
    <p:sldId id="269" r:id="rId5"/>
    <p:sldId id="263" r:id="rId6"/>
    <p:sldId id="284" r:id="rId7"/>
    <p:sldId id="285" r:id="rId8"/>
    <p:sldId id="286" r:id="rId9"/>
    <p:sldId id="289" r:id="rId10"/>
    <p:sldId id="290" r:id="rId11"/>
    <p:sldId id="287" r:id="rId12"/>
    <p:sldId id="288" r:id="rId13"/>
    <p:sldId id="282" r:id="rId14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289" autoAdjust="0"/>
  </p:normalViewPr>
  <p:slideViewPr>
    <p:cSldViewPr>
      <p:cViewPr varScale="1">
        <p:scale>
          <a:sx n="97" d="100"/>
          <a:sy n="97" d="100"/>
        </p:scale>
        <p:origin x="192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7BC42-2F9C-4966-894F-B6FA6F3C1DB8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32190-7968-4437-BE88-4F1E072F1C89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1417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0530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713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11416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9521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99895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5796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3362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310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802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326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5578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984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16A6E-E1CA-4694-BCEE-11D49EEFA04C}" type="datetimeFigureOut">
              <a:rPr lang="es-MX" smtClean="0"/>
              <a:t>31/08/2026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DD56B-262A-460B-B003-97EE50A0783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357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7584" y="1988840"/>
            <a:ext cx="6728792" cy="128128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Strings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 o cadenas de texto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6FDE9F-BE31-4C18-94A8-6C66B7C80D3B}"/>
              </a:ext>
            </a:extLst>
          </p:cNvPr>
          <p:cNvSpPr txBox="1">
            <a:spLocks/>
          </p:cNvSpPr>
          <p:nvPr/>
        </p:nvSpPr>
        <p:spPr>
          <a:xfrm>
            <a:off x="1006630" y="404664"/>
            <a:ext cx="7342584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pic>
        <p:nvPicPr>
          <p:cNvPr id="5" name="4 Imagen">
            <a:extLst>
              <a:ext uri="{FF2B5EF4-FFF2-40B4-BE49-F238E27FC236}">
                <a16:creationId xmlns:a16="http://schemas.microsoft.com/office/drawing/2014/main" id="{153CD5EF-328A-4C7F-8A98-BADF5951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720" y="3270122"/>
            <a:ext cx="2397424" cy="25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132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77724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Strings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o cadenas de texto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1484784"/>
            <a:ext cx="7416824" cy="47244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cadena de texto o string es un arreglo, en el cual todos sus elementos son de tipo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char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Una cadena de texto puede se inicializada asignándole un literal.</a:t>
            </a:r>
          </a:p>
          <a:p>
            <a:pPr marL="400050" lvl="1" indent="0"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Por ejemplo: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None/>
            </a:pPr>
            <a:r>
              <a:rPr lang="es-ES_tradnl" sz="2100" dirty="0">
                <a:latin typeface="Arial" pitchFamily="34" charset="0"/>
                <a:cs typeface="Arial" pitchFamily="34" charset="0"/>
              </a:rPr>
              <a:t>                </a:t>
            </a:r>
            <a:r>
              <a:rPr lang="es-ES_tradnl" sz="21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cadena</a:t>
            </a:r>
            <a:r>
              <a:rPr lang="es-ES_tradnl" sz="2100" b="1" dirty="0">
                <a:latin typeface="Arial" pitchFamily="34" charset="0"/>
                <a:cs typeface="Arial" pitchFamily="34" charset="0"/>
              </a:rPr>
              <a:t> = "</a:t>
            </a:r>
            <a:r>
              <a:rPr lang="es-ES_tradnl" sz="21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abcd</a:t>
            </a:r>
            <a:r>
              <a:rPr lang="es-ES_tradnl" sz="2100" b="1" dirty="0">
                <a:latin typeface="Arial" pitchFamily="34" charset="0"/>
                <a:cs typeface="Arial" pitchFamily="34" charset="0"/>
              </a:rPr>
              <a:t> "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Este ejemplo inicializa el string </a:t>
            </a:r>
            <a:r>
              <a:rPr lang="es-ES_tradnl" sz="21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cadena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con </a:t>
            </a:r>
            <a:r>
              <a:rPr lang="es-ES_tradnl" sz="21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s-ES_tradnl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elementos (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cadena[</a:t>
            </a:r>
            <a:r>
              <a:rPr lang="es-ES_tradnl" sz="21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a 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cadena[</a:t>
            </a:r>
            <a:r>
              <a:rPr lang="es-ES_tradnl" sz="21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s-ES_tradnl" sz="21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]</a:t>
            </a:r>
            <a:r>
              <a:rPr lang="es-ES_tradnl" sz="21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).  </a:t>
            </a:r>
          </a:p>
        </p:txBody>
      </p:sp>
      <p:pic>
        <p:nvPicPr>
          <p:cNvPr id="3" name="2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3212976"/>
            <a:ext cx="15240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14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8207" y="1671638"/>
            <a:ext cx="7141645" cy="1221481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endParaRPr lang="es-ES_tradnl" sz="2400" dirty="0">
              <a:latin typeface="Arial" pitchFamily="34" charset="0"/>
              <a:cs typeface="Arial" pitchFamily="34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s-ES_tradnl" sz="24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</a:t>
            </a:r>
            <a:r>
              <a:rPr lang="es-ES_tradnl" sz="2400" b="1" dirty="0">
                <a:latin typeface="Arial" pitchFamily="34" charset="0"/>
                <a:cs typeface="Arial" pitchFamily="34" charset="0"/>
              </a:rPr>
              <a:t> = 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"</a:t>
            </a:r>
            <a:r>
              <a:rPr lang="es-ES_tradnl" sz="2400" b="1" dirty="0" err="1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abcd</a:t>
            </a:r>
            <a:r>
              <a:rPr lang="es-ES_tradnl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"</a:t>
            </a:r>
            <a:endParaRPr lang="es-ES_tradnl" sz="2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172" name="Group 415"/>
          <p:cNvGrpSpPr>
            <a:grpSpLocks/>
          </p:cNvGrpSpPr>
          <p:nvPr/>
        </p:nvGrpSpPr>
        <p:grpSpPr bwMode="auto">
          <a:xfrm>
            <a:off x="1293812" y="3429000"/>
            <a:ext cx="3278188" cy="942975"/>
            <a:chOff x="1147" y="3294"/>
            <a:chExt cx="2065" cy="594"/>
          </a:xfrm>
        </p:grpSpPr>
        <p:sp>
          <p:nvSpPr>
            <p:cNvPr id="7173" name="Rectangle 374"/>
            <p:cNvSpPr>
              <a:spLocks noChangeArrowheads="1"/>
            </p:cNvSpPr>
            <p:nvPr/>
          </p:nvSpPr>
          <p:spPr bwMode="auto">
            <a:xfrm>
              <a:off x="2060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a</a:t>
              </a:r>
              <a:endParaRPr lang="es-ES" dirty="0"/>
            </a:p>
          </p:txBody>
        </p:sp>
        <p:sp>
          <p:nvSpPr>
            <p:cNvPr id="7174" name="Rectangle 375"/>
            <p:cNvSpPr>
              <a:spLocks noChangeArrowheads="1"/>
            </p:cNvSpPr>
            <p:nvPr/>
          </p:nvSpPr>
          <p:spPr bwMode="auto">
            <a:xfrm>
              <a:off x="2348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b</a:t>
              </a:r>
              <a:endParaRPr lang="es-ES" dirty="0"/>
            </a:p>
          </p:txBody>
        </p:sp>
        <p:sp>
          <p:nvSpPr>
            <p:cNvPr id="7175" name="Rectangle 376"/>
            <p:cNvSpPr>
              <a:spLocks noChangeArrowheads="1"/>
            </p:cNvSpPr>
            <p:nvPr/>
          </p:nvSpPr>
          <p:spPr bwMode="auto">
            <a:xfrm>
              <a:off x="2636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c</a:t>
              </a:r>
              <a:endParaRPr lang="es-ES" dirty="0"/>
            </a:p>
          </p:txBody>
        </p:sp>
        <p:sp>
          <p:nvSpPr>
            <p:cNvPr id="7176" name="Rectangle 377"/>
            <p:cNvSpPr>
              <a:spLocks noChangeArrowheads="1"/>
            </p:cNvSpPr>
            <p:nvPr/>
          </p:nvSpPr>
          <p:spPr bwMode="auto">
            <a:xfrm>
              <a:off x="2924" y="3336"/>
              <a:ext cx="288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/>
                <a:t>d</a:t>
              </a:r>
              <a:endParaRPr lang="es-ES" dirty="0"/>
            </a:p>
          </p:txBody>
        </p:sp>
        <p:sp>
          <p:nvSpPr>
            <p:cNvPr id="7183" name="Rectangle 384"/>
            <p:cNvSpPr>
              <a:spLocks noChangeArrowheads="1"/>
            </p:cNvSpPr>
            <p:nvPr/>
          </p:nvSpPr>
          <p:spPr bwMode="auto">
            <a:xfrm>
              <a:off x="2060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0</a:t>
              </a:r>
            </a:p>
          </p:txBody>
        </p:sp>
        <p:sp>
          <p:nvSpPr>
            <p:cNvPr id="7184" name="Rectangle 385"/>
            <p:cNvSpPr>
              <a:spLocks noChangeArrowheads="1"/>
            </p:cNvSpPr>
            <p:nvPr/>
          </p:nvSpPr>
          <p:spPr bwMode="auto">
            <a:xfrm>
              <a:off x="2348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7185" name="Rectangle 386"/>
            <p:cNvSpPr>
              <a:spLocks noChangeArrowheads="1"/>
            </p:cNvSpPr>
            <p:nvPr/>
          </p:nvSpPr>
          <p:spPr bwMode="auto">
            <a:xfrm>
              <a:off x="2636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7186" name="Rectangle 387"/>
            <p:cNvSpPr>
              <a:spLocks noChangeArrowheads="1"/>
            </p:cNvSpPr>
            <p:nvPr/>
          </p:nvSpPr>
          <p:spPr bwMode="auto">
            <a:xfrm>
              <a:off x="2924" y="360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/>
              <a:r>
                <a:rPr lang="es-ES" b="1" dirty="0">
                  <a:solidFill>
                    <a:srgbClr val="FF3300"/>
                  </a:solidFill>
                </a:rPr>
                <a:t>3</a:t>
              </a:r>
            </a:p>
          </p:txBody>
        </p:sp>
        <p:sp>
          <p:nvSpPr>
            <p:cNvPr id="7193" name="Text Box 394"/>
            <p:cNvSpPr txBox="1">
              <a:spLocks noChangeArrowheads="1"/>
            </p:cNvSpPr>
            <p:nvPr/>
          </p:nvSpPr>
          <p:spPr bwMode="auto">
            <a:xfrm>
              <a:off x="1147" y="3294"/>
              <a:ext cx="89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7620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s-ES" sz="2800" b="1" dirty="0">
                  <a:solidFill>
                    <a:schemeClr val="accent6">
                      <a:lumMod val="75000"/>
                    </a:schemeClr>
                  </a:solidFill>
                  <a:latin typeface="Arial" pitchFamily="34" charset="0"/>
                  <a:cs typeface="Arial" pitchFamily="34" charset="0"/>
                </a:rPr>
                <a:t>cadena</a:t>
              </a:r>
              <a:endParaRPr lang="es-ES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260648"/>
            <a:ext cx="77724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Strings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o cadenas de texto</a:t>
            </a:r>
          </a:p>
        </p:txBody>
      </p:sp>
      <p:pic>
        <p:nvPicPr>
          <p:cNvPr id="28" name="27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727" y="2376104"/>
            <a:ext cx="2676066" cy="182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5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2048" y="1259632"/>
            <a:ext cx="7560840" cy="5229944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La estructura compañera de una cadena de caracteres es el ciclo </a:t>
            </a:r>
            <a:r>
              <a:rPr lang="es-ES_tradnl" sz="20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La mayoría de los problemas de cadena de caracteres son codificados con esta estructura:</a:t>
            </a:r>
          </a:p>
          <a:p>
            <a:pPr lvl="4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4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cadena = "HOLA A TODOS"</a:t>
            </a:r>
          </a:p>
          <a:p>
            <a:pPr lvl="4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 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in </a:t>
            </a: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range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0, </a:t>
            </a:r>
            <a:r>
              <a:rPr lang="es-ES_tradnl" sz="2200" b="1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len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(cadena)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):</a:t>
            </a:r>
          </a:p>
          <a:p>
            <a:pPr lvl="4" algn="just">
              <a:lnSpc>
                <a:spcPct val="150000"/>
              </a:lnSpc>
              <a:spcBef>
                <a:spcPct val="0"/>
              </a:spcBef>
              <a:buNone/>
            </a:pP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  	</a:t>
            </a: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print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es-ES_tradnl" sz="22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cadena[i]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s-ES_tradnl" sz="2200" b="1" dirty="0" err="1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end</a:t>
            </a:r>
            <a:r>
              <a:rPr lang="es-ES_tradnl" sz="22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='')</a:t>
            </a:r>
          </a:p>
          <a:p>
            <a:pPr lvl="4"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s-ES_tradnl" b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En donde el código del </a:t>
            </a:r>
            <a:r>
              <a:rPr lang="es-ES_tradnl" sz="2000" b="1" dirty="0" err="1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for</a:t>
            </a:r>
            <a:r>
              <a:rPr lang="es-ES_tradnl" sz="20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se ejecutará mientras no se llegue al fin de la cadena de caracteres.</a:t>
            </a:r>
          </a:p>
        </p:txBody>
      </p:sp>
      <p:sp>
        <p:nvSpPr>
          <p:cNvPr id="474117" name="Rectangle 5"/>
          <p:cNvSpPr>
            <a:spLocks noGrp="1" noChangeArrowheads="1"/>
          </p:cNvSpPr>
          <p:nvPr>
            <p:ph type="title"/>
          </p:nvPr>
        </p:nvSpPr>
        <p:spPr>
          <a:xfrm>
            <a:off x="832048" y="116632"/>
            <a:ext cx="77724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Strings</a:t>
            </a: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o cadenas de texto</a:t>
            </a:r>
          </a:p>
        </p:txBody>
      </p:sp>
    </p:spTree>
    <p:extLst>
      <p:ext uri="{BB962C8B-B14F-4D97-AF65-F5344CB8AC3E}">
        <p14:creationId xmlns:p14="http://schemas.microsoft.com/office/powerpoint/2010/main" val="360578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3284" y="-27384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247120"/>
              </p:ext>
            </p:extLst>
          </p:nvPr>
        </p:nvGraphicFramePr>
        <p:xfrm>
          <a:off x="98630" y="1196752"/>
          <a:ext cx="8946740" cy="54028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337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279311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1529430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624620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915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Función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0143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Regresa el número de caracteres que tiene la cadena.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len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(cadena)</a:t>
                      </a:r>
                      <a:endParaRPr lang="es-MX" sz="1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 = "Hola"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len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(cadena))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  <a:latin typeface="+mn-lt"/>
                        </a:rPr>
                        <a:t>Imprime 4</a:t>
                      </a:r>
                      <a:endParaRPr lang="es-MX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36679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Devuelve el índice de la primera posición del </a:t>
                      </a:r>
                      <a:r>
                        <a:rPr lang="es-MX" sz="1600" b="0" dirty="0" err="1">
                          <a:effectLst/>
                          <a:latin typeface="+mn-lt"/>
                        </a:rPr>
                        <a:t>caracter</a:t>
                      </a:r>
                      <a:r>
                        <a:rPr lang="es-MX" sz="1600" b="0" dirty="0">
                          <a:effectLst/>
                          <a:latin typeface="+mn-lt"/>
                        </a:rPr>
                        <a:t> buscado. Si no lo encuentra devuelve -1.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cadena.find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 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caracter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buscado)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pos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 = 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cadena.find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('a')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pos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dirty="0">
                          <a:effectLst/>
                          <a:latin typeface="+mn-lt"/>
                        </a:rPr>
                        <a:t> Imprime 3</a:t>
                      </a:r>
                      <a:endParaRPr lang="es-MX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  <a:tr h="27302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El  contenido de la cadena original no se reemplaza, pero el </a:t>
                      </a:r>
                      <a:r>
                        <a:rPr lang="es-MX" sz="1600" b="1" dirty="0" err="1">
                          <a:effectLst/>
                          <a:latin typeface="+mn-lt"/>
                        </a:rPr>
                        <a:t>replace</a:t>
                      </a:r>
                      <a:r>
                        <a:rPr lang="es-MX" sz="1600" b="0" dirty="0">
                          <a:effectLst/>
                          <a:latin typeface="+mn-lt"/>
                        </a:rPr>
                        <a:t> regresará otra cadena con el reemplazo.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8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cadena.replace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old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substring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, new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substring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)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cadena2 = "geeks 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for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 geeks"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cadena3 =cadena2.replace ("geeks", "Geeks")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(cadena2)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(cadena3)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Imprime: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dirty="0">
                          <a:effectLst/>
                          <a:latin typeface="+mn-lt"/>
                        </a:rPr>
                        <a:t>geeks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for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geeks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Geeks </a:t>
                      </a:r>
                      <a:r>
                        <a:rPr lang="es-MX" sz="1800" b="0" dirty="0" err="1">
                          <a:effectLst/>
                          <a:latin typeface="+mn-lt"/>
                        </a:rPr>
                        <a:t>for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 Geeks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4799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27384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575169"/>
              </p:ext>
            </p:extLst>
          </p:nvPr>
        </p:nvGraphicFramePr>
        <p:xfrm>
          <a:off x="869157" y="1268760"/>
          <a:ext cx="7721101" cy="52292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0973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562650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627478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759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9346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effectLst/>
                          <a:latin typeface="+mn-lt"/>
                        </a:rPr>
                        <a:t>Regresa una cadena que contiene la cadena original pero sin los espacios en blanco que están a la derecha </a:t>
                      </a:r>
                      <a:r>
                        <a:rPr lang="es-MX" sz="1600" b="0">
                          <a:effectLst/>
                          <a:latin typeface="+mn-lt"/>
                        </a:rPr>
                        <a:t>y a la izquierda.</a:t>
                      </a:r>
                      <a:endParaRPr lang="es-MX" sz="16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cadena.strip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()</a:t>
                      </a:r>
                      <a:endParaRPr lang="es-MX" sz="18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cadena="    Hola mundo   “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cadena2 = </a:t>
                      </a:r>
                      <a:r>
                        <a:rPr lang="es-MX" sz="1800" b="1" dirty="0" err="1">
                          <a:effectLst/>
                          <a:latin typeface="+mn-lt"/>
                        </a:rPr>
                        <a:t>cadena.strip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(cadena)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 err="1">
                          <a:effectLst/>
                          <a:latin typeface="+mn-lt"/>
                        </a:rPr>
                        <a:t>print</a:t>
                      </a:r>
                      <a:r>
                        <a:rPr lang="es-MX" sz="1800" b="1" dirty="0">
                          <a:effectLst/>
                          <a:latin typeface="+mn-lt"/>
                        </a:rPr>
                        <a:t>(cadena2)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Imprime: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    </a:t>
                      </a:r>
                      <a:r>
                        <a:rPr lang="es-MX" sz="1800" b="0" dirty="0">
                          <a:effectLst/>
                          <a:latin typeface="+mn-lt"/>
                        </a:rPr>
                        <a:t>Hola mundo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dirty="0">
                          <a:effectLst/>
                          <a:latin typeface="+mn-lt"/>
                        </a:rPr>
                        <a:t>Hola mundo</a:t>
                      </a:r>
                      <a:endParaRPr lang="es-MX" sz="1800" b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2937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Igual a </a:t>
                      </a:r>
                      <a:r>
                        <a:rPr lang="es-MX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strip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pero solo elimina los espacios a la izquierda.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lstrip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  <a:tr h="16180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Igual a </a:t>
                      </a:r>
                      <a:r>
                        <a:rPr lang="es-MX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strip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pero solo elimina los espacios a la derecha.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rstrip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055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81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90264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46643"/>
              </p:ext>
            </p:extLst>
          </p:nvPr>
        </p:nvGraphicFramePr>
        <p:xfrm>
          <a:off x="395536" y="1196752"/>
          <a:ext cx="8064896" cy="51125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366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460787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5978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821488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nueva cadena con el contenido de la cadena original con todos los caracteres en mayúscula.</a:t>
                      </a:r>
                    </a:p>
                  </a:txBody>
                  <a:tcPr marL="68580" marR="68580" marT="0" marB="0" anchor="ctr" anchorCtr="1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>
                          <a:effectLst/>
                          <a:latin typeface="+mn-lt"/>
                        </a:rPr>
                        <a:t>cadena = "Hola Mundo"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cadena2=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515646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nueva cadena con el contenido de la cadena original con todos los caracteres en minúscula.</a:t>
                      </a:r>
                    </a:p>
                  </a:txBody>
                  <a:tcPr marL="68580" marR="68580" marT="0" marB="0" anchor="ctr" anchorCtr="1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cadena2=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 mundo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 anchorCtr="1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  <a:tr h="151564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nueva cadena con el contenido de la cadena original con la primera letra en mayúscula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capitalize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cadena3=cadena2.capitalize()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(cadena3)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hola mundo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ola mundo</a:t>
                      </a: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752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3284" y="25052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199858"/>
              </p:ext>
            </p:extLst>
          </p:nvPr>
        </p:nvGraphicFramePr>
        <p:xfrm>
          <a:off x="395536" y="1340768"/>
          <a:ext cx="8496945" cy="51845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3482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774654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1486982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451827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31481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Función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2291782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Regresa una lista de valores en un objeto lista dividiendo el contenido de la cadena con la que se emplea el método basándose en la aparición del </a:t>
                      </a:r>
                      <a:r>
                        <a:rPr lang="es-MX" sz="16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caracter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que se indica como parámetro.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MX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(carácter con base al que separa la cadena)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Hola;como;estas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lista=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cadena.split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(';')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(lista)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['Hola', 'como', 'estas']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257797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Obtiene el </a:t>
                      </a:r>
                      <a:r>
                        <a:rPr lang="es-MX" sz="16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substring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desde la posición inicial hasta la posición final-1, separados por :.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 sólo se indica el número de posición, se obtiene una letra en esa posición en la cadena.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]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palabra = "Roberto buen 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sub_Palabra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palabra[0:5]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sub_Palabra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 Rober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letra = palabra[0]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(letra)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R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265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90264"/>
            <a:ext cx="7317432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Operaciones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9170EA9-3CF7-42C2-BB25-E85207509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060730"/>
              </p:ext>
            </p:extLst>
          </p:nvPr>
        </p:nvGraphicFramePr>
        <p:xfrm>
          <a:off x="167794" y="1196752"/>
          <a:ext cx="8808411" cy="48245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8475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987399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4836253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51730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Sintaxis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4307231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los N primeros caracteres de la cadena.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Si N está antes de los : , entonces imprime desde el </a:t>
                      </a:r>
                      <a:r>
                        <a:rPr lang="es-MX" sz="1600" b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caracter</a:t>
                      </a: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N al último.</a:t>
                      </a:r>
                    </a:p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0" indent="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MX" sz="1600" b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Si N es negativo, toma desde el último carácter el valor de N caracteres</a:t>
                      </a:r>
                      <a:endParaRPr lang="es-MX" sz="1600" b="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[:N]</a:t>
                      </a:r>
                      <a:endParaRPr lang="es-MX" sz="16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cadena = "Hola mundo"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(cadena[:3])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3 caracteres de la cadena.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Hol</a:t>
                      </a:r>
                      <a:endParaRPr lang="es-MX" sz="16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MX" sz="16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(cadena[3:])</a:t>
                      </a:r>
                      <a:endParaRPr lang="es-MX" sz="16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desde la posición 3 y hasta el último </a:t>
                      </a:r>
                      <a:r>
                        <a:rPr lang="es-MX" sz="1600" b="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caracter</a:t>
                      </a: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.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mundo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endParaRPr lang="es-MX" sz="1600" b="1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(cadena[-2:])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o toma 2 antes del último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</a:t>
                      </a:r>
                      <a:endParaRPr lang="es-MX" sz="16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673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992" y="-90264"/>
            <a:ext cx="7317432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Operaciones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9170EA9-3CF7-42C2-BB25-E85207509359}"/>
              </a:ext>
            </a:extLst>
          </p:cNvPr>
          <p:cNvGraphicFramePr>
            <a:graphicFrameLocks noGrp="1"/>
          </p:cNvGraphicFramePr>
          <p:nvPr/>
        </p:nvGraphicFramePr>
        <p:xfrm>
          <a:off x="767636" y="1052737"/>
          <a:ext cx="7836812" cy="52287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5529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351665">
                  <a:extLst>
                    <a:ext uri="{9D8B030D-6E8A-4147-A177-3AD203B41FA5}">
                      <a16:colId xmlns:a16="http://schemas.microsoft.com/office/drawing/2014/main" val="1169922202"/>
                    </a:ext>
                  </a:extLst>
                </a:gridCol>
                <a:gridCol w="3829618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43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Sintaxis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12992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Concatenar cadenas</a:t>
                      </a:r>
                      <a:endParaRPr lang="es-MX" sz="16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+</a:t>
                      </a: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cadena1 = 'Hola'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cadena2 = 'Mundo'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todo = cadena1 + cadena2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(todo)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Imprime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HolaMundo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14280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Repite el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número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de veces indicado por el multiplicador el contenido de la cadena</a:t>
                      </a:r>
                      <a:endParaRPr lang="es-MX" sz="1600" b="0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*</a:t>
                      </a: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("Hola" * 3)</a:t>
                      </a:r>
                      <a:r>
                        <a:rPr lang="es-MX" sz="16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HolaHolaHola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  <a:tr h="22827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Verifica si un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carácter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u otra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 completa 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es parte de la cadena indicada 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True</a:t>
                      </a:r>
                      <a:r>
                        <a:rPr lang="es-MX" sz="1600" b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o </a:t>
                      </a:r>
                      <a:r>
                        <a:rPr lang="es-MX" sz="16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False</a:t>
                      </a:r>
                      <a:endParaRPr lang="es-MX" sz="1600" b="1" dirty="0">
                        <a:solidFill>
                          <a:schemeClr val="bg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in</a:t>
                      </a:r>
                      <a:endParaRPr lang="es-MX" sz="16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cadena2 = "Hola Mundo"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('u' in cadena2)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True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cadena2 = "Hola Mundo"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1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print</a:t>
                      </a:r>
                      <a:r>
                        <a:rPr lang="es-MX" sz="1600" b="1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("Mundo" in cadena2)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imprime True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4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334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0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206249"/>
              </p:ext>
            </p:extLst>
          </p:nvPr>
        </p:nvGraphicFramePr>
        <p:xfrm>
          <a:off x="703104" y="1262887"/>
          <a:ext cx="7998440" cy="4342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805419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384709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598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5828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Verifica si los caracteres en la cadena son mayúsculas, regresa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"ABC"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prueba.isupper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146463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Verifica si los caracteres en la cadena son minúsculas, regresa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prueba.islower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63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62630"/>
            <a:ext cx="7317432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s-ES_tradnl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Funciones y métodos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BE426977-61B5-479E-97A7-3FE465BE2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844169"/>
              </p:ext>
            </p:extLst>
          </p:nvPr>
        </p:nvGraphicFramePr>
        <p:xfrm>
          <a:off x="572780" y="1340768"/>
          <a:ext cx="7998440" cy="50649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1876588526"/>
                    </a:ext>
                  </a:extLst>
                </a:gridCol>
                <a:gridCol w="1805419">
                  <a:extLst>
                    <a:ext uri="{9D8B030D-6E8A-4147-A177-3AD203B41FA5}">
                      <a16:colId xmlns:a16="http://schemas.microsoft.com/office/drawing/2014/main" val="4057113337"/>
                    </a:ext>
                  </a:extLst>
                </a:gridCol>
                <a:gridCol w="3384709">
                  <a:extLst>
                    <a:ext uri="{9D8B030D-6E8A-4147-A177-3AD203B41FA5}">
                      <a16:colId xmlns:a16="http://schemas.microsoft.com/office/drawing/2014/main" val="829240010"/>
                    </a:ext>
                  </a:extLst>
                </a:gridCol>
              </a:tblGrid>
              <a:tr h="2914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Explicación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Método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>
                          <a:effectLst/>
                          <a:latin typeface="+mn-lt"/>
                        </a:rPr>
                        <a:t>Ejemplo</a:t>
                      </a:r>
                      <a:endParaRPr lang="es-MX" sz="16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008" marR="28008" marT="0" marB="0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39552"/>
                  </a:ext>
                </a:extLst>
              </a:tr>
              <a:tr h="23867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Devuelve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 la cadena consta solo de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letras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 no está en blanco.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cadena.isalpha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prueba.isalpha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"mundial2018"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prueba.isalpha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594"/>
                  </a:ext>
                </a:extLst>
              </a:tr>
              <a:tr h="238676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Devuelve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si la cadena consta solo de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letras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 </a:t>
                      </a:r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números </a:t>
                      </a:r>
                      <a:r>
                        <a:rPr lang="es-MX" sz="16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 no está en blanco.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cadena.isalnum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"mundial2018"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prueba.isalnum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True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MX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 = "mundial_2018"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MX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prueba.isalnum</a:t>
                      </a:r>
                      <a:r>
                        <a:rPr lang="es-MX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Imprime False</a:t>
                      </a:r>
                    </a:p>
                  </a:txBody>
                  <a:tcPr marL="68580" marR="6858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739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941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3932</TotalTime>
  <Words>1081</Words>
  <Application>Microsoft Office PowerPoint</Application>
  <PresentationFormat>Presentación en pantalla (4:3)</PresentationFormat>
  <Paragraphs>216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Dom Casual</vt:lpstr>
      <vt:lpstr>Wingdings</vt:lpstr>
      <vt:lpstr>Tema de Office</vt:lpstr>
      <vt:lpstr>Presentación de PowerPoint</vt:lpstr>
      <vt:lpstr>Strings o cadenas de texto</vt:lpstr>
      <vt:lpstr>Strings o cadenas de texto</vt:lpstr>
      <vt:lpstr>Strings o cadenas de texto</vt:lpstr>
      <vt:lpstr>Funciones y métodos</vt:lpstr>
      <vt:lpstr>Funciones y métodos</vt:lpstr>
      <vt:lpstr>Funciones y métodos</vt:lpstr>
      <vt:lpstr>Funciones y métodos</vt:lpstr>
      <vt:lpstr>Operaciones</vt:lpstr>
      <vt:lpstr>Operaciones</vt:lpstr>
      <vt:lpstr>Funciones y métodos</vt:lpstr>
      <vt:lpstr>Funciones y métodos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74</cp:revision>
  <dcterms:created xsi:type="dcterms:W3CDTF">2013-07-08T20:17:54Z</dcterms:created>
  <dcterms:modified xsi:type="dcterms:W3CDTF">2026-08-31T22:49:25Z</dcterms:modified>
</cp:coreProperties>
</file>